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2.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2.png"/><Relationship Id="rId4" Type="http://schemas.openxmlformats.org/officeDocument/2006/relationships/image" Target="../media/image-4-2.png"/><Relationship Id="rId5" Type="http://schemas.openxmlformats.org/officeDocument/2006/relationships/image" Target="../media/image-4-2.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2.png"/><Relationship Id="rId5" Type="http://schemas.openxmlformats.org/officeDocument/2006/relationships/image" Target="../media/image-11-2.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odysra_logo.png">    </p:cNvPr>
          <p:cNvPicPr>
            <a:picLocks noChangeAspect="1"/>
          </p:cNvPicPr>
          <p:nvPr/>
        </p:nvPicPr>
        <p:blipFill>
          <a:blip r:embed="rId2"/>
          <a:stretch>
            <a:fillRect/>
          </a:stretch>
        </p:blipFill>
        <p:spPr>
          <a:xfrm>
            <a:off x="731520" y="384048"/>
            <a:ext cx="749808" cy="749808"/>
          </a:xfrm>
          <a:prstGeom prst="rect">
            <a:avLst/>
          </a:prstGeom>
        </p:spPr>
      </p:pic>
      <p:sp>
        <p:nvSpPr>
          <p:cNvPr id="3" name="Text 0"/>
          <p:cNvSpPr/>
          <p:nvPr/>
        </p:nvSpPr>
        <p:spPr>
          <a:xfrm>
            <a:off x="1572768" y="457200"/>
            <a:ext cx="3657600" cy="502920"/>
          </a:xfrm>
          <a:prstGeom prst="rect">
            <a:avLst/>
          </a:prstGeom>
          <a:noFill/>
          <a:ln/>
        </p:spPr>
        <p:txBody>
          <a:bodyPr wrap="square" lIns="0" tIns="0" rIns="0" bIns="0" rtlCol="0" anchor="ctr"/>
          <a:lstStyle/>
          <a:p>
            <a:pPr indent="0" marL="0">
              <a:buNone/>
            </a:pPr>
            <a:r>
              <a:rPr lang="en-US" sz="2700" b="1" i="1" dirty="0">
                <a:solidFill>
                  <a:srgbClr val="D9A93C"/>
                </a:solidFill>
                <a:latin typeface="Montserrat" pitchFamily="34" charset="0"/>
                <a:ea typeface="Montserrat" pitchFamily="34" charset="-122"/>
                <a:cs typeface="Montserrat" pitchFamily="34" charset="-120"/>
              </a:rPr>
              <a:t>Odysra</a:t>
            </a:r>
            <a:endParaRPr lang="en-US" sz="2700" dirty="0"/>
          </a:p>
        </p:txBody>
      </p:sp>
      <p:sp>
        <p:nvSpPr>
          <p:cNvPr id="4" name="Text 1"/>
          <p:cNvSpPr/>
          <p:nvPr/>
        </p:nvSpPr>
        <p:spPr>
          <a:xfrm>
            <a:off x="1591056" y="960120"/>
            <a:ext cx="3657600" cy="292608"/>
          </a:xfrm>
          <a:prstGeom prst="rect">
            <a:avLst/>
          </a:prstGeom>
          <a:noFill/>
          <a:ln/>
        </p:spPr>
        <p:txBody>
          <a:bodyPr wrap="square" lIns="0" tIns="0" rIns="0" bIns="0" rtlCol="0" anchor="ctr"/>
          <a:lstStyle/>
          <a:p>
            <a:pPr indent="0" marL="0">
              <a:buNone/>
            </a:pPr>
            <a:r>
              <a:rPr lang="en-US" sz="1150" i="1" spc="100" kern="0" dirty="0">
                <a:solidFill>
                  <a:srgbClr val="D8C39A"/>
                </a:solidFill>
                <a:latin typeface="Inter" pitchFamily="34" charset="0"/>
                <a:ea typeface="Inter" pitchFamily="34" charset="-122"/>
                <a:cs typeface="Inter" pitchFamily="34" charset="-120"/>
              </a:rPr>
              <a:t>an era of good fortune</a:t>
            </a:r>
            <a:endParaRPr lang="en-US" sz="1150" dirty="0"/>
          </a:p>
        </p:txBody>
      </p:sp>
      <p:sp>
        <p:nvSpPr>
          <p:cNvPr id="5" name="Text 2"/>
          <p:cNvSpPr/>
          <p:nvPr/>
        </p:nvSpPr>
        <p:spPr>
          <a:xfrm>
            <a:off x="8732520" y="457200"/>
            <a:ext cx="2926080" cy="274320"/>
          </a:xfrm>
          <a:prstGeom prst="rect">
            <a:avLst/>
          </a:prstGeom>
          <a:noFill/>
          <a:ln/>
        </p:spPr>
        <p:txBody>
          <a:bodyPr wrap="square" lIns="0" tIns="0" rIns="0" bIns="0" rtlCol="0" anchor="ctr"/>
          <a:lstStyle/>
          <a:p>
            <a:pPr algn="r" indent="0" marL="0">
              <a:buNone/>
            </a:pPr>
            <a:r>
              <a:rPr lang="en-US" sz="1050" b="1" spc="200" kern="0" dirty="0">
                <a:solidFill>
                  <a:srgbClr val="D9A93C"/>
                </a:solidFill>
                <a:latin typeface="Inter" pitchFamily="34" charset="0"/>
                <a:ea typeface="Inter" pitchFamily="34" charset="-122"/>
                <a:cs typeface="Inter" pitchFamily="34" charset="-120"/>
              </a:rPr>
              <a:t>PREPARED FOR</a:t>
            </a:r>
            <a:endParaRPr lang="en-US" sz="1050" dirty="0"/>
          </a:p>
        </p:txBody>
      </p:sp>
      <p:sp>
        <p:nvSpPr>
          <p:cNvPr id="6" name="Shape 3"/>
          <p:cNvSpPr/>
          <p:nvPr/>
        </p:nvSpPr>
        <p:spPr>
          <a:xfrm>
            <a:off x="9372600" y="768096"/>
            <a:ext cx="2286000" cy="713232"/>
          </a:xfrm>
          <a:prstGeom prst="roundRect">
            <a:avLst>
              <a:gd name="adj" fmla="val 11538"/>
            </a:avLst>
          </a:prstGeom>
          <a:solidFill>
            <a:srgbClr val="FFFFFF"/>
          </a:solidFill>
          <a:ln/>
          <a:effectLst>
            <a:outerShdw sx="100000" sy="100000" kx="0" ky="0" algn="bl" rotWithShape="0" blurRad="114300" dist="38100" dir="5400000">
              <a:srgbClr val="000000">
                <a:alpha val="16000"/>
              </a:srgbClr>
            </a:outerShdw>
          </a:effectLst>
        </p:spPr>
      </p:sp>
      <p:pic>
        <p:nvPicPr>
          <p:cNvPr id="7" name="Image 1" descr="assets/annapoorna.png">    </p:cNvPr>
          <p:cNvPicPr>
            <a:picLocks noChangeAspect="1"/>
          </p:cNvPicPr>
          <p:nvPr/>
        </p:nvPicPr>
        <p:blipFill>
          <a:blip r:embed="rId3"/>
          <a:stretch>
            <a:fillRect/>
          </a:stretch>
        </p:blipFill>
        <p:spPr>
          <a:xfrm>
            <a:off x="9601200" y="888797"/>
            <a:ext cx="1828800" cy="471830"/>
          </a:xfrm>
          <a:prstGeom prst="rect">
            <a:avLst/>
          </a:prstGeom>
        </p:spPr>
      </p:pic>
      <p:sp>
        <p:nvSpPr>
          <p:cNvPr id="8" name="Text 4"/>
          <p:cNvSpPr/>
          <p:nvPr/>
        </p:nvSpPr>
        <p:spPr>
          <a:xfrm>
            <a:off x="777240" y="2240280"/>
            <a:ext cx="8229600" cy="320040"/>
          </a:xfrm>
          <a:prstGeom prst="rect">
            <a:avLst/>
          </a:prstGeom>
          <a:noFill/>
          <a:ln/>
        </p:spPr>
        <p:txBody>
          <a:bodyPr wrap="square" lIns="0" tIns="0" rIns="0" bIns="0" rtlCol="0" anchor="ctr"/>
          <a:lstStyle/>
          <a:p>
            <a:pPr indent="0" marL="0">
              <a:buNone/>
            </a:pPr>
            <a:r>
              <a:rPr lang="en-US" sz="1250" b="1" spc="300" kern="0" dirty="0">
                <a:solidFill>
                  <a:srgbClr val="D9A93C"/>
                </a:solidFill>
                <a:latin typeface="Inter" pitchFamily="34" charset="0"/>
                <a:ea typeface="Inter" pitchFamily="34" charset="-122"/>
                <a:cs typeface="Inter" pitchFamily="34" charset="-120"/>
              </a:rPr>
              <a:t>AN ODYSRA PROJECT</a:t>
            </a:r>
            <a:endParaRPr lang="en-US" sz="1250" dirty="0"/>
          </a:p>
        </p:txBody>
      </p:sp>
      <p:sp>
        <p:nvSpPr>
          <p:cNvPr id="9" name="Text 5"/>
          <p:cNvSpPr/>
          <p:nvPr/>
        </p:nvSpPr>
        <p:spPr>
          <a:xfrm>
            <a:off x="749808" y="2697480"/>
            <a:ext cx="7955280" cy="1737360"/>
          </a:xfrm>
          <a:prstGeom prst="rect">
            <a:avLst/>
          </a:prstGeom>
          <a:noFill/>
          <a:ln/>
        </p:spPr>
        <p:txBody>
          <a:bodyPr wrap="square" lIns="0" tIns="0" rIns="0" bIns="0" rtlCol="0" anchor="ctr"/>
          <a:lstStyle/>
          <a:p>
            <a:pPr indent="0" marL="0">
              <a:lnSpc>
                <a:spcPct val="108000"/>
              </a:lnSpc>
              <a:buNone/>
            </a:pPr>
            <a:r>
              <a:rPr lang="en-US" sz="3500" b="1" dirty="0">
                <a:solidFill>
                  <a:srgbClr val="FFFFFF"/>
                </a:solidFill>
                <a:latin typeface="Montserrat" pitchFamily="34" charset="0"/>
                <a:ea typeface="Montserrat" pitchFamily="34" charset="-122"/>
                <a:cs typeface="Montserrat" pitchFamily="34" charset="-120"/>
              </a:rPr>
              <a:t>An AI Waiter,</a:t>
            </a:r>
            <a:endParaRPr lang="en-US" sz="3500" dirty="0"/>
          </a:p>
          <a:p>
            <a:pPr indent="0" marL="0">
              <a:lnSpc>
                <a:spcPct val="108000"/>
              </a:lnSpc>
              <a:buNone/>
            </a:pPr>
            <a:r>
              <a:rPr lang="en-US" sz="3500" b="1" dirty="0">
                <a:solidFill>
                  <a:srgbClr val="FFFFFF"/>
                </a:solidFill>
                <a:latin typeface="Montserrat" pitchFamily="34" charset="0"/>
                <a:ea typeface="Montserrat" pitchFamily="34" charset="-122"/>
                <a:cs typeface="Montserrat" pitchFamily="34" charset="-120"/>
              </a:rPr>
              <a:t>built only for Annapoorna.</a:t>
            </a:r>
            <a:endParaRPr lang="en-US" sz="3500" dirty="0"/>
          </a:p>
        </p:txBody>
      </p:sp>
      <p:sp>
        <p:nvSpPr>
          <p:cNvPr id="10" name="Text 6"/>
          <p:cNvSpPr/>
          <p:nvPr/>
        </p:nvSpPr>
        <p:spPr>
          <a:xfrm>
            <a:off x="777240" y="4526280"/>
            <a:ext cx="7315200" cy="914400"/>
          </a:xfrm>
          <a:prstGeom prst="rect">
            <a:avLst/>
          </a:prstGeom>
          <a:noFill/>
          <a:ln/>
        </p:spPr>
        <p:txBody>
          <a:bodyPr wrap="square" lIns="0" tIns="0" rIns="0" bIns="0" rtlCol="0" anchor="ctr"/>
          <a:lstStyle/>
          <a:p>
            <a:pPr indent="0" marL="0">
              <a:lnSpc>
                <a:spcPct val="110000"/>
              </a:lnSpc>
              <a:buNone/>
            </a:pPr>
            <a:r>
              <a:rPr lang="en-US" sz="1650" dirty="0">
                <a:solidFill>
                  <a:srgbClr val="EAD9C6"/>
                </a:solidFill>
                <a:latin typeface="Inter" pitchFamily="34" charset="0"/>
                <a:ea typeface="Inter" pitchFamily="34" charset="-122"/>
                <a:cs typeface="Inter" pitchFamily="34" charset="-120"/>
              </a:rPr>
              <a:t>A custom AI dining assistant on a simple table QR — it recommends, answers every question, and helps each guest order better.</a:t>
            </a:r>
            <a:endParaRPr lang="en-US" sz="1650" dirty="0"/>
          </a:p>
        </p:txBody>
      </p:sp>
      <p:sp>
        <p:nvSpPr>
          <p:cNvPr id="11" name="Shape 7"/>
          <p:cNvSpPr/>
          <p:nvPr/>
        </p:nvSpPr>
        <p:spPr>
          <a:xfrm>
            <a:off x="9006840" y="2697480"/>
            <a:ext cx="2240280" cy="2240280"/>
          </a:xfrm>
          <a:prstGeom prst="ellipse">
            <a:avLst/>
          </a:prstGeom>
          <a:solidFill>
            <a:srgbClr val="D9A93C"/>
          </a:solidFill>
          <a:ln/>
        </p:spPr>
      </p:sp>
      <p:sp>
        <p:nvSpPr>
          <p:cNvPr id="12" name="Shape 8"/>
          <p:cNvSpPr/>
          <p:nvPr/>
        </p:nvSpPr>
        <p:spPr>
          <a:xfrm>
            <a:off x="9125712" y="2816352"/>
            <a:ext cx="2002536" cy="2002536"/>
          </a:xfrm>
          <a:prstGeom prst="ellipse">
            <a:avLst/>
          </a:prstGeom>
          <a:solidFill>
            <a:srgbClr val="2A1E10"/>
          </a:solidFill>
          <a:ln/>
        </p:spPr>
      </p:sp>
      <p:pic>
        <p:nvPicPr>
          <p:cNvPr id="13" name="Image 2" descr="assets/icons/comment_gold2.png">    </p:cNvPr>
          <p:cNvPicPr>
            <a:picLocks noChangeAspect="1"/>
          </p:cNvPicPr>
          <p:nvPr/>
        </p:nvPicPr>
        <p:blipFill>
          <a:blip r:embed="rId4"/>
          <a:stretch>
            <a:fillRect/>
          </a:stretch>
        </p:blipFill>
        <p:spPr>
          <a:xfrm>
            <a:off x="9715500" y="3406140"/>
            <a:ext cx="822960" cy="822960"/>
          </a:xfrm>
          <a:prstGeom prst="rect">
            <a:avLst/>
          </a:prstGeom>
        </p:spPr>
      </p:pic>
      <p:sp>
        <p:nvSpPr>
          <p:cNvPr id="14" name="Text 9"/>
          <p:cNvSpPr/>
          <p:nvPr/>
        </p:nvSpPr>
        <p:spPr>
          <a:xfrm>
            <a:off x="8641080" y="5029200"/>
            <a:ext cx="2971800" cy="365760"/>
          </a:xfrm>
          <a:prstGeom prst="rect">
            <a:avLst/>
          </a:prstGeom>
          <a:noFill/>
          <a:ln/>
        </p:spPr>
        <p:txBody>
          <a:bodyPr wrap="square" lIns="0" tIns="0" rIns="0" bIns="0" rtlCol="0" anchor="ctr"/>
          <a:lstStyle/>
          <a:p>
            <a:pPr algn="ctr" indent="0" marL="0">
              <a:buNone/>
            </a:pPr>
            <a:r>
              <a:rPr lang="en-US" sz="1500" b="1" i="1" dirty="0">
                <a:solidFill>
                  <a:srgbClr val="EAC158"/>
                </a:solidFill>
                <a:latin typeface="Montserrat" pitchFamily="34" charset="0"/>
                <a:ea typeface="Montserrat" pitchFamily="34" charset="-122"/>
                <a:cs typeface="Montserrat" pitchFamily="34" charset="-120"/>
              </a:rPr>
              <a:t>Scan.  Ask.  Order.</a:t>
            </a:r>
            <a:endParaRPr lang="en-US" sz="1500" dirty="0"/>
          </a:p>
        </p:txBody>
      </p:sp>
      <p:pic>
        <p:nvPicPr>
          <p:cNvPr id="15" name="Image 3" descr="assets/odysra_logo.png">    </p:cNvPr>
          <p:cNvPicPr>
            <a:picLocks noChangeAspect="1"/>
          </p:cNvPicPr>
          <p:nvPr/>
        </p:nvPicPr>
        <p:blipFill>
          <a:blip r:embed="rId5"/>
          <a:stretch>
            <a:fillRect/>
          </a:stretch>
        </p:blipFill>
        <p:spPr>
          <a:xfrm>
            <a:off x="11521440" y="6236208"/>
            <a:ext cx="475488" cy="4754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058400" y="1554480"/>
            <a:ext cx="2103120" cy="4846320"/>
          </a:xfrm>
          <a:prstGeom prst="rect">
            <a:avLst/>
          </a:prstGeom>
          <a:noFill/>
          <a:ln/>
        </p:spPr>
        <p:txBody>
          <a:bodyPr wrap="square" lIns="0" tIns="0" rIns="0" bIns="0" rtlCol="0" anchor="ctr"/>
          <a:lstStyle/>
          <a:p>
            <a:pPr algn="ctr" indent="0" marL="0">
              <a:buNone/>
            </a:pPr>
            <a:r>
              <a:rPr lang="en-US" sz="33000" b="1" dirty="0">
                <a:solidFill>
                  <a:srgbClr val="5E4A28">
                    <a:alpha val="26000"/>
                  </a:srgbClr>
                </a:solidFill>
                <a:latin typeface="Montserrat" pitchFamily="34" charset="0"/>
                <a:ea typeface="Montserrat" pitchFamily="34" charset="-122"/>
                <a:cs typeface="Montserrat" pitchFamily="34" charset="-120"/>
              </a:rPr>
              <a:t>?</a:t>
            </a:r>
            <a:endParaRPr lang="en-US" sz="33000" dirty="0"/>
          </a:p>
        </p:txBody>
      </p:sp>
      <p:sp>
        <p:nvSpPr>
          <p:cNvPr id="3" name="Text 1"/>
          <p:cNvSpPr/>
          <p:nvPr/>
        </p:nvSpPr>
        <p:spPr>
          <a:xfrm>
            <a:off x="777240" y="658368"/>
            <a:ext cx="8229600" cy="320040"/>
          </a:xfrm>
          <a:prstGeom prst="rect">
            <a:avLst/>
          </a:prstGeom>
          <a:noFill/>
          <a:ln/>
        </p:spPr>
        <p:txBody>
          <a:bodyPr wrap="square" lIns="0" tIns="0" rIns="0" bIns="0" rtlCol="0" anchor="ctr"/>
          <a:lstStyle/>
          <a:p>
            <a:pPr indent="0" marL="0">
              <a:buNone/>
            </a:pPr>
            <a:r>
              <a:rPr lang="en-US" sz="1250" b="1" spc="300" kern="0" dirty="0">
                <a:solidFill>
                  <a:srgbClr val="D9A93C"/>
                </a:solidFill>
                <a:latin typeface="Inter" pitchFamily="34" charset="0"/>
                <a:ea typeface="Inter" pitchFamily="34" charset="-122"/>
                <a:cs typeface="Inter" pitchFamily="34" charset="-120"/>
              </a:rPr>
              <a:t>LET'S START WITH A QUESTION</a:t>
            </a:r>
            <a:endParaRPr lang="en-US" sz="1250" dirty="0"/>
          </a:p>
        </p:txBody>
      </p:sp>
      <p:sp>
        <p:nvSpPr>
          <p:cNvPr id="4" name="Text 2"/>
          <p:cNvSpPr/>
          <p:nvPr/>
        </p:nvSpPr>
        <p:spPr>
          <a:xfrm>
            <a:off x="777240" y="1078992"/>
            <a:ext cx="9144000" cy="1188720"/>
          </a:xfrm>
          <a:prstGeom prst="rect">
            <a:avLst/>
          </a:prstGeom>
          <a:noFill/>
          <a:ln/>
        </p:spPr>
        <p:txBody>
          <a:bodyPr wrap="square" lIns="0" tIns="0" rIns="0" bIns="0" rtlCol="0" anchor="ctr"/>
          <a:lstStyle/>
          <a:p>
            <a:pPr indent="0" marL="0">
              <a:lnSpc>
                <a:spcPct val="104000"/>
              </a:lnSpc>
              <a:buNone/>
            </a:pPr>
            <a:r>
              <a:rPr lang="en-US" sz="2700" b="1" dirty="0">
                <a:solidFill>
                  <a:srgbClr val="FFFFFF"/>
                </a:solidFill>
                <a:latin typeface="Montserrat" pitchFamily="34" charset="0"/>
                <a:ea typeface="Montserrat" pitchFamily="34" charset="-122"/>
                <a:cs typeface="Montserrat" pitchFamily="34" charset="-120"/>
              </a:rPr>
              <a:t>Picture your busiest Sunday lunch…</a:t>
            </a:r>
            <a:endParaRPr lang="en-US" sz="2700" dirty="0"/>
          </a:p>
        </p:txBody>
      </p:sp>
      <p:sp>
        <p:nvSpPr>
          <p:cNvPr id="5" name="Text 3"/>
          <p:cNvSpPr/>
          <p:nvPr/>
        </p:nvSpPr>
        <p:spPr>
          <a:xfrm>
            <a:off x="822960" y="2788920"/>
            <a:ext cx="8869680" cy="3017520"/>
          </a:xfrm>
          <a:prstGeom prst="rect">
            <a:avLst/>
          </a:prstGeom>
          <a:noFill/>
          <a:ln/>
        </p:spPr>
        <p:txBody>
          <a:bodyPr wrap="square" lIns="0" tIns="0" rIns="0" bIns="0" rtlCol="0" anchor="t"/>
          <a:lstStyle/>
          <a:p>
            <a:pPr indent="0" marL="0">
              <a:lnSpc>
                <a:spcPct val="140000"/>
              </a:lnSpc>
              <a:buNone/>
            </a:pPr>
            <a:r>
              <a:rPr lang="en-US" sz="1850" i="1" dirty="0">
                <a:solidFill>
                  <a:srgbClr val="F4EAD9"/>
                </a:solidFill>
                <a:latin typeface="Inter" pitchFamily="34" charset="0"/>
                <a:ea typeface="Inter" pitchFamily="34" charset="-122"/>
                <a:cs typeface="Inter" pitchFamily="34" charset="-120"/>
              </a:rPr>
              <a:t>When every table fills at once, who tells each guest about today's specials?   How many dishes go unnoticed — simply because no one described them?   How tired is your waiter by the hundredth “what's good here?”   How many guests order less than they'd love to, just because they didn't know?</a:t>
            </a:r>
            <a:endParaRPr lang="en-US" sz="1850" dirty="0"/>
          </a:p>
        </p:txBody>
      </p:sp>
      <p:sp>
        <p:nvSpPr>
          <p:cNvPr id="6" name="Text 4"/>
          <p:cNvSpPr/>
          <p:nvPr/>
        </p:nvSpPr>
        <p:spPr>
          <a:xfrm>
            <a:off x="822960" y="5989320"/>
            <a:ext cx="8229600" cy="365760"/>
          </a:xfrm>
          <a:prstGeom prst="rect">
            <a:avLst/>
          </a:prstGeom>
          <a:noFill/>
          <a:ln/>
        </p:spPr>
        <p:txBody>
          <a:bodyPr wrap="square" lIns="0" tIns="0" rIns="0" bIns="0" rtlCol="0" anchor="ctr"/>
          <a:lstStyle/>
          <a:p>
            <a:pPr indent="0" marL="0">
              <a:buNone/>
            </a:pPr>
            <a:r>
              <a:rPr lang="en-US" sz="1500" b="1" i="1" dirty="0">
                <a:solidFill>
                  <a:srgbClr val="EAC158"/>
                </a:solidFill>
                <a:latin typeface="Inter" pitchFamily="34" charset="0"/>
                <a:ea typeface="Inter" pitchFamily="34" charset="-122"/>
                <a:cs typeface="Inter" pitchFamily="34" charset="-120"/>
              </a:rPr>
              <a:t>Let's answer that  →</a:t>
            </a:r>
            <a:endParaRPr lang="en-US" sz="1500" dirty="0"/>
          </a:p>
        </p:txBody>
      </p:sp>
      <p:pic>
        <p:nvPicPr>
          <p:cNvPr id="7" name="Image 0" descr="assets/odysra_logo.png">    </p:cNvPr>
          <p:cNvPicPr>
            <a:picLocks noChangeAspect="1"/>
          </p:cNvPicPr>
          <p:nvPr/>
        </p:nvPicPr>
        <p:blipFill>
          <a:blip r:embed="rId2"/>
          <a:stretch>
            <a:fillRect/>
          </a:stretch>
        </p:blipFill>
        <p:spPr>
          <a:xfrm>
            <a:off x="11521440" y="6236208"/>
            <a:ext cx="475488" cy="4754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250" b="1" spc="300" kern="0" dirty="0">
                <a:solidFill>
                  <a:srgbClr val="927327"/>
                </a:solidFill>
                <a:latin typeface="Inter" pitchFamily="34" charset="0"/>
                <a:ea typeface="Inter" pitchFamily="34" charset="-122"/>
                <a:cs typeface="Inter" pitchFamily="34" charset="-120"/>
              </a:rPr>
              <a:t>THE PROBLEM</a:t>
            </a:r>
            <a:endParaRPr lang="en-US" sz="1250" dirty="0"/>
          </a:p>
        </p:txBody>
      </p:sp>
      <p:sp>
        <p:nvSpPr>
          <p:cNvPr id="3" name="Text 1"/>
          <p:cNvSpPr/>
          <p:nvPr/>
        </p:nvSpPr>
        <p:spPr>
          <a:xfrm>
            <a:off x="548640" y="868680"/>
            <a:ext cx="11064240" cy="822960"/>
          </a:xfrm>
          <a:prstGeom prst="rect">
            <a:avLst/>
          </a:prstGeom>
          <a:noFill/>
          <a:ln/>
        </p:spPr>
        <p:txBody>
          <a:bodyPr wrap="square" lIns="0" tIns="0" rIns="0" bIns="0" rtlCol="0" anchor="ctr"/>
          <a:lstStyle/>
          <a:p>
            <a:pPr indent="0" marL="0">
              <a:lnSpc>
                <a:spcPct val="100000"/>
              </a:lnSpc>
              <a:buNone/>
            </a:pPr>
            <a:r>
              <a:rPr lang="en-US" sz="2600" b="1" dirty="0">
                <a:solidFill>
                  <a:srgbClr val="4A3413"/>
                </a:solidFill>
                <a:latin typeface="Montserrat" pitchFamily="34" charset="0"/>
                <a:ea typeface="Montserrat" pitchFamily="34" charset="-122"/>
                <a:cs typeface="Montserrat" pitchFamily="34" charset="-120"/>
              </a:rPr>
              <a:t>A great waiter simply can't be everywhere at once.</a:t>
            </a:r>
            <a:endParaRPr lang="en-US" sz="2600" dirty="0"/>
          </a:p>
        </p:txBody>
      </p:sp>
      <p:sp>
        <p:nvSpPr>
          <p:cNvPr id="4" name="Shape 2"/>
          <p:cNvSpPr/>
          <p:nvPr/>
        </p:nvSpPr>
        <p:spPr>
          <a:xfrm>
            <a:off x="548640" y="2240280"/>
            <a:ext cx="5440680" cy="1874520"/>
          </a:xfrm>
          <a:prstGeom prst="roundRect">
            <a:avLst>
              <a:gd name="adj" fmla="val 4878"/>
            </a:avLst>
          </a:prstGeom>
          <a:solidFill>
            <a:srgbClr val="FFFFFF"/>
          </a:solidFill>
          <a:ln w="12700">
            <a:solidFill>
              <a:srgbClr val="E2D4B6"/>
            </a:solidFill>
            <a:prstDash val="solid"/>
          </a:ln>
          <a:effectLst>
            <a:outerShdw sx="100000" sy="100000" kx="0" ky="0" algn="bl" rotWithShape="0" blurRad="114300" dist="38100" dir="5400000">
              <a:srgbClr val="000000">
                <a:alpha val="16000"/>
              </a:srgbClr>
            </a:outerShdw>
          </a:effectLst>
        </p:spPr>
      </p:sp>
      <p:sp>
        <p:nvSpPr>
          <p:cNvPr id="5" name="Shape 3"/>
          <p:cNvSpPr/>
          <p:nvPr/>
        </p:nvSpPr>
        <p:spPr>
          <a:xfrm>
            <a:off x="841248" y="2624328"/>
            <a:ext cx="914400" cy="914400"/>
          </a:xfrm>
          <a:prstGeom prst="ellipse">
            <a:avLst/>
          </a:prstGeom>
          <a:solidFill>
            <a:srgbClr val="4A3413"/>
          </a:solidFill>
          <a:ln/>
        </p:spPr>
      </p:sp>
      <p:pic>
        <p:nvPicPr>
          <p:cNvPr id="6" name="Image 0" descr="assets/icons/users_white.png">    </p:cNvPr>
          <p:cNvPicPr>
            <a:picLocks noChangeAspect="1"/>
          </p:cNvPicPr>
          <p:nvPr/>
        </p:nvPicPr>
        <p:blipFill>
          <a:blip r:embed="rId2"/>
          <a:stretch>
            <a:fillRect/>
          </a:stretch>
        </p:blipFill>
        <p:spPr>
          <a:xfrm>
            <a:off x="1069848" y="2852928"/>
            <a:ext cx="457200" cy="457200"/>
          </a:xfrm>
          <a:prstGeom prst="rect">
            <a:avLst/>
          </a:prstGeom>
        </p:spPr>
      </p:pic>
      <p:sp>
        <p:nvSpPr>
          <p:cNvPr id="7" name="Text 4"/>
          <p:cNvSpPr/>
          <p:nvPr/>
        </p:nvSpPr>
        <p:spPr>
          <a:xfrm>
            <a:off x="1965960" y="2532888"/>
            <a:ext cx="3794760" cy="457200"/>
          </a:xfrm>
          <a:prstGeom prst="rect">
            <a:avLst/>
          </a:prstGeom>
          <a:noFill/>
          <a:ln/>
        </p:spPr>
        <p:txBody>
          <a:bodyPr wrap="square" lIns="0" tIns="0" rIns="0" bIns="0" rtlCol="0" anchor="ctr"/>
          <a:lstStyle/>
          <a:p>
            <a:pPr indent="0" marL="0">
              <a:buNone/>
            </a:pPr>
            <a:r>
              <a:rPr lang="en-US" sz="1850" b="1" dirty="0">
                <a:solidFill>
                  <a:srgbClr val="4A3413"/>
                </a:solidFill>
                <a:latin typeface="Montserrat" pitchFamily="34" charset="0"/>
                <a:ea typeface="Montserrat" pitchFamily="34" charset="-122"/>
                <a:cs typeface="Montserrat" pitchFamily="34" charset="-120"/>
              </a:rPr>
              <a:t>The rush bottleneck</a:t>
            </a:r>
            <a:endParaRPr lang="en-US" sz="1850" dirty="0"/>
          </a:p>
        </p:txBody>
      </p:sp>
      <p:sp>
        <p:nvSpPr>
          <p:cNvPr id="8" name="Text 5"/>
          <p:cNvSpPr/>
          <p:nvPr/>
        </p:nvSpPr>
        <p:spPr>
          <a:xfrm>
            <a:off x="1965960" y="3017520"/>
            <a:ext cx="3794760" cy="914400"/>
          </a:xfrm>
          <a:prstGeom prst="rect">
            <a:avLst/>
          </a:prstGeom>
          <a:noFill/>
          <a:ln/>
        </p:spPr>
        <p:txBody>
          <a:bodyPr wrap="square" lIns="0" tIns="0" rIns="0" bIns="0" rtlCol="0" anchor="ctr"/>
          <a:lstStyle/>
          <a:p>
            <a:pPr indent="0" marL="0">
              <a:lnSpc>
                <a:spcPct val="105000"/>
              </a:lnSpc>
              <a:buNone/>
            </a:pPr>
            <a:r>
              <a:rPr lang="en-US" sz="1300" dirty="0">
                <a:solidFill>
                  <a:srgbClr val="796A50"/>
                </a:solidFill>
                <a:latin typeface="Inter" pitchFamily="34" charset="0"/>
                <a:ea typeface="Inter" pitchFamily="34" charset="-122"/>
                <a:cs typeface="Inter" pitchFamily="34" charset="-120"/>
              </a:rPr>
              <a:t>At peak hours, staff can't describe every dish to every table. Guests wait, or just guess.</a:t>
            </a:r>
            <a:endParaRPr lang="en-US" sz="1300" dirty="0"/>
          </a:p>
        </p:txBody>
      </p:sp>
      <p:sp>
        <p:nvSpPr>
          <p:cNvPr id="9" name="Shape 6"/>
          <p:cNvSpPr/>
          <p:nvPr/>
        </p:nvSpPr>
        <p:spPr>
          <a:xfrm>
            <a:off x="6199632" y="2240280"/>
            <a:ext cx="5440680" cy="1874520"/>
          </a:xfrm>
          <a:prstGeom prst="roundRect">
            <a:avLst>
              <a:gd name="adj" fmla="val 4878"/>
            </a:avLst>
          </a:prstGeom>
          <a:solidFill>
            <a:srgbClr val="FFFFFF"/>
          </a:solidFill>
          <a:ln w="12700">
            <a:solidFill>
              <a:srgbClr val="E2D4B6"/>
            </a:solidFill>
            <a:prstDash val="solid"/>
          </a:ln>
          <a:effectLst>
            <a:outerShdw sx="100000" sy="100000" kx="0" ky="0" algn="bl" rotWithShape="0" blurRad="114300" dist="38100" dir="5400000">
              <a:srgbClr val="000000">
                <a:alpha val="16000"/>
              </a:srgbClr>
            </a:outerShdw>
          </a:effectLst>
        </p:spPr>
      </p:sp>
      <p:sp>
        <p:nvSpPr>
          <p:cNvPr id="10" name="Shape 7"/>
          <p:cNvSpPr/>
          <p:nvPr/>
        </p:nvSpPr>
        <p:spPr>
          <a:xfrm>
            <a:off x="6492240" y="2624328"/>
            <a:ext cx="914400" cy="914400"/>
          </a:xfrm>
          <a:prstGeom prst="ellipse">
            <a:avLst/>
          </a:prstGeom>
          <a:solidFill>
            <a:srgbClr val="4A3413"/>
          </a:solidFill>
          <a:ln/>
        </p:spPr>
      </p:sp>
      <p:pic>
        <p:nvPicPr>
          <p:cNvPr id="11" name="Image 1" descr="assets/icons/utensils_white.png">    </p:cNvPr>
          <p:cNvPicPr>
            <a:picLocks noChangeAspect="1"/>
          </p:cNvPicPr>
          <p:nvPr/>
        </p:nvPicPr>
        <p:blipFill>
          <a:blip r:embed="rId3"/>
          <a:stretch>
            <a:fillRect/>
          </a:stretch>
        </p:blipFill>
        <p:spPr>
          <a:xfrm>
            <a:off x="6720840" y="2852928"/>
            <a:ext cx="457200" cy="457200"/>
          </a:xfrm>
          <a:prstGeom prst="rect">
            <a:avLst/>
          </a:prstGeom>
        </p:spPr>
      </p:pic>
      <p:sp>
        <p:nvSpPr>
          <p:cNvPr id="12" name="Text 8"/>
          <p:cNvSpPr/>
          <p:nvPr/>
        </p:nvSpPr>
        <p:spPr>
          <a:xfrm>
            <a:off x="7616952" y="2532888"/>
            <a:ext cx="3794760" cy="457200"/>
          </a:xfrm>
          <a:prstGeom prst="rect">
            <a:avLst/>
          </a:prstGeom>
          <a:noFill/>
          <a:ln/>
        </p:spPr>
        <p:txBody>
          <a:bodyPr wrap="square" lIns="0" tIns="0" rIns="0" bIns="0" rtlCol="0" anchor="ctr"/>
          <a:lstStyle/>
          <a:p>
            <a:pPr indent="0" marL="0">
              <a:buNone/>
            </a:pPr>
            <a:r>
              <a:rPr lang="en-US" sz="1850" b="1" dirty="0">
                <a:solidFill>
                  <a:srgbClr val="4A3413"/>
                </a:solidFill>
                <a:latin typeface="Montserrat" pitchFamily="34" charset="0"/>
                <a:ea typeface="Montserrat" pitchFamily="34" charset="-122"/>
                <a:cs typeface="Montserrat" pitchFamily="34" charset="-120"/>
              </a:rPr>
              <a:t>Hidden dishes</a:t>
            </a:r>
            <a:endParaRPr lang="en-US" sz="1850" dirty="0"/>
          </a:p>
        </p:txBody>
      </p:sp>
      <p:sp>
        <p:nvSpPr>
          <p:cNvPr id="13" name="Text 9"/>
          <p:cNvSpPr/>
          <p:nvPr/>
        </p:nvSpPr>
        <p:spPr>
          <a:xfrm>
            <a:off x="7616952" y="3017520"/>
            <a:ext cx="3794760" cy="914400"/>
          </a:xfrm>
          <a:prstGeom prst="rect">
            <a:avLst/>
          </a:prstGeom>
          <a:noFill/>
          <a:ln/>
        </p:spPr>
        <p:txBody>
          <a:bodyPr wrap="square" lIns="0" tIns="0" rIns="0" bIns="0" rtlCol="0" anchor="ctr"/>
          <a:lstStyle/>
          <a:p>
            <a:pPr indent="0" marL="0">
              <a:lnSpc>
                <a:spcPct val="105000"/>
              </a:lnSpc>
              <a:buNone/>
            </a:pPr>
            <a:r>
              <a:rPr lang="en-US" sz="1300" dirty="0">
                <a:solidFill>
                  <a:srgbClr val="796A50"/>
                </a:solidFill>
                <a:latin typeface="Inter" pitchFamily="34" charset="0"/>
                <a:ea typeface="Inter" pitchFamily="34" charset="-122"/>
                <a:cs typeface="Inter" pitchFamily="34" charset="-120"/>
              </a:rPr>
              <a:t>Your specials and best dishes stay invisible when there's no one to pitch them.</a:t>
            </a:r>
            <a:endParaRPr lang="en-US" sz="1300" dirty="0"/>
          </a:p>
        </p:txBody>
      </p:sp>
      <p:sp>
        <p:nvSpPr>
          <p:cNvPr id="14" name="Shape 10"/>
          <p:cNvSpPr/>
          <p:nvPr/>
        </p:nvSpPr>
        <p:spPr>
          <a:xfrm>
            <a:off x="548640" y="4297680"/>
            <a:ext cx="5440680" cy="1874520"/>
          </a:xfrm>
          <a:prstGeom prst="roundRect">
            <a:avLst>
              <a:gd name="adj" fmla="val 4878"/>
            </a:avLst>
          </a:prstGeom>
          <a:solidFill>
            <a:srgbClr val="FFFFFF"/>
          </a:solidFill>
          <a:ln w="12700">
            <a:solidFill>
              <a:srgbClr val="E2D4B6"/>
            </a:solidFill>
            <a:prstDash val="solid"/>
          </a:ln>
          <a:effectLst>
            <a:outerShdw sx="100000" sy="100000" kx="0" ky="0" algn="bl" rotWithShape="0" blurRad="114300" dist="38100" dir="5400000">
              <a:srgbClr val="000000">
                <a:alpha val="16000"/>
              </a:srgbClr>
            </a:outerShdw>
          </a:effectLst>
        </p:spPr>
      </p:sp>
      <p:sp>
        <p:nvSpPr>
          <p:cNvPr id="15" name="Shape 11"/>
          <p:cNvSpPr/>
          <p:nvPr/>
        </p:nvSpPr>
        <p:spPr>
          <a:xfrm>
            <a:off x="841248" y="4681728"/>
            <a:ext cx="914400" cy="914400"/>
          </a:xfrm>
          <a:prstGeom prst="ellipse">
            <a:avLst/>
          </a:prstGeom>
          <a:solidFill>
            <a:srgbClr val="4A3413"/>
          </a:solidFill>
          <a:ln/>
        </p:spPr>
      </p:sp>
      <p:pic>
        <p:nvPicPr>
          <p:cNvPr id="16" name="Image 2" descr="assets/icons/arrowdown_white.png">    </p:cNvPr>
          <p:cNvPicPr>
            <a:picLocks noChangeAspect="1"/>
          </p:cNvPicPr>
          <p:nvPr/>
        </p:nvPicPr>
        <p:blipFill>
          <a:blip r:embed="rId4"/>
          <a:stretch>
            <a:fillRect/>
          </a:stretch>
        </p:blipFill>
        <p:spPr>
          <a:xfrm>
            <a:off x="1069848" y="4910328"/>
            <a:ext cx="457200" cy="457200"/>
          </a:xfrm>
          <a:prstGeom prst="rect">
            <a:avLst/>
          </a:prstGeom>
        </p:spPr>
      </p:pic>
      <p:sp>
        <p:nvSpPr>
          <p:cNvPr id="17" name="Text 12"/>
          <p:cNvSpPr/>
          <p:nvPr/>
        </p:nvSpPr>
        <p:spPr>
          <a:xfrm>
            <a:off x="1965960" y="4590288"/>
            <a:ext cx="3794760" cy="457200"/>
          </a:xfrm>
          <a:prstGeom prst="rect">
            <a:avLst/>
          </a:prstGeom>
          <a:noFill/>
          <a:ln/>
        </p:spPr>
        <p:txBody>
          <a:bodyPr wrap="square" lIns="0" tIns="0" rIns="0" bIns="0" rtlCol="0" anchor="ctr"/>
          <a:lstStyle/>
          <a:p>
            <a:pPr indent="0" marL="0">
              <a:buNone/>
            </a:pPr>
            <a:r>
              <a:rPr lang="en-US" sz="1850" b="1" dirty="0">
                <a:solidFill>
                  <a:srgbClr val="4A3413"/>
                </a:solidFill>
                <a:latin typeface="Montserrat" pitchFamily="34" charset="0"/>
                <a:ea typeface="Montserrat" pitchFamily="34" charset="-122"/>
                <a:cs typeface="Montserrat" pitchFamily="34" charset="-120"/>
              </a:rPr>
              <a:t>Under-ordering</a:t>
            </a:r>
            <a:endParaRPr lang="en-US" sz="1850" dirty="0"/>
          </a:p>
        </p:txBody>
      </p:sp>
      <p:sp>
        <p:nvSpPr>
          <p:cNvPr id="18" name="Text 13"/>
          <p:cNvSpPr/>
          <p:nvPr/>
        </p:nvSpPr>
        <p:spPr>
          <a:xfrm>
            <a:off x="1965960" y="5074920"/>
            <a:ext cx="3794760" cy="914400"/>
          </a:xfrm>
          <a:prstGeom prst="rect">
            <a:avLst/>
          </a:prstGeom>
          <a:noFill/>
          <a:ln/>
        </p:spPr>
        <p:txBody>
          <a:bodyPr wrap="square" lIns="0" tIns="0" rIns="0" bIns="0" rtlCol="0" anchor="ctr"/>
          <a:lstStyle/>
          <a:p>
            <a:pPr indent="0" marL="0">
              <a:lnSpc>
                <a:spcPct val="105000"/>
              </a:lnSpc>
              <a:buNone/>
            </a:pPr>
            <a:r>
              <a:rPr lang="en-US" sz="1300" dirty="0">
                <a:solidFill>
                  <a:srgbClr val="796A50"/>
                </a:solidFill>
                <a:latin typeface="Inter" pitchFamily="34" charset="0"/>
                <a:ea typeface="Inter" pitchFamily="34" charset="-122"/>
                <a:cs typeface="Inter" pitchFamily="34" charset="-120"/>
              </a:rPr>
              <a:t>Guests order less than they'd enjoy — only because they didn't know the options.</a:t>
            </a:r>
            <a:endParaRPr lang="en-US" sz="1300" dirty="0"/>
          </a:p>
        </p:txBody>
      </p:sp>
      <p:sp>
        <p:nvSpPr>
          <p:cNvPr id="19" name="Shape 14"/>
          <p:cNvSpPr/>
          <p:nvPr/>
        </p:nvSpPr>
        <p:spPr>
          <a:xfrm>
            <a:off x="6199632" y="4297680"/>
            <a:ext cx="5440680" cy="1874520"/>
          </a:xfrm>
          <a:prstGeom prst="roundRect">
            <a:avLst>
              <a:gd name="adj" fmla="val 4878"/>
            </a:avLst>
          </a:prstGeom>
          <a:solidFill>
            <a:srgbClr val="FFFFFF"/>
          </a:solidFill>
          <a:ln w="12700">
            <a:solidFill>
              <a:srgbClr val="E2D4B6"/>
            </a:solidFill>
            <a:prstDash val="solid"/>
          </a:ln>
          <a:effectLst>
            <a:outerShdw sx="100000" sy="100000" kx="0" ky="0" algn="bl" rotWithShape="0" blurRad="114300" dist="38100" dir="5400000">
              <a:srgbClr val="000000">
                <a:alpha val="16000"/>
              </a:srgbClr>
            </a:outerShdw>
          </a:effectLst>
        </p:spPr>
      </p:sp>
      <p:sp>
        <p:nvSpPr>
          <p:cNvPr id="20" name="Shape 15"/>
          <p:cNvSpPr/>
          <p:nvPr/>
        </p:nvSpPr>
        <p:spPr>
          <a:xfrm>
            <a:off x="6492240" y="4681728"/>
            <a:ext cx="914400" cy="914400"/>
          </a:xfrm>
          <a:prstGeom prst="ellipse">
            <a:avLst/>
          </a:prstGeom>
          <a:solidFill>
            <a:srgbClr val="4A3413"/>
          </a:solidFill>
          <a:ln/>
        </p:spPr>
      </p:sp>
      <p:pic>
        <p:nvPicPr>
          <p:cNvPr id="21" name="Image 3" descr="assets/icons/repeat_white.png">    </p:cNvPr>
          <p:cNvPicPr>
            <a:picLocks noChangeAspect="1"/>
          </p:cNvPicPr>
          <p:nvPr/>
        </p:nvPicPr>
        <p:blipFill>
          <a:blip r:embed="rId5"/>
          <a:stretch>
            <a:fillRect/>
          </a:stretch>
        </p:blipFill>
        <p:spPr>
          <a:xfrm>
            <a:off x="6720840" y="4910328"/>
            <a:ext cx="457200" cy="457200"/>
          </a:xfrm>
          <a:prstGeom prst="rect">
            <a:avLst/>
          </a:prstGeom>
        </p:spPr>
      </p:pic>
      <p:sp>
        <p:nvSpPr>
          <p:cNvPr id="22" name="Text 16"/>
          <p:cNvSpPr/>
          <p:nvPr/>
        </p:nvSpPr>
        <p:spPr>
          <a:xfrm>
            <a:off x="7616952" y="4590288"/>
            <a:ext cx="3794760" cy="457200"/>
          </a:xfrm>
          <a:prstGeom prst="rect">
            <a:avLst/>
          </a:prstGeom>
          <a:noFill/>
          <a:ln/>
        </p:spPr>
        <p:txBody>
          <a:bodyPr wrap="square" lIns="0" tIns="0" rIns="0" bIns="0" rtlCol="0" anchor="ctr"/>
          <a:lstStyle/>
          <a:p>
            <a:pPr indent="0" marL="0">
              <a:buNone/>
            </a:pPr>
            <a:r>
              <a:rPr lang="en-US" sz="1850" b="1" dirty="0">
                <a:solidFill>
                  <a:srgbClr val="4A3413"/>
                </a:solidFill>
                <a:latin typeface="Montserrat" pitchFamily="34" charset="0"/>
                <a:ea typeface="Montserrat" pitchFamily="34" charset="-122"/>
                <a:cs typeface="Montserrat" pitchFamily="34" charset="-120"/>
              </a:rPr>
              <a:t>Tiring &amp; untracked</a:t>
            </a:r>
            <a:endParaRPr lang="en-US" sz="1850" dirty="0"/>
          </a:p>
        </p:txBody>
      </p:sp>
      <p:sp>
        <p:nvSpPr>
          <p:cNvPr id="23" name="Text 17"/>
          <p:cNvSpPr/>
          <p:nvPr/>
        </p:nvSpPr>
        <p:spPr>
          <a:xfrm>
            <a:off x="7616952" y="5074920"/>
            <a:ext cx="3794760" cy="914400"/>
          </a:xfrm>
          <a:prstGeom prst="rect">
            <a:avLst/>
          </a:prstGeom>
          <a:noFill/>
          <a:ln/>
        </p:spPr>
        <p:txBody>
          <a:bodyPr wrap="square" lIns="0" tIns="0" rIns="0" bIns="0" rtlCol="0" anchor="ctr"/>
          <a:lstStyle/>
          <a:p>
            <a:pPr indent="0" marL="0">
              <a:lnSpc>
                <a:spcPct val="105000"/>
              </a:lnSpc>
              <a:buNone/>
            </a:pPr>
            <a:r>
              <a:rPr lang="en-US" sz="1300" dirty="0">
                <a:solidFill>
                  <a:srgbClr val="796A50"/>
                </a:solidFill>
                <a:latin typeface="Inter" pitchFamily="34" charset="0"/>
                <a:ea typeface="Inter" pitchFamily="34" charset="-122"/>
                <a:cs typeface="Inter" pitchFamily="34" charset="-120"/>
              </a:rPr>
              <a:t>Waiters repeat the same answers all day, and you capture none of what guests actually wanted.</a:t>
            </a:r>
            <a:endParaRPr lang="en-US" sz="1300" dirty="0"/>
          </a:p>
        </p:txBody>
      </p:sp>
      <p:pic>
        <p:nvPicPr>
          <p:cNvPr id="24" name="Image 4" descr="assets/odysra_logo.png">    </p:cNvPr>
          <p:cNvPicPr>
            <a:picLocks noChangeAspect="1"/>
          </p:cNvPicPr>
          <p:nvPr/>
        </p:nvPicPr>
        <p:blipFill>
          <a:blip r:embed="rId6"/>
          <a:stretch>
            <a:fillRect/>
          </a:stretch>
        </p:blipFill>
        <p:spPr>
          <a:xfrm>
            <a:off x="11521440" y="6236208"/>
            <a:ext cx="475488" cy="47548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709160" cy="6858000"/>
          </a:xfrm>
          <a:prstGeom prst="rect">
            <a:avLst/>
          </a:prstGeom>
          <a:solidFill>
            <a:srgbClr val="4A3413"/>
          </a:solidFill>
          <a:ln/>
        </p:spPr>
      </p:sp>
      <p:sp>
        <p:nvSpPr>
          <p:cNvPr id="3" name="Shape 1"/>
          <p:cNvSpPr/>
          <p:nvPr/>
        </p:nvSpPr>
        <p:spPr>
          <a:xfrm>
            <a:off x="4709160" y="0"/>
            <a:ext cx="73152" cy="6858000"/>
          </a:xfrm>
          <a:prstGeom prst="rect">
            <a:avLst/>
          </a:prstGeom>
          <a:solidFill>
            <a:srgbClr val="D9A93C"/>
          </a:solidFill>
          <a:ln/>
        </p:spPr>
      </p:sp>
      <p:sp>
        <p:nvSpPr>
          <p:cNvPr id="4" name="Text 2"/>
          <p:cNvSpPr/>
          <p:nvPr/>
        </p:nvSpPr>
        <p:spPr>
          <a:xfrm>
            <a:off x="548640" y="777240"/>
            <a:ext cx="8229600" cy="320040"/>
          </a:xfrm>
          <a:prstGeom prst="rect">
            <a:avLst/>
          </a:prstGeom>
          <a:noFill/>
          <a:ln/>
        </p:spPr>
        <p:txBody>
          <a:bodyPr wrap="square" lIns="0" tIns="0" rIns="0" bIns="0" rtlCol="0" anchor="ctr"/>
          <a:lstStyle/>
          <a:p>
            <a:pPr indent="0" marL="0">
              <a:buNone/>
            </a:pPr>
            <a:r>
              <a:rPr lang="en-US" sz="1250" b="1" spc="300" kern="0" dirty="0">
                <a:solidFill>
                  <a:srgbClr val="EAC158"/>
                </a:solidFill>
                <a:latin typeface="Inter" pitchFamily="34" charset="0"/>
                <a:ea typeface="Inter" pitchFamily="34" charset="-122"/>
                <a:cs typeface="Inter" pitchFamily="34" charset="-120"/>
              </a:rPr>
              <a:t>OUR OBJECTIVE</a:t>
            </a:r>
            <a:endParaRPr lang="en-US" sz="1250" dirty="0"/>
          </a:p>
        </p:txBody>
      </p:sp>
      <p:sp>
        <p:nvSpPr>
          <p:cNvPr id="5" name="Text 3"/>
          <p:cNvSpPr/>
          <p:nvPr/>
        </p:nvSpPr>
        <p:spPr>
          <a:xfrm>
            <a:off x="548640" y="1234440"/>
            <a:ext cx="3840480" cy="2011680"/>
          </a:xfrm>
          <a:prstGeom prst="rect">
            <a:avLst/>
          </a:prstGeom>
          <a:noFill/>
          <a:ln/>
        </p:spPr>
        <p:txBody>
          <a:bodyPr wrap="square" lIns="0" tIns="0" rIns="0" bIns="0" rtlCol="0" anchor="ctr"/>
          <a:lstStyle/>
          <a:p>
            <a:pPr indent="0" marL="0">
              <a:lnSpc>
                <a:spcPct val="103000"/>
              </a:lnSpc>
              <a:buNone/>
            </a:pPr>
            <a:r>
              <a:rPr lang="en-US" sz="2900" b="1" dirty="0">
                <a:solidFill>
                  <a:srgbClr val="FFFFFF"/>
                </a:solidFill>
                <a:latin typeface="Montserrat" pitchFamily="34" charset="0"/>
                <a:ea typeface="Montserrat" pitchFamily="34" charset="-122"/>
                <a:cs typeface="Montserrat" pitchFamily="34" charset="-120"/>
              </a:rPr>
              <a:t>Give every table a tireless AI waiter.</a:t>
            </a:r>
            <a:endParaRPr lang="en-US" sz="2900" dirty="0"/>
          </a:p>
        </p:txBody>
      </p:sp>
      <p:sp>
        <p:nvSpPr>
          <p:cNvPr id="6" name="Text 4"/>
          <p:cNvSpPr/>
          <p:nvPr/>
        </p:nvSpPr>
        <p:spPr>
          <a:xfrm>
            <a:off x="548640" y="3657600"/>
            <a:ext cx="3840480" cy="1828800"/>
          </a:xfrm>
          <a:prstGeom prst="rect">
            <a:avLst/>
          </a:prstGeom>
          <a:noFill/>
          <a:ln/>
        </p:spPr>
        <p:txBody>
          <a:bodyPr wrap="square" lIns="0" tIns="0" rIns="0" bIns="0" rtlCol="0" anchor="ctr"/>
          <a:lstStyle/>
          <a:p>
            <a:pPr indent="0" marL="0">
              <a:lnSpc>
                <a:spcPct val="118000"/>
              </a:lnSpc>
              <a:buNone/>
            </a:pPr>
            <a:r>
              <a:rPr lang="en-US" sz="1500" dirty="0">
                <a:solidFill>
                  <a:srgbClr val="F0E2D2"/>
                </a:solidFill>
                <a:latin typeface="Inter" pitchFamily="34" charset="0"/>
                <a:ea typeface="Inter" pitchFamily="34" charset="-122"/>
                <a:cs typeface="Inter" pitchFamily="34" charset="-120"/>
              </a:rPr>
              <a:t>One that knows your entire menu, recommends like your best server, and helps guests order more — while easing the load on your staff.</a:t>
            </a:r>
            <a:endParaRPr lang="en-US" sz="1500" dirty="0"/>
          </a:p>
        </p:txBody>
      </p:sp>
      <p:sp>
        <p:nvSpPr>
          <p:cNvPr id="7" name="Shape 5"/>
          <p:cNvSpPr/>
          <p:nvPr/>
        </p:nvSpPr>
        <p:spPr>
          <a:xfrm>
            <a:off x="5257800" y="1325880"/>
            <a:ext cx="566928" cy="566928"/>
          </a:xfrm>
          <a:prstGeom prst="ellipse">
            <a:avLst/>
          </a:prstGeom>
          <a:solidFill>
            <a:srgbClr val="927327"/>
          </a:solidFill>
          <a:ln/>
        </p:spPr>
      </p:sp>
      <p:pic>
        <p:nvPicPr>
          <p:cNvPr id="8" name="Image 0" descr="assets/icons/check_white.png">    </p:cNvPr>
          <p:cNvPicPr>
            <a:picLocks noChangeAspect="1"/>
          </p:cNvPicPr>
          <p:nvPr/>
        </p:nvPicPr>
        <p:blipFill>
          <a:blip r:embed="rId2"/>
          <a:stretch>
            <a:fillRect/>
          </a:stretch>
        </p:blipFill>
        <p:spPr>
          <a:xfrm>
            <a:off x="5385359" y="1453439"/>
            <a:ext cx="311810" cy="311810"/>
          </a:xfrm>
          <a:prstGeom prst="rect">
            <a:avLst/>
          </a:prstGeom>
        </p:spPr>
      </p:pic>
      <p:sp>
        <p:nvSpPr>
          <p:cNvPr id="9" name="Text 6"/>
          <p:cNvSpPr/>
          <p:nvPr/>
        </p:nvSpPr>
        <p:spPr>
          <a:xfrm>
            <a:off x="6035040" y="1289304"/>
            <a:ext cx="5760720" cy="411480"/>
          </a:xfrm>
          <a:prstGeom prst="rect">
            <a:avLst/>
          </a:prstGeom>
          <a:noFill/>
          <a:ln/>
        </p:spPr>
        <p:txBody>
          <a:bodyPr wrap="square" lIns="0" tIns="0" rIns="0" bIns="0" rtlCol="0" anchor="ctr"/>
          <a:lstStyle/>
          <a:p>
            <a:pPr indent="0" marL="0">
              <a:buNone/>
            </a:pPr>
            <a:r>
              <a:rPr lang="en-US" sz="1800" b="1" dirty="0">
                <a:solidFill>
                  <a:srgbClr val="4A3413"/>
                </a:solidFill>
                <a:latin typeface="Montserrat" pitchFamily="34" charset="0"/>
                <a:ea typeface="Montserrat" pitchFamily="34" charset="-122"/>
                <a:cs typeface="Montserrat" pitchFamily="34" charset="-120"/>
              </a:rPr>
              <a:t>Know the menu perfectly</a:t>
            </a:r>
            <a:endParaRPr lang="en-US" sz="1800" dirty="0"/>
          </a:p>
        </p:txBody>
      </p:sp>
      <p:sp>
        <p:nvSpPr>
          <p:cNvPr id="10" name="Text 7"/>
          <p:cNvSpPr/>
          <p:nvPr/>
        </p:nvSpPr>
        <p:spPr>
          <a:xfrm>
            <a:off x="6035040" y="1709928"/>
            <a:ext cx="5760720" cy="457200"/>
          </a:xfrm>
          <a:prstGeom prst="rect">
            <a:avLst/>
          </a:prstGeom>
          <a:noFill/>
          <a:ln/>
        </p:spPr>
        <p:txBody>
          <a:bodyPr wrap="square" lIns="0" tIns="0" rIns="0" bIns="0" rtlCol="0" anchor="ctr"/>
          <a:lstStyle/>
          <a:p>
            <a:pPr indent="0" marL="0">
              <a:buNone/>
            </a:pPr>
            <a:r>
              <a:rPr lang="en-US" sz="1300" dirty="0">
                <a:solidFill>
                  <a:srgbClr val="796A50"/>
                </a:solidFill>
                <a:latin typeface="Inter" pitchFamily="34" charset="0"/>
                <a:ea typeface="Inter" pitchFamily="34" charset="-122"/>
                <a:cs typeface="Inter" pitchFamily="34" charset="-120"/>
              </a:rPr>
              <a:t>Every dish, price, and detail — always at hand.</a:t>
            </a:r>
            <a:endParaRPr lang="en-US" sz="1300" dirty="0"/>
          </a:p>
        </p:txBody>
      </p:sp>
      <p:sp>
        <p:nvSpPr>
          <p:cNvPr id="11" name="Shape 8"/>
          <p:cNvSpPr/>
          <p:nvPr/>
        </p:nvSpPr>
        <p:spPr>
          <a:xfrm>
            <a:off x="5257800" y="2532888"/>
            <a:ext cx="566928" cy="566928"/>
          </a:xfrm>
          <a:prstGeom prst="ellipse">
            <a:avLst/>
          </a:prstGeom>
          <a:solidFill>
            <a:srgbClr val="927327"/>
          </a:solidFill>
          <a:ln/>
        </p:spPr>
      </p:sp>
      <p:pic>
        <p:nvPicPr>
          <p:cNvPr id="12" name="Image 1" descr="assets/icons/check_white.png">    </p:cNvPr>
          <p:cNvPicPr>
            <a:picLocks noChangeAspect="1"/>
          </p:cNvPicPr>
          <p:nvPr/>
        </p:nvPicPr>
        <p:blipFill>
          <a:blip r:embed="rId3"/>
          <a:stretch>
            <a:fillRect/>
          </a:stretch>
        </p:blipFill>
        <p:spPr>
          <a:xfrm>
            <a:off x="5385359" y="2660447"/>
            <a:ext cx="311810" cy="311810"/>
          </a:xfrm>
          <a:prstGeom prst="rect">
            <a:avLst/>
          </a:prstGeom>
        </p:spPr>
      </p:pic>
      <p:sp>
        <p:nvSpPr>
          <p:cNvPr id="13" name="Text 9"/>
          <p:cNvSpPr/>
          <p:nvPr/>
        </p:nvSpPr>
        <p:spPr>
          <a:xfrm>
            <a:off x="6035040" y="2496312"/>
            <a:ext cx="5760720" cy="411480"/>
          </a:xfrm>
          <a:prstGeom prst="rect">
            <a:avLst/>
          </a:prstGeom>
          <a:noFill/>
          <a:ln/>
        </p:spPr>
        <p:txBody>
          <a:bodyPr wrap="square" lIns="0" tIns="0" rIns="0" bIns="0" rtlCol="0" anchor="ctr"/>
          <a:lstStyle/>
          <a:p>
            <a:pPr indent="0" marL="0">
              <a:buNone/>
            </a:pPr>
            <a:r>
              <a:rPr lang="en-US" sz="1800" b="1" dirty="0">
                <a:solidFill>
                  <a:srgbClr val="4A3413"/>
                </a:solidFill>
                <a:latin typeface="Montserrat" pitchFamily="34" charset="0"/>
                <a:ea typeface="Montserrat" pitchFamily="34" charset="-122"/>
                <a:cs typeface="Montserrat" pitchFamily="34" charset="-120"/>
              </a:rPr>
              <a:t>Recommend &amp; upsell honestly</a:t>
            </a:r>
            <a:endParaRPr lang="en-US" sz="1800" dirty="0"/>
          </a:p>
        </p:txBody>
      </p:sp>
      <p:sp>
        <p:nvSpPr>
          <p:cNvPr id="14" name="Text 10"/>
          <p:cNvSpPr/>
          <p:nvPr/>
        </p:nvSpPr>
        <p:spPr>
          <a:xfrm>
            <a:off x="6035040" y="2916936"/>
            <a:ext cx="5760720" cy="457200"/>
          </a:xfrm>
          <a:prstGeom prst="rect">
            <a:avLst/>
          </a:prstGeom>
          <a:noFill/>
          <a:ln/>
        </p:spPr>
        <p:txBody>
          <a:bodyPr wrap="square" lIns="0" tIns="0" rIns="0" bIns="0" rtlCol="0" anchor="ctr"/>
          <a:lstStyle/>
          <a:p>
            <a:pPr indent="0" marL="0">
              <a:buNone/>
            </a:pPr>
            <a:r>
              <a:rPr lang="en-US" sz="1300" dirty="0">
                <a:solidFill>
                  <a:srgbClr val="796A50"/>
                </a:solidFill>
                <a:latin typeface="Inter" pitchFamily="34" charset="0"/>
                <a:ea typeface="Inter" pitchFamily="34" charset="-122"/>
                <a:cs typeface="Inter" pitchFamily="34" charset="-120"/>
              </a:rPr>
              <a:t>Lift the bill by being genuinely helpful, never pushy.</a:t>
            </a:r>
            <a:endParaRPr lang="en-US" sz="1300" dirty="0"/>
          </a:p>
        </p:txBody>
      </p:sp>
      <p:sp>
        <p:nvSpPr>
          <p:cNvPr id="15" name="Shape 11"/>
          <p:cNvSpPr/>
          <p:nvPr/>
        </p:nvSpPr>
        <p:spPr>
          <a:xfrm>
            <a:off x="5257800" y="3739896"/>
            <a:ext cx="566928" cy="566928"/>
          </a:xfrm>
          <a:prstGeom prst="ellipse">
            <a:avLst/>
          </a:prstGeom>
          <a:solidFill>
            <a:srgbClr val="927327"/>
          </a:solidFill>
          <a:ln/>
        </p:spPr>
      </p:sp>
      <p:pic>
        <p:nvPicPr>
          <p:cNvPr id="16" name="Image 2" descr="assets/icons/check_white.png">    </p:cNvPr>
          <p:cNvPicPr>
            <a:picLocks noChangeAspect="1"/>
          </p:cNvPicPr>
          <p:nvPr/>
        </p:nvPicPr>
        <p:blipFill>
          <a:blip r:embed="rId4"/>
          <a:stretch>
            <a:fillRect/>
          </a:stretch>
        </p:blipFill>
        <p:spPr>
          <a:xfrm>
            <a:off x="5385359" y="3867455"/>
            <a:ext cx="311810" cy="311810"/>
          </a:xfrm>
          <a:prstGeom prst="rect">
            <a:avLst/>
          </a:prstGeom>
        </p:spPr>
      </p:pic>
      <p:sp>
        <p:nvSpPr>
          <p:cNvPr id="17" name="Text 12"/>
          <p:cNvSpPr/>
          <p:nvPr/>
        </p:nvSpPr>
        <p:spPr>
          <a:xfrm>
            <a:off x="6035040" y="3703320"/>
            <a:ext cx="5760720" cy="411480"/>
          </a:xfrm>
          <a:prstGeom prst="rect">
            <a:avLst/>
          </a:prstGeom>
          <a:noFill/>
          <a:ln/>
        </p:spPr>
        <p:txBody>
          <a:bodyPr wrap="square" lIns="0" tIns="0" rIns="0" bIns="0" rtlCol="0" anchor="ctr"/>
          <a:lstStyle/>
          <a:p>
            <a:pPr indent="0" marL="0">
              <a:buNone/>
            </a:pPr>
            <a:r>
              <a:rPr lang="en-US" sz="1800" b="1" dirty="0">
                <a:solidFill>
                  <a:srgbClr val="4A3413"/>
                </a:solidFill>
                <a:latin typeface="Montserrat" pitchFamily="34" charset="0"/>
                <a:ea typeface="Montserrat" pitchFamily="34" charset="-122"/>
                <a:cs typeface="Montserrat" pitchFamily="34" charset="-120"/>
              </a:rPr>
              <a:t>Lighten the staff workload</a:t>
            </a:r>
            <a:endParaRPr lang="en-US" sz="1800" dirty="0"/>
          </a:p>
        </p:txBody>
      </p:sp>
      <p:sp>
        <p:nvSpPr>
          <p:cNvPr id="18" name="Text 13"/>
          <p:cNvSpPr/>
          <p:nvPr/>
        </p:nvSpPr>
        <p:spPr>
          <a:xfrm>
            <a:off x="6035040" y="4123944"/>
            <a:ext cx="5760720" cy="457200"/>
          </a:xfrm>
          <a:prstGeom prst="rect">
            <a:avLst/>
          </a:prstGeom>
          <a:noFill/>
          <a:ln/>
        </p:spPr>
        <p:txBody>
          <a:bodyPr wrap="square" lIns="0" tIns="0" rIns="0" bIns="0" rtlCol="0" anchor="ctr"/>
          <a:lstStyle/>
          <a:p>
            <a:pPr indent="0" marL="0">
              <a:buNone/>
            </a:pPr>
            <a:r>
              <a:rPr lang="en-US" sz="1300" dirty="0">
                <a:solidFill>
                  <a:srgbClr val="796A50"/>
                </a:solidFill>
                <a:latin typeface="Inter" pitchFamily="34" charset="0"/>
                <a:ea typeface="Inter" pitchFamily="34" charset="-122"/>
                <a:cs typeface="Inter" pitchFamily="34" charset="-120"/>
              </a:rPr>
              <a:t>The chatbot answers; your team focuses on service.</a:t>
            </a:r>
            <a:endParaRPr lang="en-US" sz="1300" dirty="0"/>
          </a:p>
        </p:txBody>
      </p:sp>
      <p:sp>
        <p:nvSpPr>
          <p:cNvPr id="19" name="Shape 14"/>
          <p:cNvSpPr/>
          <p:nvPr/>
        </p:nvSpPr>
        <p:spPr>
          <a:xfrm>
            <a:off x="5257800" y="4946904"/>
            <a:ext cx="566928" cy="566928"/>
          </a:xfrm>
          <a:prstGeom prst="ellipse">
            <a:avLst/>
          </a:prstGeom>
          <a:solidFill>
            <a:srgbClr val="927327"/>
          </a:solidFill>
          <a:ln/>
        </p:spPr>
      </p:sp>
      <p:pic>
        <p:nvPicPr>
          <p:cNvPr id="20" name="Image 3" descr="assets/icons/check_white.png">    </p:cNvPr>
          <p:cNvPicPr>
            <a:picLocks noChangeAspect="1"/>
          </p:cNvPicPr>
          <p:nvPr/>
        </p:nvPicPr>
        <p:blipFill>
          <a:blip r:embed="rId5"/>
          <a:stretch>
            <a:fillRect/>
          </a:stretch>
        </p:blipFill>
        <p:spPr>
          <a:xfrm>
            <a:off x="5385359" y="5074463"/>
            <a:ext cx="311810" cy="311810"/>
          </a:xfrm>
          <a:prstGeom prst="rect">
            <a:avLst/>
          </a:prstGeom>
        </p:spPr>
      </p:pic>
      <p:sp>
        <p:nvSpPr>
          <p:cNvPr id="21" name="Text 15"/>
          <p:cNvSpPr/>
          <p:nvPr/>
        </p:nvSpPr>
        <p:spPr>
          <a:xfrm>
            <a:off x="6035040" y="4910328"/>
            <a:ext cx="5760720" cy="411480"/>
          </a:xfrm>
          <a:prstGeom prst="rect">
            <a:avLst/>
          </a:prstGeom>
          <a:noFill/>
          <a:ln/>
        </p:spPr>
        <p:txBody>
          <a:bodyPr wrap="square" lIns="0" tIns="0" rIns="0" bIns="0" rtlCol="0" anchor="ctr"/>
          <a:lstStyle/>
          <a:p>
            <a:pPr indent="0" marL="0">
              <a:buNone/>
            </a:pPr>
            <a:r>
              <a:rPr lang="en-US" sz="1800" b="1" dirty="0">
                <a:solidFill>
                  <a:srgbClr val="4A3413"/>
                </a:solidFill>
                <a:latin typeface="Montserrat" pitchFamily="34" charset="0"/>
                <a:ea typeface="Montserrat" pitchFamily="34" charset="-122"/>
                <a:cs typeface="Montserrat" pitchFamily="34" charset="-120"/>
              </a:rPr>
              <a:t>Built only for Annapoorna</a:t>
            </a:r>
            <a:endParaRPr lang="en-US" sz="1800" dirty="0"/>
          </a:p>
        </p:txBody>
      </p:sp>
      <p:sp>
        <p:nvSpPr>
          <p:cNvPr id="22" name="Text 16"/>
          <p:cNvSpPr/>
          <p:nvPr/>
        </p:nvSpPr>
        <p:spPr>
          <a:xfrm>
            <a:off x="6035040" y="5330952"/>
            <a:ext cx="5760720" cy="457200"/>
          </a:xfrm>
          <a:prstGeom prst="rect">
            <a:avLst/>
          </a:prstGeom>
          <a:noFill/>
          <a:ln/>
        </p:spPr>
        <p:txBody>
          <a:bodyPr wrap="square" lIns="0" tIns="0" rIns="0" bIns="0" rtlCol="0" anchor="ctr"/>
          <a:lstStyle/>
          <a:p>
            <a:pPr indent="0" marL="0">
              <a:buNone/>
            </a:pPr>
            <a:r>
              <a:rPr lang="en-US" sz="1300" dirty="0">
                <a:solidFill>
                  <a:srgbClr val="796A50"/>
                </a:solidFill>
                <a:latin typeface="Inter" pitchFamily="34" charset="0"/>
                <a:ea typeface="Inter" pitchFamily="34" charset="-122"/>
                <a:cs typeface="Inter" pitchFamily="34" charset="-120"/>
              </a:rPr>
              <a:t>A bespoke assistant, tuned to your restaurant.</a:t>
            </a:r>
            <a:endParaRPr lang="en-US" sz="1300" dirty="0"/>
          </a:p>
        </p:txBody>
      </p:sp>
      <p:pic>
        <p:nvPicPr>
          <p:cNvPr id="23" name="Image 4" descr="assets/odysra_logo.png">    </p:cNvPr>
          <p:cNvPicPr>
            <a:picLocks noChangeAspect="1"/>
          </p:cNvPicPr>
          <p:nvPr/>
        </p:nvPicPr>
        <p:blipFill>
          <a:blip r:embed="rId6"/>
          <a:stretch>
            <a:fillRect/>
          </a:stretch>
        </p:blipFill>
        <p:spPr>
          <a:xfrm>
            <a:off x="11521440" y="6236208"/>
            <a:ext cx="475488" cy="47548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058400" y="1554480"/>
            <a:ext cx="2103120" cy="4846320"/>
          </a:xfrm>
          <a:prstGeom prst="rect">
            <a:avLst/>
          </a:prstGeom>
          <a:noFill/>
          <a:ln/>
        </p:spPr>
        <p:txBody>
          <a:bodyPr wrap="square" lIns="0" tIns="0" rIns="0" bIns="0" rtlCol="0" anchor="ctr"/>
          <a:lstStyle/>
          <a:p>
            <a:pPr algn="ctr" indent="0" marL="0">
              <a:buNone/>
            </a:pPr>
            <a:r>
              <a:rPr lang="en-US" sz="33000" b="1" dirty="0">
                <a:solidFill>
                  <a:srgbClr val="5E4A28">
                    <a:alpha val="26000"/>
                  </a:srgbClr>
                </a:solidFill>
                <a:latin typeface="Montserrat" pitchFamily="34" charset="0"/>
                <a:ea typeface="Montserrat" pitchFamily="34" charset="-122"/>
                <a:cs typeface="Montserrat" pitchFamily="34" charset="-120"/>
              </a:rPr>
              <a:t>?</a:t>
            </a:r>
            <a:endParaRPr lang="en-US" sz="33000" dirty="0"/>
          </a:p>
        </p:txBody>
      </p:sp>
      <p:sp>
        <p:nvSpPr>
          <p:cNvPr id="3" name="Text 1"/>
          <p:cNvSpPr/>
          <p:nvPr/>
        </p:nvSpPr>
        <p:spPr>
          <a:xfrm>
            <a:off x="777240" y="658368"/>
            <a:ext cx="8229600" cy="320040"/>
          </a:xfrm>
          <a:prstGeom prst="rect">
            <a:avLst/>
          </a:prstGeom>
          <a:noFill/>
          <a:ln/>
        </p:spPr>
        <p:txBody>
          <a:bodyPr wrap="square" lIns="0" tIns="0" rIns="0" bIns="0" rtlCol="0" anchor="ctr"/>
          <a:lstStyle/>
          <a:p>
            <a:pPr indent="0" marL="0">
              <a:buNone/>
            </a:pPr>
            <a:r>
              <a:rPr lang="en-US" sz="1250" b="1" spc="300" kern="0" dirty="0">
                <a:solidFill>
                  <a:srgbClr val="D9A93C"/>
                </a:solidFill>
                <a:latin typeface="Inter" pitchFamily="34" charset="0"/>
                <a:ea typeface="Inter" pitchFamily="34" charset="-122"/>
                <a:cs typeface="Inter" pitchFamily="34" charset="-120"/>
              </a:rPr>
              <a:t>YOU MIGHT BE WONDERING</a:t>
            </a:r>
            <a:endParaRPr lang="en-US" sz="1250" dirty="0"/>
          </a:p>
        </p:txBody>
      </p:sp>
      <p:sp>
        <p:nvSpPr>
          <p:cNvPr id="4" name="Text 2"/>
          <p:cNvSpPr/>
          <p:nvPr/>
        </p:nvSpPr>
        <p:spPr>
          <a:xfrm>
            <a:off x="777240" y="1078992"/>
            <a:ext cx="9144000" cy="1188720"/>
          </a:xfrm>
          <a:prstGeom prst="rect">
            <a:avLst/>
          </a:prstGeom>
          <a:noFill/>
          <a:ln/>
        </p:spPr>
        <p:txBody>
          <a:bodyPr wrap="square" lIns="0" tIns="0" rIns="0" bIns="0" rtlCol="0" anchor="ctr"/>
          <a:lstStyle/>
          <a:p>
            <a:pPr indent="0" marL="0">
              <a:lnSpc>
                <a:spcPct val="104000"/>
              </a:lnSpc>
              <a:buNone/>
            </a:pPr>
            <a:r>
              <a:rPr lang="en-US" sz="2700" b="1" dirty="0">
                <a:solidFill>
                  <a:srgbClr val="FFFFFF"/>
                </a:solidFill>
                <a:latin typeface="Montserrat" pitchFamily="34" charset="0"/>
                <a:ea typeface="Montserrat" pitchFamily="34" charset="-122"/>
                <a:cs typeface="Montserrat" pitchFamily="34" charset="-120"/>
              </a:rPr>
              <a:t>“Isn't this just ChatGPT or a QR-code menu?”</a:t>
            </a:r>
            <a:endParaRPr lang="en-US" sz="2700" dirty="0"/>
          </a:p>
        </p:txBody>
      </p:sp>
      <p:sp>
        <p:nvSpPr>
          <p:cNvPr id="5" name="Text 3"/>
          <p:cNvSpPr/>
          <p:nvPr/>
        </p:nvSpPr>
        <p:spPr>
          <a:xfrm>
            <a:off x="822960" y="2788920"/>
            <a:ext cx="8869680" cy="3017520"/>
          </a:xfrm>
          <a:prstGeom prst="rect">
            <a:avLst/>
          </a:prstGeom>
          <a:noFill/>
          <a:ln/>
        </p:spPr>
        <p:txBody>
          <a:bodyPr wrap="square" lIns="0" tIns="0" rIns="0" bIns="0" rtlCol="0" anchor="t"/>
          <a:lstStyle/>
          <a:p>
            <a:pPr indent="0" marL="0">
              <a:lnSpc>
                <a:spcPct val="140000"/>
              </a:lnSpc>
              <a:buNone/>
            </a:pPr>
            <a:r>
              <a:rPr lang="en-US" sz="1850" i="1" dirty="0">
                <a:solidFill>
                  <a:srgbClr val="F4EAD9"/>
                </a:solidFill>
                <a:latin typeface="Inter" pitchFamily="34" charset="0"/>
                <a:ea typeface="Inter" pitchFamily="34" charset="-122"/>
                <a:cs typeface="Inter" pitchFamily="34" charset="-120"/>
              </a:rPr>
              <a:t>Can a normal QR menu actually recommend dishes like a seasoned waiter?   Does a generic chatbot know Annapoorna's real menu, prices, and what's sold out right now?   Can it talk to your guests in Tamil?   Can it get smarter every single day, the more your guests use it?</a:t>
            </a:r>
            <a:endParaRPr lang="en-US" sz="1850" dirty="0"/>
          </a:p>
        </p:txBody>
      </p:sp>
      <p:sp>
        <p:nvSpPr>
          <p:cNvPr id="6" name="Text 4"/>
          <p:cNvSpPr/>
          <p:nvPr/>
        </p:nvSpPr>
        <p:spPr>
          <a:xfrm>
            <a:off x="822960" y="5989320"/>
            <a:ext cx="8229600" cy="365760"/>
          </a:xfrm>
          <a:prstGeom prst="rect">
            <a:avLst/>
          </a:prstGeom>
          <a:noFill/>
          <a:ln/>
        </p:spPr>
        <p:txBody>
          <a:bodyPr wrap="square" lIns="0" tIns="0" rIns="0" bIns="0" rtlCol="0" anchor="ctr"/>
          <a:lstStyle/>
          <a:p>
            <a:pPr indent="0" marL="0">
              <a:buNone/>
            </a:pPr>
            <a:r>
              <a:rPr lang="en-US" sz="1500" b="1" i="1" dirty="0">
                <a:solidFill>
                  <a:srgbClr val="EAC158"/>
                </a:solidFill>
                <a:latin typeface="Inter" pitchFamily="34" charset="0"/>
                <a:ea typeface="Inter" pitchFamily="34" charset="-122"/>
                <a:cs typeface="Inter" pitchFamily="34" charset="-120"/>
              </a:rPr>
              <a:t>Here's what makes it different  →</a:t>
            </a:r>
            <a:endParaRPr lang="en-US" sz="1500" dirty="0"/>
          </a:p>
        </p:txBody>
      </p:sp>
      <p:pic>
        <p:nvPicPr>
          <p:cNvPr id="7" name="Image 0" descr="assets/odysra_logo.png">    </p:cNvPr>
          <p:cNvPicPr>
            <a:picLocks noChangeAspect="1"/>
          </p:cNvPicPr>
          <p:nvPr/>
        </p:nvPicPr>
        <p:blipFill>
          <a:blip r:embed="rId2"/>
          <a:stretch>
            <a:fillRect/>
          </a:stretch>
        </p:blipFill>
        <p:spPr>
          <a:xfrm>
            <a:off x="11521440" y="6236208"/>
            <a:ext cx="475488" cy="4754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250" b="1" spc="300" kern="0" dirty="0">
                <a:solidFill>
                  <a:srgbClr val="927327"/>
                </a:solidFill>
                <a:latin typeface="Inter" pitchFamily="34" charset="0"/>
                <a:ea typeface="Inter" pitchFamily="34" charset="-122"/>
                <a:cs typeface="Inter" pitchFamily="34" charset="-120"/>
              </a:rPr>
              <a:t>WHAT MAKES IT DIFFERENT</a:t>
            </a:r>
            <a:endParaRPr lang="en-US" sz="1250" dirty="0"/>
          </a:p>
        </p:txBody>
      </p:sp>
      <p:sp>
        <p:nvSpPr>
          <p:cNvPr id="3" name="Text 1"/>
          <p:cNvSpPr/>
          <p:nvPr/>
        </p:nvSpPr>
        <p:spPr>
          <a:xfrm>
            <a:off x="548640" y="868680"/>
            <a:ext cx="11064240" cy="822960"/>
          </a:xfrm>
          <a:prstGeom prst="rect">
            <a:avLst/>
          </a:prstGeom>
          <a:noFill/>
          <a:ln/>
        </p:spPr>
        <p:txBody>
          <a:bodyPr wrap="square" lIns="0" tIns="0" rIns="0" bIns="0" rtlCol="0" anchor="ctr"/>
          <a:lstStyle/>
          <a:p>
            <a:pPr indent="0" marL="0">
              <a:lnSpc>
                <a:spcPct val="100000"/>
              </a:lnSpc>
              <a:buNone/>
            </a:pPr>
            <a:r>
              <a:rPr lang="en-US" sz="2600" b="1" dirty="0">
                <a:solidFill>
                  <a:srgbClr val="4A3413"/>
                </a:solidFill>
                <a:latin typeface="Montserrat" pitchFamily="34" charset="0"/>
                <a:ea typeface="Montserrat" pitchFamily="34" charset="-122"/>
                <a:cs typeface="Montserrat" pitchFamily="34" charset="-120"/>
              </a:rPr>
              <a:t>Not a generic bot. Your bot.</a:t>
            </a:r>
            <a:endParaRPr lang="en-US" sz="2600" dirty="0"/>
          </a:p>
        </p:txBody>
      </p:sp>
      <p:sp>
        <p:nvSpPr>
          <p:cNvPr id="4" name="Shape 2"/>
          <p:cNvSpPr/>
          <p:nvPr/>
        </p:nvSpPr>
        <p:spPr>
          <a:xfrm>
            <a:off x="548640" y="2148840"/>
            <a:ext cx="603504" cy="603504"/>
          </a:xfrm>
          <a:prstGeom prst="ellipse">
            <a:avLst/>
          </a:prstGeom>
          <a:solidFill>
            <a:srgbClr val="927327"/>
          </a:solidFill>
          <a:ln/>
        </p:spPr>
      </p:sp>
      <p:pic>
        <p:nvPicPr>
          <p:cNvPr id="5" name="Image 0" descr="assets/icons/check_white.png">    </p:cNvPr>
          <p:cNvPicPr>
            <a:picLocks noChangeAspect="1"/>
          </p:cNvPicPr>
          <p:nvPr/>
        </p:nvPicPr>
        <p:blipFill>
          <a:blip r:embed="rId2"/>
          <a:stretch>
            <a:fillRect/>
          </a:stretch>
        </p:blipFill>
        <p:spPr>
          <a:xfrm>
            <a:off x="693481" y="2293681"/>
            <a:ext cx="313822" cy="313822"/>
          </a:xfrm>
          <a:prstGeom prst="rect">
            <a:avLst/>
          </a:prstGeom>
        </p:spPr>
      </p:pic>
      <p:sp>
        <p:nvSpPr>
          <p:cNvPr id="6" name="Text 3"/>
          <p:cNvSpPr/>
          <p:nvPr/>
        </p:nvSpPr>
        <p:spPr>
          <a:xfrm>
            <a:off x="1325880" y="2121408"/>
            <a:ext cx="6126480" cy="384048"/>
          </a:xfrm>
          <a:prstGeom prst="rect">
            <a:avLst/>
          </a:prstGeom>
          <a:noFill/>
          <a:ln/>
        </p:spPr>
        <p:txBody>
          <a:bodyPr wrap="square" lIns="0" tIns="0" rIns="0" bIns="0" rtlCol="0" anchor="ctr"/>
          <a:lstStyle/>
          <a:p>
            <a:pPr indent="0" marL="0">
              <a:buNone/>
            </a:pPr>
            <a:r>
              <a:rPr lang="en-US" sz="1650" b="1" dirty="0">
                <a:solidFill>
                  <a:srgbClr val="4A3413"/>
                </a:solidFill>
                <a:latin typeface="Montserrat" pitchFamily="34" charset="0"/>
                <a:ea typeface="Montserrat" pitchFamily="34" charset="-122"/>
                <a:cs typeface="Montserrat" pitchFamily="34" charset="-120"/>
              </a:rPr>
              <a:t>Grounded on YOUR menu</a:t>
            </a:r>
            <a:endParaRPr lang="en-US" sz="1650" dirty="0"/>
          </a:p>
        </p:txBody>
      </p:sp>
      <p:sp>
        <p:nvSpPr>
          <p:cNvPr id="7" name="Text 4"/>
          <p:cNvSpPr/>
          <p:nvPr/>
        </p:nvSpPr>
        <p:spPr>
          <a:xfrm>
            <a:off x="1325880" y="2496312"/>
            <a:ext cx="6309360" cy="502920"/>
          </a:xfrm>
          <a:prstGeom prst="rect">
            <a:avLst/>
          </a:prstGeom>
          <a:noFill/>
          <a:ln/>
        </p:spPr>
        <p:txBody>
          <a:bodyPr wrap="square" lIns="0" tIns="0" rIns="0" bIns="0" rtlCol="0" anchor="ctr"/>
          <a:lstStyle/>
          <a:p>
            <a:pPr indent="0" marL="0">
              <a:lnSpc>
                <a:spcPct val="100000"/>
              </a:lnSpc>
              <a:buNone/>
            </a:pPr>
            <a:r>
              <a:rPr lang="en-US" sz="1250" dirty="0">
                <a:solidFill>
                  <a:srgbClr val="796A50"/>
                </a:solidFill>
                <a:latin typeface="Inter" pitchFamily="34" charset="0"/>
                <a:ea typeface="Inter" pitchFamily="34" charset="-122"/>
                <a:cs typeface="Inter" pitchFamily="34" charset="-120"/>
              </a:rPr>
              <a:t>It speaks only from Annapoorna's real dishes and prices — it never invents.</a:t>
            </a:r>
            <a:endParaRPr lang="en-US" sz="1250" dirty="0"/>
          </a:p>
        </p:txBody>
      </p:sp>
      <p:sp>
        <p:nvSpPr>
          <p:cNvPr id="8" name="Shape 5"/>
          <p:cNvSpPr/>
          <p:nvPr/>
        </p:nvSpPr>
        <p:spPr>
          <a:xfrm>
            <a:off x="548640" y="2990088"/>
            <a:ext cx="603504" cy="603504"/>
          </a:xfrm>
          <a:prstGeom prst="ellipse">
            <a:avLst/>
          </a:prstGeom>
          <a:solidFill>
            <a:srgbClr val="927327"/>
          </a:solidFill>
          <a:ln/>
        </p:spPr>
      </p:sp>
      <p:pic>
        <p:nvPicPr>
          <p:cNvPr id="9" name="Image 1" descr="assets/icons/language_white.png">    </p:cNvPr>
          <p:cNvPicPr>
            <a:picLocks noChangeAspect="1"/>
          </p:cNvPicPr>
          <p:nvPr/>
        </p:nvPicPr>
        <p:blipFill>
          <a:blip r:embed="rId3"/>
          <a:stretch>
            <a:fillRect/>
          </a:stretch>
        </p:blipFill>
        <p:spPr>
          <a:xfrm>
            <a:off x="693481" y="3134929"/>
            <a:ext cx="313822" cy="313822"/>
          </a:xfrm>
          <a:prstGeom prst="rect">
            <a:avLst/>
          </a:prstGeom>
        </p:spPr>
      </p:pic>
      <p:sp>
        <p:nvSpPr>
          <p:cNvPr id="10" name="Text 6"/>
          <p:cNvSpPr/>
          <p:nvPr/>
        </p:nvSpPr>
        <p:spPr>
          <a:xfrm>
            <a:off x="1325880" y="2962656"/>
            <a:ext cx="6126480" cy="384048"/>
          </a:xfrm>
          <a:prstGeom prst="rect">
            <a:avLst/>
          </a:prstGeom>
          <a:noFill/>
          <a:ln/>
        </p:spPr>
        <p:txBody>
          <a:bodyPr wrap="square" lIns="0" tIns="0" rIns="0" bIns="0" rtlCol="0" anchor="ctr"/>
          <a:lstStyle/>
          <a:p>
            <a:pPr indent="0" marL="0">
              <a:buNone/>
            </a:pPr>
            <a:r>
              <a:rPr lang="en-US" sz="1650" b="1" dirty="0">
                <a:solidFill>
                  <a:srgbClr val="4A3413"/>
                </a:solidFill>
                <a:latin typeface="Montserrat" pitchFamily="34" charset="0"/>
                <a:ea typeface="Montserrat" pitchFamily="34" charset="-122"/>
                <a:cs typeface="Montserrat" pitchFamily="34" charset="-120"/>
              </a:rPr>
              <a:t>Speaks your guests' language</a:t>
            </a:r>
            <a:endParaRPr lang="en-US" sz="1650" dirty="0"/>
          </a:p>
        </p:txBody>
      </p:sp>
      <p:sp>
        <p:nvSpPr>
          <p:cNvPr id="11" name="Text 7"/>
          <p:cNvSpPr/>
          <p:nvPr/>
        </p:nvSpPr>
        <p:spPr>
          <a:xfrm>
            <a:off x="1325880" y="3337560"/>
            <a:ext cx="6309360" cy="502920"/>
          </a:xfrm>
          <a:prstGeom prst="rect">
            <a:avLst/>
          </a:prstGeom>
          <a:noFill/>
          <a:ln/>
        </p:spPr>
        <p:txBody>
          <a:bodyPr wrap="square" lIns="0" tIns="0" rIns="0" bIns="0" rtlCol="0" anchor="ctr"/>
          <a:lstStyle/>
          <a:p>
            <a:pPr indent="0" marL="0">
              <a:lnSpc>
                <a:spcPct val="100000"/>
              </a:lnSpc>
              <a:buNone/>
            </a:pPr>
            <a:r>
              <a:rPr lang="en-US" sz="1250" dirty="0">
                <a:solidFill>
                  <a:srgbClr val="796A50"/>
                </a:solidFill>
                <a:latin typeface="Inter" pitchFamily="34" charset="0"/>
                <a:ea typeface="Inter" pitchFamily="34" charset="-122"/>
                <a:cs typeface="Inter" pitchFamily="34" charset="-120"/>
              </a:rPr>
              <a:t>Tamil &amp; English to start — built to scale to Hindi, Malayalam, Telugu &amp; Kannada.</a:t>
            </a:r>
            <a:endParaRPr lang="en-US" sz="1250" dirty="0"/>
          </a:p>
        </p:txBody>
      </p:sp>
      <p:sp>
        <p:nvSpPr>
          <p:cNvPr id="12" name="Shape 8"/>
          <p:cNvSpPr/>
          <p:nvPr/>
        </p:nvSpPr>
        <p:spPr>
          <a:xfrm>
            <a:off x="548640" y="3831336"/>
            <a:ext cx="603504" cy="603504"/>
          </a:xfrm>
          <a:prstGeom prst="ellipse">
            <a:avLst/>
          </a:prstGeom>
          <a:solidFill>
            <a:srgbClr val="927327"/>
          </a:solidFill>
          <a:ln/>
        </p:spPr>
      </p:sp>
      <p:pic>
        <p:nvPicPr>
          <p:cNvPr id="13" name="Image 2" descr="assets/icons/sparkles_white.png">    </p:cNvPr>
          <p:cNvPicPr>
            <a:picLocks noChangeAspect="1"/>
          </p:cNvPicPr>
          <p:nvPr/>
        </p:nvPicPr>
        <p:blipFill>
          <a:blip r:embed="rId4"/>
          <a:stretch>
            <a:fillRect/>
          </a:stretch>
        </p:blipFill>
        <p:spPr>
          <a:xfrm>
            <a:off x="693481" y="3976177"/>
            <a:ext cx="313822" cy="313822"/>
          </a:xfrm>
          <a:prstGeom prst="rect">
            <a:avLst/>
          </a:prstGeom>
        </p:spPr>
      </p:pic>
      <p:sp>
        <p:nvSpPr>
          <p:cNvPr id="14" name="Text 9"/>
          <p:cNvSpPr/>
          <p:nvPr/>
        </p:nvSpPr>
        <p:spPr>
          <a:xfrm>
            <a:off x="1325880" y="3803904"/>
            <a:ext cx="6126480" cy="384048"/>
          </a:xfrm>
          <a:prstGeom prst="rect">
            <a:avLst/>
          </a:prstGeom>
          <a:noFill/>
          <a:ln/>
        </p:spPr>
        <p:txBody>
          <a:bodyPr wrap="square" lIns="0" tIns="0" rIns="0" bIns="0" rtlCol="0" anchor="ctr"/>
          <a:lstStyle/>
          <a:p>
            <a:pPr indent="0" marL="0">
              <a:buNone/>
            </a:pPr>
            <a:r>
              <a:rPr lang="en-US" sz="1650" b="1" dirty="0">
                <a:solidFill>
                  <a:srgbClr val="4A3413"/>
                </a:solidFill>
                <a:latin typeface="Montserrat" pitchFamily="34" charset="0"/>
                <a:ea typeface="Montserrat" pitchFamily="34" charset="-122"/>
                <a:cs typeface="Montserrat" pitchFamily="34" charset="-120"/>
              </a:rPr>
              <a:t>Honestly margin-aware</a:t>
            </a:r>
            <a:endParaRPr lang="en-US" sz="1650" dirty="0"/>
          </a:p>
        </p:txBody>
      </p:sp>
      <p:sp>
        <p:nvSpPr>
          <p:cNvPr id="15" name="Text 10"/>
          <p:cNvSpPr/>
          <p:nvPr/>
        </p:nvSpPr>
        <p:spPr>
          <a:xfrm>
            <a:off x="1325880" y="4178808"/>
            <a:ext cx="6309360" cy="502920"/>
          </a:xfrm>
          <a:prstGeom prst="rect">
            <a:avLst/>
          </a:prstGeom>
          <a:noFill/>
          <a:ln/>
        </p:spPr>
        <p:txBody>
          <a:bodyPr wrap="square" lIns="0" tIns="0" rIns="0" bIns="0" rtlCol="0" anchor="ctr"/>
          <a:lstStyle/>
          <a:p>
            <a:pPr indent="0" marL="0">
              <a:lnSpc>
                <a:spcPct val="100000"/>
              </a:lnSpc>
              <a:buNone/>
            </a:pPr>
            <a:r>
              <a:rPr lang="en-US" sz="1250" dirty="0">
                <a:solidFill>
                  <a:srgbClr val="796A50"/>
                </a:solidFill>
                <a:latin typeface="Inter" pitchFamily="34" charset="0"/>
                <a:ea typeface="Inter" pitchFamily="34" charset="-122"/>
                <a:cs typeface="Inter" pitchFamily="34" charset="-120"/>
              </a:rPr>
              <a:t>Gently favours your profitable dishes — framed by taste, never price. Guests never feel pushed.</a:t>
            </a:r>
            <a:endParaRPr lang="en-US" sz="1250" dirty="0"/>
          </a:p>
        </p:txBody>
      </p:sp>
      <p:sp>
        <p:nvSpPr>
          <p:cNvPr id="16" name="Shape 11"/>
          <p:cNvSpPr/>
          <p:nvPr/>
        </p:nvSpPr>
        <p:spPr>
          <a:xfrm>
            <a:off x="548640" y="4672584"/>
            <a:ext cx="603504" cy="603504"/>
          </a:xfrm>
          <a:prstGeom prst="ellipse">
            <a:avLst/>
          </a:prstGeom>
          <a:solidFill>
            <a:srgbClr val="927327"/>
          </a:solidFill>
          <a:ln/>
        </p:spPr>
      </p:sp>
      <p:pic>
        <p:nvPicPr>
          <p:cNvPr id="17" name="Image 3" descr="assets/icons/brain_white.png">    </p:cNvPr>
          <p:cNvPicPr>
            <a:picLocks noChangeAspect="1"/>
          </p:cNvPicPr>
          <p:nvPr/>
        </p:nvPicPr>
        <p:blipFill>
          <a:blip r:embed="rId5"/>
          <a:stretch>
            <a:fillRect/>
          </a:stretch>
        </p:blipFill>
        <p:spPr>
          <a:xfrm>
            <a:off x="693481" y="4817425"/>
            <a:ext cx="313822" cy="313822"/>
          </a:xfrm>
          <a:prstGeom prst="rect">
            <a:avLst/>
          </a:prstGeom>
        </p:spPr>
      </p:pic>
      <p:sp>
        <p:nvSpPr>
          <p:cNvPr id="18" name="Text 12"/>
          <p:cNvSpPr/>
          <p:nvPr/>
        </p:nvSpPr>
        <p:spPr>
          <a:xfrm>
            <a:off x="1325880" y="4645152"/>
            <a:ext cx="6126480" cy="384048"/>
          </a:xfrm>
          <a:prstGeom prst="rect">
            <a:avLst/>
          </a:prstGeom>
          <a:noFill/>
          <a:ln/>
        </p:spPr>
        <p:txBody>
          <a:bodyPr wrap="square" lIns="0" tIns="0" rIns="0" bIns="0" rtlCol="0" anchor="ctr"/>
          <a:lstStyle/>
          <a:p>
            <a:pPr indent="0" marL="0">
              <a:buNone/>
            </a:pPr>
            <a:r>
              <a:rPr lang="en-US" sz="1650" b="1" dirty="0">
                <a:solidFill>
                  <a:srgbClr val="4A3413"/>
                </a:solidFill>
                <a:latin typeface="Montserrat" pitchFamily="34" charset="0"/>
                <a:ea typeface="Montserrat" pitchFamily="34" charset="-122"/>
                <a:cs typeface="Montserrat" pitchFamily="34" charset="-120"/>
              </a:rPr>
              <a:t>Learns every day</a:t>
            </a:r>
            <a:endParaRPr lang="en-US" sz="1650" dirty="0"/>
          </a:p>
        </p:txBody>
      </p:sp>
      <p:sp>
        <p:nvSpPr>
          <p:cNvPr id="19" name="Text 13"/>
          <p:cNvSpPr/>
          <p:nvPr/>
        </p:nvSpPr>
        <p:spPr>
          <a:xfrm>
            <a:off x="1325880" y="5020056"/>
            <a:ext cx="6309360" cy="502920"/>
          </a:xfrm>
          <a:prstGeom prst="rect">
            <a:avLst/>
          </a:prstGeom>
          <a:noFill/>
          <a:ln/>
        </p:spPr>
        <p:txBody>
          <a:bodyPr wrap="square" lIns="0" tIns="0" rIns="0" bIns="0" rtlCol="0" anchor="ctr"/>
          <a:lstStyle/>
          <a:p>
            <a:pPr indent="0" marL="0">
              <a:lnSpc>
                <a:spcPct val="100000"/>
              </a:lnSpc>
              <a:buNone/>
            </a:pPr>
            <a:r>
              <a:rPr lang="en-US" sz="1250" dirty="0">
                <a:solidFill>
                  <a:srgbClr val="796A50"/>
                </a:solidFill>
                <a:latin typeface="Inter" pitchFamily="34" charset="0"/>
                <a:ea typeface="Inter" pitchFamily="34" charset="-122"/>
                <a:cs typeface="Inter" pitchFamily="34" charset="-120"/>
              </a:rPr>
              <a:t>Gets smarter from each chat and from your existing Google reviews.</a:t>
            </a:r>
            <a:endParaRPr lang="en-US" sz="1250" dirty="0"/>
          </a:p>
        </p:txBody>
      </p:sp>
      <p:sp>
        <p:nvSpPr>
          <p:cNvPr id="20" name="Shape 14"/>
          <p:cNvSpPr/>
          <p:nvPr/>
        </p:nvSpPr>
        <p:spPr>
          <a:xfrm>
            <a:off x="548640" y="5513832"/>
            <a:ext cx="603504" cy="603504"/>
          </a:xfrm>
          <a:prstGeom prst="ellipse">
            <a:avLst/>
          </a:prstGeom>
          <a:solidFill>
            <a:srgbClr val="927327"/>
          </a:solidFill>
          <a:ln/>
        </p:spPr>
      </p:sp>
      <p:pic>
        <p:nvPicPr>
          <p:cNvPr id="21" name="Image 4" descr="assets/icons/star_white.png">    </p:cNvPr>
          <p:cNvPicPr>
            <a:picLocks noChangeAspect="1"/>
          </p:cNvPicPr>
          <p:nvPr/>
        </p:nvPicPr>
        <p:blipFill>
          <a:blip r:embed="rId6"/>
          <a:stretch>
            <a:fillRect/>
          </a:stretch>
        </p:blipFill>
        <p:spPr>
          <a:xfrm>
            <a:off x="693481" y="5658673"/>
            <a:ext cx="313822" cy="313822"/>
          </a:xfrm>
          <a:prstGeom prst="rect">
            <a:avLst/>
          </a:prstGeom>
        </p:spPr>
      </p:pic>
      <p:sp>
        <p:nvSpPr>
          <p:cNvPr id="22" name="Text 15"/>
          <p:cNvSpPr/>
          <p:nvPr/>
        </p:nvSpPr>
        <p:spPr>
          <a:xfrm>
            <a:off x="1325880" y="5486400"/>
            <a:ext cx="6126480" cy="384048"/>
          </a:xfrm>
          <a:prstGeom prst="rect">
            <a:avLst/>
          </a:prstGeom>
          <a:noFill/>
          <a:ln/>
        </p:spPr>
        <p:txBody>
          <a:bodyPr wrap="square" lIns="0" tIns="0" rIns="0" bIns="0" rtlCol="0" anchor="ctr"/>
          <a:lstStyle/>
          <a:p>
            <a:pPr indent="0" marL="0">
              <a:buNone/>
            </a:pPr>
            <a:r>
              <a:rPr lang="en-US" sz="1650" b="1" dirty="0">
                <a:solidFill>
                  <a:srgbClr val="4A3413"/>
                </a:solidFill>
                <a:latin typeface="Montserrat" pitchFamily="34" charset="0"/>
                <a:ea typeface="Montserrat" pitchFamily="34" charset="-122"/>
                <a:cs typeface="Montserrat" pitchFamily="34" charset="-120"/>
              </a:rPr>
              <a:t>Built only for you</a:t>
            </a:r>
            <a:endParaRPr lang="en-US" sz="1650" dirty="0"/>
          </a:p>
        </p:txBody>
      </p:sp>
      <p:sp>
        <p:nvSpPr>
          <p:cNvPr id="23" name="Text 16"/>
          <p:cNvSpPr/>
          <p:nvPr/>
        </p:nvSpPr>
        <p:spPr>
          <a:xfrm>
            <a:off x="1325880" y="5861304"/>
            <a:ext cx="6309360" cy="502920"/>
          </a:xfrm>
          <a:prstGeom prst="rect">
            <a:avLst/>
          </a:prstGeom>
          <a:noFill/>
          <a:ln/>
        </p:spPr>
        <p:txBody>
          <a:bodyPr wrap="square" lIns="0" tIns="0" rIns="0" bIns="0" rtlCol="0" anchor="ctr"/>
          <a:lstStyle/>
          <a:p>
            <a:pPr indent="0" marL="0">
              <a:lnSpc>
                <a:spcPct val="100000"/>
              </a:lnSpc>
              <a:buNone/>
            </a:pPr>
            <a:r>
              <a:rPr lang="en-US" sz="1250" dirty="0">
                <a:solidFill>
                  <a:srgbClr val="796A50"/>
                </a:solidFill>
                <a:latin typeface="Inter" pitchFamily="34" charset="0"/>
                <a:ea typeface="Inter" pitchFamily="34" charset="-122"/>
                <a:cs typeface="Inter" pitchFamily="34" charset="-120"/>
              </a:rPr>
              <a:t>A custom assistant for Sree Annapoorna — not an off-the-shelf app.</a:t>
            </a:r>
            <a:endParaRPr lang="en-US" sz="1250" dirty="0"/>
          </a:p>
        </p:txBody>
      </p:sp>
      <p:sp>
        <p:nvSpPr>
          <p:cNvPr id="24" name="Shape 17"/>
          <p:cNvSpPr/>
          <p:nvPr/>
        </p:nvSpPr>
        <p:spPr>
          <a:xfrm>
            <a:off x="8183880" y="2011680"/>
            <a:ext cx="3520440" cy="4160520"/>
          </a:xfrm>
          <a:prstGeom prst="roundRect">
            <a:avLst>
              <a:gd name="adj" fmla="val 3636"/>
            </a:avLst>
          </a:prstGeom>
          <a:solidFill>
            <a:srgbClr val="FFFFFF"/>
          </a:solidFill>
          <a:ln w="12700">
            <a:solidFill>
              <a:srgbClr val="E2D4B6"/>
            </a:solidFill>
            <a:prstDash val="solid"/>
          </a:ln>
          <a:effectLst>
            <a:outerShdw sx="100000" sy="100000" kx="0" ky="0" algn="bl" rotWithShape="0" blurRad="114300" dist="38100" dir="5400000">
              <a:srgbClr val="000000">
                <a:alpha val="16000"/>
              </a:srgbClr>
            </a:outerShdw>
          </a:effectLst>
        </p:spPr>
      </p:sp>
      <p:sp>
        <p:nvSpPr>
          <p:cNvPr id="25" name="Shape 18"/>
          <p:cNvSpPr/>
          <p:nvPr/>
        </p:nvSpPr>
        <p:spPr>
          <a:xfrm>
            <a:off x="8183880" y="2011680"/>
            <a:ext cx="3520440" cy="822960"/>
          </a:xfrm>
          <a:prstGeom prst="roundRect">
            <a:avLst>
              <a:gd name="adj" fmla="val 15556"/>
            </a:avLst>
          </a:prstGeom>
          <a:solidFill>
            <a:srgbClr val="4A3413"/>
          </a:solidFill>
          <a:ln/>
        </p:spPr>
      </p:sp>
      <p:sp>
        <p:nvSpPr>
          <p:cNvPr id="26" name="Shape 19"/>
          <p:cNvSpPr/>
          <p:nvPr/>
        </p:nvSpPr>
        <p:spPr>
          <a:xfrm>
            <a:off x="8183880" y="2423160"/>
            <a:ext cx="3520440" cy="411480"/>
          </a:xfrm>
          <a:prstGeom prst="rect">
            <a:avLst/>
          </a:prstGeom>
          <a:solidFill>
            <a:srgbClr val="4A3413"/>
          </a:solidFill>
          <a:ln/>
        </p:spPr>
      </p:sp>
      <p:sp>
        <p:nvSpPr>
          <p:cNvPr id="27" name="Shape 20"/>
          <p:cNvSpPr/>
          <p:nvPr/>
        </p:nvSpPr>
        <p:spPr>
          <a:xfrm>
            <a:off x="8412480" y="2194560"/>
            <a:ext cx="457200" cy="457200"/>
          </a:xfrm>
          <a:prstGeom prst="ellipse">
            <a:avLst/>
          </a:prstGeom>
          <a:solidFill>
            <a:srgbClr val="D9A93C"/>
          </a:solidFill>
          <a:ln/>
        </p:spPr>
      </p:sp>
      <p:pic>
        <p:nvPicPr>
          <p:cNvPr id="28" name="Image 5" descr="assets/icons/comment_brown.png">    </p:cNvPr>
          <p:cNvPicPr>
            <a:picLocks noChangeAspect="1"/>
          </p:cNvPicPr>
          <p:nvPr/>
        </p:nvPicPr>
        <p:blipFill>
          <a:blip r:embed="rId7"/>
          <a:stretch>
            <a:fillRect/>
          </a:stretch>
        </p:blipFill>
        <p:spPr>
          <a:xfrm>
            <a:off x="8513064" y="2295144"/>
            <a:ext cx="256032" cy="256032"/>
          </a:xfrm>
          <a:prstGeom prst="rect">
            <a:avLst/>
          </a:prstGeom>
        </p:spPr>
      </p:pic>
      <p:sp>
        <p:nvSpPr>
          <p:cNvPr id="29" name="Text 21"/>
          <p:cNvSpPr/>
          <p:nvPr/>
        </p:nvSpPr>
        <p:spPr>
          <a:xfrm>
            <a:off x="8970264" y="2011680"/>
            <a:ext cx="2377440" cy="822960"/>
          </a:xfrm>
          <a:prstGeom prst="rect">
            <a:avLst/>
          </a:prstGeom>
          <a:noFill/>
          <a:ln/>
        </p:spPr>
        <p:txBody>
          <a:bodyPr wrap="square" lIns="0" tIns="0" rIns="0" bIns="0" rtlCol="0" anchor="ctr"/>
          <a:lstStyle/>
          <a:p>
            <a:pPr indent="0" marL="0">
              <a:buNone/>
            </a:pPr>
            <a:r>
              <a:rPr lang="en-US" sz="1500" b="1" dirty="0">
                <a:solidFill>
                  <a:srgbClr val="FFFFFF"/>
                </a:solidFill>
                <a:latin typeface="Montserrat" pitchFamily="34" charset="0"/>
                <a:ea typeface="Montserrat" pitchFamily="34" charset="-122"/>
                <a:cs typeface="Montserrat" pitchFamily="34" charset="-120"/>
              </a:rPr>
              <a:t>AI Waiter</a:t>
            </a:r>
            <a:endParaRPr lang="en-US" sz="1500" dirty="0"/>
          </a:p>
        </p:txBody>
      </p:sp>
      <p:sp>
        <p:nvSpPr>
          <p:cNvPr id="30" name="Shape 22"/>
          <p:cNvSpPr/>
          <p:nvPr/>
        </p:nvSpPr>
        <p:spPr>
          <a:xfrm>
            <a:off x="9098280" y="3017520"/>
            <a:ext cx="2377440" cy="640080"/>
          </a:xfrm>
          <a:prstGeom prst="roundRect">
            <a:avLst>
              <a:gd name="adj" fmla="val 14286"/>
            </a:avLst>
          </a:prstGeom>
          <a:solidFill>
            <a:srgbClr val="EAC158"/>
          </a:solidFill>
          <a:ln/>
        </p:spPr>
      </p:sp>
      <p:sp>
        <p:nvSpPr>
          <p:cNvPr id="31" name="Text 23"/>
          <p:cNvSpPr/>
          <p:nvPr/>
        </p:nvSpPr>
        <p:spPr>
          <a:xfrm>
            <a:off x="9189720" y="3063240"/>
            <a:ext cx="2194560" cy="548640"/>
          </a:xfrm>
          <a:prstGeom prst="rect">
            <a:avLst/>
          </a:prstGeom>
          <a:noFill/>
          <a:ln/>
        </p:spPr>
        <p:txBody>
          <a:bodyPr wrap="square" lIns="0" tIns="0" rIns="0" bIns="0" rtlCol="0" anchor="ctr"/>
          <a:lstStyle/>
          <a:p>
            <a:pPr indent="0" marL="0">
              <a:buNone/>
            </a:pPr>
            <a:r>
              <a:rPr lang="en-US" sz="1150" dirty="0">
                <a:solidFill>
                  <a:srgbClr val="4A2A05"/>
                </a:solidFill>
                <a:latin typeface="Inter" pitchFamily="34" charset="0"/>
                <a:ea typeface="Inter" pitchFamily="34" charset="-122"/>
                <a:cs typeface="Inter" pitchFamily="34" charset="-120"/>
              </a:rPr>
              <a:t>“Something light &amp; not too spicy?”</a:t>
            </a:r>
            <a:endParaRPr lang="en-US" sz="1150" dirty="0"/>
          </a:p>
        </p:txBody>
      </p:sp>
      <p:sp>
        <p:nvSpPr>
          <p:cNvPr id="32" name="Shape 24"/>
          <p:cNvSpPr/>
          <p:nvPr/>
        </p:nvSpPr>
        <p:spPr>
          <a:xfrm>
            <a:off x="8412480" y="3840480"/>
            <a:ext cx="2834640" cy="1508760"/>
          </a:xfrm>
          <a:prstGeom prst="roundRect">
            <a:avLst>
              <a:gd name="adj" fmla="val 6061"/>
            </a:avLst>
          </a:prstGeom>
          <a:solidFill>
            <a:srgbClr val="F4ECDD"/>
          </a:solidFill>
          <a:ln w="12700">
            <a:solidFill>
              <a:srgbClr val="E2D4B6"/>
            </a:solidFill>
            <a:prstDash val="solid"/>
          </a:ln>
        </p:spPr>
      </p:sp>
      <p:sp>
        <p:nvSpPr>
          <p:cNvPr id="33" name="Text 25"/>
          <p:cNvSpPr/>
          <p:nvPr/>
        </p:nvSpPr>
        <p:spPr>
          <a:xfrm>
            <a:off x="8549640" y="3931920"/>
            <a:ext cx="2606040" cy="1325880"/>
          </a:xfrm>
          <a:prstGeom prst="rect">
            <a:avLst/>
          </a:prstGeom>
          <a:noFill/>
          <a:ln/>
        </p:spPr>
        <p:txBody>
          <a:bodyPr wrap="square" lIns="0" tIns="0" rIns="0" bIns="0" rtlCol="0" anchor="t"/>
          <a:lstStyle/>
          <a:p>
            <a:pPr indent="0" marL="0">
              <a:lnSpc>
                <a:spcPct val="105000"/>
              </a:lnSpc>
              <a:buNone/>
            </a:pPr>
            <a:r>
              <a:rPr lang="en-US" sz="1200" b="1" dirty="0">
                <a:solidFill>
                  <a:srgbClr val="4A3413"/>
                </a:solidFill>
                <a:latin typeface="Inter" pitchFamily="34" charset="0"/>
                <a:ea typeface="Inter" pitchFamily="34" charset="-122"/>
                <a:cs typeface="Inter" pitchFamily="34" charset="-120"/>
              </a:rPr>
              <a:t>Try our Ghee Pongal</a:t>
            </a:r>
            <a:pPr indent="0" marL="0">
              <a:lnSpc>
                <a:spcPct val="105000"/>
              </a:lnSpc>
              <a:buNone/>
            </a:pPr>
            <a:r>
              <a:rPr lang="en-US" sz="1200" dirty="0">
                <a:solidFill>
                  <a:srgbClr val="3A2E1C"/>
                </a:solidFill>
                <a:latin typeface="Inter" pitchFamily="34" charset="0"/>
                <a:ea typeface="Inter" pitchFamily="34" charset="-122"/>
                <a:cs typeface="Inter" pitchFamily="34" charset="-120"/>
              </a:rPr>
              <a:t> — a guest favourite, mild and comforting. Pairs perfectly with hot filter coffee.</a:t>
            </a:r>
            <a:endParaRPr lang="en-US" sz="1200" dirty="0"/>
          </a:p>
        </p:txBody>
      </p:sp>
      <p:sp>
        <p:nvSpPr>
          <p:cNvPr id="34" name="Text 26"/>
          <p:cNvSpPr/>
          <p:nvPr/>
        </p:nvSpPr>
        <p:spPr>
          <a:xfrm>
            <a:off x="8412480" y="5623560"/>
            <a:ext cx="3108960" cy="365760"/>
          </a:xfrm>
          <a:prstGeom prst="rect">
            <a:avLst/>
          </a:prstGeom>
          <a:noFill/>
          <a:ln/>
        </p:spPr>
        <p:txBody>
          <a:bodyPr wrap="square" lIns="0" tIns="0" rIns="0" bIns="0" rtlCol="0" anchor="ctr"/>
          <a:lstStyle/>
          <a:p>
            <a:pPr algn="ctr" indent="0" marL="0">
              <a:buNone/>
            </a:pPr>
            <a:r>
              <a:rPr lang="en-US" sz="1000" i="1" dirty="0">
                <a:solidFill>
                  <a:srgbClr val="796A50"/>
                </a:solidFill>
                <a:latin typeface="Inter" pitchFamily="34" charset="0"/>
                <a:ea typeface="Inter" pitchFamily="34" charset="-122"/>
                <a:cs typeface="Inter" pitchFamily="34" charset="-120"/>
              </a:rPr>
              <a:t>Grounded · in Tamil too · always available</a:t>
            </a:r>
            <a:endParaRPr lang="en-US" sz="1000" dirty="0"/>
          </a:p>
        </p:txBody>
      </p:sp>
      <p:pic>
        <p:nvPicPr>
          <p:cNvPr id="35" name="Image 6" descr="assets/odysra_logo.png">    </p:cNvPr>
          <p:cNvPicPr>
            <a:picLocks noChangeAspect="1"/>
          </p:cNvPicPr>
          <p:nvPr/>
        </p:nvPicPr>
        <p:blipFill>
          <a:blip r:embed="rId8"/>
          <a:stretch>
            <a:fillRect/>
          </a:stretch>
        </p:blipFill>
        <p:spPr>
          <a:xfrm>
            <a:off x="11521440" y="6236208"/>
            <a:ext cx="475488" cy="4754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0058400" y="1554480"/>
            <a:ext cx="2103120" cy="4846320"/>
          </a:xfrm>
          <a:prstGeom prst="rect">
            <a:avLst/>
          </a:prstGeom>
          <a:noFill/>
          <a:ln/>
        </p:spPr>
        <p:txBody>
          <a:bodyPr wrap="square" lIns="0" tIns="0" rIns="0" bIns="0" rtlCol="0" anchor="ctr"/>
          <a:lstStyle/>
          <a:p>
            <a:pPr algn="ctr" indent="0" marL="0">
              <a:buNone/>
            </a:pPr>
            <a:r>
              <a:rPr lang="en-US" sz="33000" b="1" dirty="0">
                <a:solidFill>
                  <a:srgbClr val="5E4A28">
                    <a:alpha val="26000"/>
                  </a:srgbClr>
                </a:solidFill>
                <a:latin typeface="Montserrat" pitchFamily="34" charset="0"/>
                <a:ea typeface="Montserrat" pitchFamily="34" charset="-122"/>
                <a:cs typeface="Montserrat" pitchFamily="34" charset="-120"/>
              </a:rPr>
              <a:t>?</a:t>
            </a:r>
            <a:endParaRPr lang="en-US" sz="33000" dirty="0"/>
          </a:p>
        </p:txBody>
      </p:sp>
      <p:sp>
        <p:nvSpPr>
          <p:cNvPr id="3" name="Text 1"/>
          <p:cNvSpPr/>
          <p:nvPr/>
        </p:nvSpPr>
        <p:spPr>
          <a:xfrm>
            <a:off x="777240" y="658368"/>
            <a:ext cx="8229600" cy="320040"/>
          </a:xfrm>
          <a:prstGeom prst="rect">
            <a:avLst/>
          </a:prstGeom>
          <a:noFill/>
          <a:ln/>
        </p:spPr>
        <p:txBody>
          <a:bodyPr wrap="square" lIns="0" tIns="0" rIns="0" bIns="0" rtlCol="0" anchor="ctr"/>
          <a:lstStyle/>
          <a:p>
            <a:pPr indent="0" marL="0">
              <a:buNone/>
            </a:pPr>
            <a:r>
              <a:rPr lang="en-US" sz="1250" b="1" spc="300" kern="0" dirty="0">
                <a:solidFill>
                  <a:srgbClr val="D9A93C"/>
                </a:solidFill>
                <a:latin typeface="Inter" pitchFamily="34" charset="0"/>
                <a:ea typeface="Inter" pitchFamily="34" charset="-122"/>
                <a:cs typeface="Inter" pitchFamily="34" charset="-120"/>
              </a:rPr>
              <a:t>NOW THE FUN PART</a:t>
            </a:r>
            <a:endParaRPr lang="en-US" sz="1250" dirty="0"/>
          </a:p>
        </p:txBody>
      </p:sp>
      <p:sp>
        <p:nvSpPr>
          <p:cNvPr id="4" name="Text 2"/>
          <p:cNvSpPr/>
          <p:nvPr/>
        </p:nvSpPr>
        <p:spPr>
          <a:xfrm>
            <a:off x="777240" y="1078992"/>
            <a:ext cx="9144000" cy="1188720"/>
          </a:xfrm>
          <a:prstGeom prst="rect">
            <a:avLst/>
          </a:prstGeom>
          <a:noFill/>
          <a:ln/>
        </p:spPr>
        <p:txBody>
          <a:bodyPr wrap="square" lIns="0" tIns="0" rIns="0" bIns="0" rtlCol="0" anchor="ctr"/>
          <a:lstStyle/>
          <a:p>
            <a:pPr indent="0" marL="0">
              <a:lnSpc>
                <a:spcPct val="104000"/>
              </a:lnSpc>
              <a:buNone/>
            </a:pPr>
            <a:r>
              <a:rPr lang="en-US" sz="2700" b="1" dirty="0">
                <a:solidFill>
                  <a:srgbClr val="FFFFFF"/>
                </a:solidFill>
                <a:latin typeface="Montserrat" pitchFamily="34" charset="0"/>
                <a:ea typeface="Montserrat" pitchFamily="34" charset="-122"/>
                <a:cs typeface="Montserrat" pitchFamily="34" charset="-120"/>
              </a:rPr>
              <a:t>So… what can the AI chatbot actually do at the table?</a:t>
            </a:r>
            <a:endParaRPr lang="en-US" sz="2700" dirty="0"/>
          </a:p>
        </p:txBody>
      </p:sp>
      <p:sp>
        <p:nvSpPr>
          <p:cNvPr id="5" name="Text 3"/>
          <p:cNvSpPr/>
          <p:nvPr/>
        </p:nvSpPr>
        <p:spPr>
          <a:xfrm>
            <a:off x="822960" y="2788920"/>
            <a:ext cx="8869680" cy="3017520"/>
          </a:xfrm>
          <a:prstGeom prst="rect">
            <a:avLst/>
          </a:prstGeom>
          <a:noFill/>
          <a:ln/>
        </p:spPr>
        <p:txBody>
          <a:bodyPr wrap="square" lIns="0" tIns="0" rIns="0" bIns="0" rtlCol="0" anchor="t"/>
          <a:lstStyle/>
          <a:p>
            <a:pPr indent="0" marL="0">
              <a:lnSpc>
                <a:spcPct val="140000"/>
              </a:lnSpc>
              <a:buNone/>
            </a:pPr>
            <a:r>
              <a:rPr lang="en-US" sz="1850" i="1" dirty="0">
                <a:solidFill>
                  <a:srgbClr val="F4EAD9"/>
                </a:solidFill>
                <a:latin typeface="Inter" pitchFamily="34" charset="0"/>
                <a:ea typeface="Inter" pitchFamily="34" charset="-122"/>
                <a:cs typeface="Inter" pitchFamily="34" charset="-120"/>
              </a:rPr>
              <a:t>Can it recommend the perfect dish for a guest's mood and budget?   Can it answer “is this Jain?” or “how spicy is it?” in a second?   Can it handle a banquet-hall enquiry while you're busy serving?   Can it remember what guests loved — and tell you?</a:t>
            </a:r>
            <a:endParaRPr lang="en-US" sz="1850" dirty="0"/>
          </a:p>
        </p:txBody>
      </p:sp>
      <p:sp>
        <p:nvSpPr>
          <p:cNvPr id="6" name="Text 4"/>
          <p:cNvSpPr/>
          <p:nvPr/>
        </p:nvSpPr>
        <p:spPr>
          <a:xfrm>
            <a:off x="822960" y="5989320"/>
            <a:ext cx="8229600" cy="365760"/>
          </a:xfrm>
          <a:prstGeom prst="rect">
            <a:avLst/>
          </a:prstGeom>
          <a:noFill/>
          <a:ln/>
        </p:spPr>
        <p:txBody>
          <a:bodyPr wrap="square" lIns="0" tIns="0" rIns="0" bIns="0" rtlCol="0" anchor="ctr"/>
          <a:lstStyle/>
          <a:p>
            <a:pPr indent="0" marL="0">
              <a:buNone/>
            </a:pPr>
            <a:r>
              <a:rPr lang="en-US" sz="1500" b="1" i="1" dirty="0">
                <a:solidFill>
                  <a:srgbClr val="EAC158"/>
                </a:solidFill>
                <a:latin typeface="Inter" pitchFamily="34" charset="0"/>
                <a:ea typeface="Inter" pitchFamily="34" charset="-122"/>
                <a:cs typeface="Inter" pitchFamily="34" charset="-120"/>
              </a:rPr>
              <a:t>Here's the full skill set  →</a:t>
            </a:r>
            <a:endParaRPr lang="en-US" sz="1500" dirty="0"/>
          </a:p>
        </p:txBody>
      </p:sp>
      <p:pic>
        <p:nvPicPr>
          <p:cNvPr id="7" name="Image 0" descr="assets/odysra_logo.png">    </p:cNvPr>
          <p:cNvPicPr>
            <a:picLocks noChangeAspect="1"/>
          </p:cNvPicPr>
          <p:nvPr/>
        </p:nvPicPr>
        <p:blipFill>
          <a:blip r:embed="rId2"/>
          <a:stretch>
            <a:fillRect/>
          </a:stretch>
        </p:blipFill>
        <p:spPr>
          <a:xfrm>
            <a:off x="11521440" y="6236208"/>
            <a:ext cx="475488" cy="4754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250" b="1" spc="300" kern="0" dirty="0">
                <a:solidFill>
                  <a:srgbClr val="927327"/>
                </a:solidFill>
                <a:latin typeface="Inter" pitchFamily="34" charset="0"/>
                <a:ea typeface="Inter" pitchFamily="34" charset="-122"/>
                <a:cs typeface="Inter" pitchFamily="34" charset="-120"/>
              </a:rPr>
              <a:t>WHAT THE CHATBOT DOES</a:t>
            </a:r>
            <a:endParaRPr lang="en-US" sz="1250" dirty="0"/>
          </a:p>
        </p:txBody>
      </p:sp>
      <p:sp>
        <p:nvSpPr>
          <p:cNvPr id="3" name="Text 1"/>
          <p:cNvSpPr/>
          <p:nvPr/>
        </p:nvSpPr>
        <p:spPr>
          <a:xfrm>
            <a:off x="548640" y="868680"/>
            <a:ext cx="11064240" cy="822960"/>
          </a:xfrm>
          <a:prstGeom prst="rect">
            <a:avLst/>
          </a:prstGeom>
          <a:noFill/>
          <a:ln/>
        </p:spPr>
        <p:txBody>
          <a:bodyPr wrap="square" lIns="0" tIns="0" rIns="0" bIns="0" rtlCol="0" anchor="ctr"/>
          <a:lstStyle/>
          <a:p>
            <a:pPr indent="0" marL="0">
              <a:lnSpc>
                <a:spcPct val="100000"/>
              </a:lnSpc>
              <a:buNone/>
            </a:pPr>
            <a:r>
              <a:rPr lang="en-US" sz="2600" b="1" dirty="0">
                <a:solidFill>
                  <a:srgbClr val="4A3413"/>
                </a:solidFill>
                <a:latin typeface="Montserrat" pitchFamily="34" charset="0"/>
                <a:ea typeface="Montserrat" pitchFamily="34" charset="-122"/>
                <a:cs typeface="Montserrat" pitchFamily="34" charset="-120"/>
              </a:rPr>
              <a:t>Your AI waiter's full skill set.</a:t>
            </a:r>
            <a:endParaRPr lang="en-US" sz="2600" dirty="0"/>
          </a:p>
        </p:txBody>
      </p:sp>
      <p:sp>
        <p:nvSpPr>
          <p:cNvPr id="4" name="Shape 2"/>
          <p:cNvSpPr/>
          <p:nvPr/>
        </p:nvSpPr>
        <p:spPr>
          <a:xfrm>
            <a:off x="457200" y="2103120"/>
            <a:ext cx="2615184" cy="1920240"/>
          </a:xfrm>
          <a:prstGeom prst="roundRect">
            <a:avLst>
              <a:gd name="adj" fmla="val 4762"/>
            </a:avLst>
          </a:prstGeom>
          <a:solidFill>
            <a:srgbClr val="FFFFFF"/>
          </a:solidFill>
          <a:ln w="12700">
            <a:solidFill>
              <a:srgbClr val="E2D4B6"/>
            </a:solidFill>
            <a:prstDash val="solid"/>
          </a:ln>
          <a:effectLst>
            <a:outerShdw sx="100000" sy="100000" kx="0" ky="0" algn="bl" rotWithShape="0" blurRad="114300" dist="38100" dir="5400000">
              <a:srgbClr val="000000">
                <a:alpha val="16000"/>
              </a:srgbClr>
            </a:outerShdw>
          </a:effectLst>
        </p:spPr>
      </p:sp>
      <p:sp>
        <p:nvSpPr>
          <p:cNvPr id="5" name="Shape 3"/>
          <p:cNvSpPr/>
          <p:nvPr/>
        </p:nvSpPr>
        <p:spPr>
          <a:xfrm>
            <a:off x="713232" y="2340864"/>
            <a:ext cx="713232" cy="713232"/>
          </a:xfrm>
          <a:prstGeom prst="ellipse">
            <a:avLst/>
          </a:prstGeom>
          <a:solidFill>
            <a:srgbClr val="4A3413"/>
          </a:solidFill>
          <a:ln/>
        </p:spPr>
      </p:sp>
      <p:pic>
        <p:nvPicPr>
          <p:cNvPr id="6" name="Image 0" descr="assets/icons/utensils_white.png">    </p:cNvPr>
          <p:cNvPicPr>
            <a:picLocks noChangeAspect="1"/>
          </p:cNvPicPr>
          <p:nvPr/>
        </p:nvPicPr>
        <p:blipFill>
          <a:blip r:embed="rId2"/>
          <a:stretch>
            <a:fillRect/>
          </a:stretch>
        </p:blipFill>
        <p:spPr>
          <a:xfrm>
            <a:off x="891540" y="2519172"/>
            <a:ext cx="356616" cy="356616"/>
          </a:xfrm>
          <a:prstGeom prst="rect">
            <a:avLst/>
          </a:prstGeom>
        </p:spPr>
      </p:pic>
      <p:sp>
        <p:nvSpPr>
          <p:cNvPr id="7" name="Text 4"/>
          <p:cNvSpPr/>
          <p:nvPr/>
        </p:nvSpPr>
        <p:spPr>
          <a:xfrm>
            <a:off x="685800" y="3127248"/>
            <a:ext cx="2203704" cy="347472"/>
          </a:xfrm>
          <a:prstGeom prst="rect">
            <a:avLst/>
          </a:prstGeom>
          <a:noFill/>
          <a:ln/>
        </p:spPr>
        <p:txBody>
          <a:bodyPr wrap="square" lIns="0" tIns="0" rIns="0" bIns="0" rtlCol="0" anchor="ctr"/>
          <a:lstStyle/>
          <a:p>
            <a:pPr indent="0" marL="0">
              <a:buNone/>
            </a:pPr>
            <a:r>
              <a:rPr lang="en-US" sz="1400" b="1" dirty="0">
                <a:solidFill>
                  <a:srgbClr val="4A3413"/>
                </a:solidFill>
                <a:latin typeface="Montserrat" pitchFamily="34" charset="0"/>
                <a:ea typeface="Montserrat" pitchFamily="34" charset="-122"/>
                <a:cs typeface="Montserrat" pitchFamily="34" charset="-120"/>
              </a:rPr>
              <a:t>Smart recommendations</a:t>
            </a:r>
            <a:endParaRPr lang="en-US" sz="1400" dirty="0"/>
          </a:p>
        </p:txBody>
      </p:sp>
      <p:sp>
        <p:nvSpPr>
          <p:cNvPr id="8" name="Text 5"/>
          <p:cNvSpPr/>
          <p:nvPr/>
        </p:nvSpPr>
        <p:spPr>
          <a:xfrm>
            <a:off x="685800" y="3511296"/>
            <a:ext cx="2231136" cy="457200"/>
          </a:xfrm>
          <a:prstGeom prst="rect">
            <a:avLst/>
          </a:prstGeom>
          <a:noFill/>
          <a:ln/>
        </p:spPr>
        <p:txBody>
          <a:bodyPr wrap="square" lIns="0" tIns="0" rIns="0" bIns="0" rtlCol="0" anchor="ctr"/>
          <a:lstStyle/>
          <a:p>
            <a:pPr indent="0" marL="0">
              <a:lnSpc>
                <a:spcPct val="100000"/>
              </a:lnSpc>
              <a:buNone/>
            </a:pPr>
            <a:r>
              <a:rPr lang="en-US" sz="1050" dirty="0">
                <a:solidFill>
                  <a:srgbClr val="796A50"/>
                </a:solidFill>
                <a:latin typeface="Inter" pitchFamily="34" charset="0"/>
                <a:ea typeface="Inter" pitchFamily="34" charset="-122"/>
                <a:cs typeface="Inter" pitchFamily="34" charset="-120"/>
              </a:rPr>
              <a:t>Suggests dishes by taste, mood &amp; budget — like your best server.</a:t>
            </a:r>
            <a:endParaRPr lang="en-US" sz="1050" dirty="0"/>
          </a:p>
        </p:txBody>
      </p:sp>
      <p:sp>
        <p:nvSpPr>
          <p:cNvPr id="9" name="Shape 6"/>
          <p:cNvSpPr/>
          <p:nvPr/>
        </p:nvSpPr>
        <p:spPr>
          <a:xfrm>
            <a:off x="3355848" y="2103120"/>
            <a:ext cx="2615184" cy="1920240"/>
          </a:xfrm>
          <a:prstGeom prst="roundRect">
            <a:avLst>
              <a:gd name="adj" fmla="val 4762"/>
            </a:avLst>
          </a:prstGeom>
          <a:solidFill>
            <a:srgbClr val="FFFFFF"/>
          </a:solidFill>
          <a:ln w="12700">
            <a:solidFill>
              <a:srgbClr val="E2D4B6"/>
            </a:solidFill>
            <a:prstDash val="solid"/>
          </a:ln>
          <a:effectLst>
            <a:outerShdw sx="100000" sy="100000" kx="0" ky="0" algn="bl" rotWithShape="0" blurRad="114300" dist="38100" dir="5400000">
              <a:srgbClr val="000000">
                <a:alpha val="16000"/>
              </a:srgbClr>
            </a:outerShdw>
          </a:effectLst>
        </p:spPr>
      </p:sp>
      <p:sp>
        <p:nvSpPr>
          <p:cNvPr id="10" name="Shape 7"/>
          <p:cNvSpPr/>
          <p:nvPr/>
        </p:nvSpPr>
        <p:spPr>
          <a:xfrm>
            <a:off x="3611880" y="2340864"/>
            <a:ext cx="713232" cy="713232"/>
          </a:xfrm>
          <a:prstGeom prst="ellipse">
            <a:avLst/>
          </a:prstGeom>
          <a:solidFill>
            <a:srgbClr val="927327"/>
          </a:solidFill>
          <a:ln/>
        </p:spPr>
      </p:sp>
      <p:pic>
        <p:nvPicPr>
          <p:cNvPr id="11" name="Image 1" descr="assets/icons/comment_white.png">    </p:cNvPr>
          <p:cNvPicPr>
            <a:picLocks noChangeAspect="1"/>
          </p:cNvPicPr>
          <p:nvPr/>
        </p:nvPicPr>
        <p:blipFill>
          <a:blip r:embed="rId3"/>
          <a:stretch>
            <a:fillRect/>
          </a:stretch>
        </p:blipFill>
        <p:spPr>
          <a:xfrm>
            <a:off x="3790188" y="2519172"/>
            <a:ext cx="356616" cy="356616"/>
          </a:xfrm>
          <a:prstGeom prst="rect">
            <a:avLst/>
          </a:prstGeom>
        </p:spPr>
      </p:pic>
      <p:sp>
        <p:nvSpPr>
          <p:cNvPr id="12" name="Text 8"/>
          <p:cNvSpPr/>
          <p:nvPr/>
        </p:nvSpPr>
        <p:spPr>
          <a:xfrm>
            <a:off x="3584448" y="3127248"/>
            <a:ext cx="2203704" cy="347472"/>
          </a:xfrm>
          <a:prstGeom prst="rect">
            <a:avLst/>
          </a:prstGeom>
          <a:noFill/>
          <a:ln/>
        </p:spPr>
        <p:txBody>
          <a:bodyPr wrap="square" lIns="0" tIns="0" rIns="0" bIns="0" rtlCol="0" anchor="ctr"/>
          <a:lstStyle/>
          <a:p>
            <a:pPr indent="0" marL="0">
              <a:buNone/>
            </a:pPr>
            <a:r>
              <a:rPr lang="en-US" sz="1400" b="1" dirty="0">
                <a:solidFill>
                  <a:srgbClr val="4A3413"/>
                </a:solidFill>
                <a:latin typeface="Montserrat" pitchFamily="34" charset="0"/>
                <a:ea typeface="Montserrat" pitchFamily="34" charset="-122"/>
                <a:cs typeface="Montserrat" pitchFamily="34" charset="-120"/>
              </a:rPr>
              <a:t>Answers any question</a:t>
            </a:r>
            <a:endParaRPr lang="en-US" sz="1400" dirty="0"/>
          </a:p>
        </p:txBody>
      </p:sp>
      <p:sp>
        <p:nvSpPr>
          <p:cNvPr id="13" name="Text 9"/>
          <p:cNvSpPr/>
          <p:nvPr/>
        </p:nvSpPr>
        <p:spPr>
          <a:xfrm>
            <a:off x="3584448" y="3511296"/>
            <a:ext cx="2231136" cy="457200"/>
          </a:xfrm>
          <a:prstGeom prst="rect">
            <a:avLst/>
          </a:prstGeom>
          <a:noFill/>
          <a:ln/>
        </p:spPr>
        <p:txBody>
          <a:bodyPr wrap="square" lIns="0" tIns="0" rIns="0" bIns="0" rtlCol="0" anchor="ctr"/>
          <a:lstStyle/>
          <a:p>
            <a:pPr indent="0" marL="0">
              <a:lnSpc>
                <a:spcPct val="100000"/>
              </a:lnSpc>
              <a:buNone/>
            </a:pPr>
            <a:r>
              <a:rPr lang="en-US" sz="1050" dirty="0">
                <a:solidFill>
                  <a:srgbClr val="796A50"/>
                </a:solidFill>
                <a:latin typeface="Inter" pitchFamily="34" charset="0"/>
                <a:ea typeface="Inter" pitchFamily="34" charset="-122"/>
                <a:cs typeface="Inter" pitchFamily="34" charset="-120"/>
              </a:rPr>
              <a:t>Ingredients, spice, Jain / no onion-garlic — instantly.</a:t>
            </a:r>
            <a:endParaRPr lang="en-US" sz="1050" dirty="0"/>
          </a:p>
        </p:txBody>
      </p:sp>
      <p:sp>
        <p:nvSpPr>
          <p:cNvPr id="14" name="Shape 10"/>
          <p:cNvSpPr/>
          <p:nvPr/>
        </p:nvSpPr>
        <p:spPr>
          <a:xfrm>
            <a:off x="6254496" y="2103120"/>
            <a:ext cx="2615184" cy="1920240"/>
          </a:xfrm>
          <a:prstGeom prst="roundRect">
            <a:avLst>
              <a:gd name="adj" fmla="val 4762"/>
            </a:avLst>
          </a:prstGeom>
          <a:solidFill>
            <a:srgbClr val="FFFFFF"/>
          </a:solidFill>
          <a:ln w="12700">
            <a:solidFill>
              <a:srgbClr val="E2D4B6"/>
            </a:solidFill>
            <a:prstDash val="solid"/>
          </a:ln>
          <a:effectLst>
            <a:outerShdw sx="100000" sy="100000" kx="0" ky="0" algn="bl" rotWithShape="0" blurRad="114300" dist="38100" dir="5400000">
              <a:srgbClr val="000000">
                <a:alpha val="16000"/>
              </a:srgbClr>
            </a:outerShdw>
          </a:effectLst>
        </p:spPr>
      </p:sp>
      <p:sp>
        <p:nvSpPr>
          <p:cNvPr id="15" name="Shape 11"/>
          <p:cNvSpPr/>
          <p:nvPr/>
        </p:nvSpPr>
        <p:spPr>
          <a:xfrm>
            <a:off x="6510528" y="2340864"/>
            <a:ext cx="713232" cy="713232"/>
          </a:xfrm>
          <a:prstGeom prst="ellipse">
            <a:avLst/>
          </a:prstGeom>
          <a:solidFill>
            <a:srgbClr val="6E5320"/>
          </a:solidFill>
          <a:ln/>
        </p:spPr>
      </p:sp>
      <p:pic>
        <p:nvPicPr>
          <p:cNvPr id="16" name="Image 2" descr="assets/icons/bolt_white.png">    </p:cNvPr>
          <p:cNvPicPr>
            <a:picLocks noChangeAspect="1"/>
          </p:cNvPicPr>
          <p:nvPr/>
        </p:nvPicPr>
        <p:blipFill>
          <a:blip r:embed="rId4"/>
          <a:stretch>
            <a:fillRect/>
          </a:stretch>
        </p:blipFill>
        <p:spPr>
          <a:xfrm>
            <a:off x="6688836" y="2519172"/>
            <a:ext cx="356616" cy="356616"/>
          </a:xfrm>
          <a:prstGeom prst="rect">
            <a:avLst/>
          </a:prstGeom>
        </p:spPr>
      </p:pic>
      <p:sp>
        <p:nvSpPr>
          <p:cNvPr id="17" name="Text 12"/>
          <p:cNvSpPr/>
          <p:nvPr/>
        </p:nvSpPr>
        <p:spPr>
          <a:xfrm>
            <a:off x="6483096" y="3127248"/>
            <a:ext cx="2203704" cy="347472"/>
          </a:xfrm>
          <a:prstGeom prst="rect">
            <a:avLst/>
          </a:prstGeom>
          <a:noFill/>
          <a:ln/>
        </p:spPr>
        <p:txBody>
          <a:bodyPr wrap="square" lIns="0" tIns="0" rIns="0" bIns="0" rtlCol="0" anchor="ctr"/>
          <a:lstStyle/>
          <a:p>
            <a:pPr indent="0" marL="0">
              <a:buNone/>
            </a:pPr>
            <a:r>
              <a:rPr lang="en-US" sz="1400" b="1" dirty="0">
                <a:solidFill>
                  <a:srgbClr val="4A3413"/>
                </a:solidFill>
                <a:latin typeface="Montserrat" pitchFamily="34" charset="0"/>
                <a:ea typeface="Montserrat" pitchFamily="34" charset="-122"/>
                <a:cs typeface="Montserrat" pitchFamily="34" charset="-120"/>
              </a:rPr>
              <a:t>Live availability</a:t>
            </a:r>
            <a:endParaRPr lang="en-US" sz="1400" dirty="0"/>
          </a:p>
        </p:txBody>
      </p:sp>
      <p:sp>
        <p:nvSpPr>
          <p:cNvPr id="18" name="Text 13"/>
          <p:cNvSpPr/>
          <p:nvPr/>
        </p:nvSpPr>
        <p:spPr>
          <a:xfrm>
            <a:off x="6483096" y="3511296"/>
            <a:ext cx="2231136" cy="457200"/>
          </a:xfrm>
          <a:prstGeom prst="rect">
            <a:avLst/>
          </a:prstGeom>
          <a:noFill/>
          <a:ln/>
        </p:spPr>
        <p:txBody>
          <a:bodyPr wrap="square" lIns="0" tIns="0" rIns="0" bIns="0" rtlCol="0" anchor="ctr"/>
          <a:lstStyle/>
          <a:p>
            <a:pPr indent="0" marL="0">
              <a:lnSpc>
                <a:spcPct val="100000"/>
              </a:lnSpc>
              <a:buNone/>
            </a:pPr>
            <a:r>
              <a:rPr lang="en-US" sz="1050" dirty="0">
                <a:solidFill>
                  <a:srgbClr val="796A50"/>
                </a:solidFill>
                <a:latin typeface="Inter" pitchFamily="34" charset="0"/>
                <a:ea typeface="Inter" pitchFamily="34" charset="-122"/>
                <a:cs typeface="Inter" pitchFamily="34" charset="-120"/>
              </a:rPr>
              <a:t>Never recommends a dish that's sold out.</a:t>
            </a:r>
            <a:endParaRPr lang="en-US" sz="1050" dirty="0"/>
          </a:p>
        </p:txBody>
      </p:sp>
      <p:sp>
        <p:nvSpPr>
          <p:cNvPr id="19" name="Shape 14"/>
          <p:cNvSpPr/>
          <p:nvPr/>
        </p:nvSpPr>
        <p:spPr>
          <a:xfrm>
            <a:off x="9153144" y="2103120"/>
            <a:ext cx="2615184" cy="1920240"/>
          </a:xfrm>
          <a:prstGeom prst="roundRect">
            <a:avLst>
              <a:gd name="adj" fmla="val 4762"/>
            </a:avLst>
          </a:prstGeom>
          <a:solidFill>
            <a:srgbClr val="FFFFFF"/>
          </a:solidFill>
          <a:ln w="12700">
            <a:solidFill>
              <a:srgbClr val="E2D4B6"/>
            </a:solidFill>
            <a:prstDash val="solid"/>
          </a:ln>
          <a:effectLst>
            <a:outerShdw sx="100000" sy="100000" kx="0" ky="0" algn="bl" rotWithShape="0" blurRad="114300" dist="38100" dir="5400000">
              <a:srgbClr val="000000">
                <a:alpha val="16000"/>
              </a:srgbClr>
            </a:outerShdw>
          </a:effectLst>
        </p:spPr>
      </p:sp>
      <p:sp>
        <p:nvSpPr>
          <p:cNvPr id="20" name="Shape 15"/>
          <p:cNvSpPr/>
          <p:nvPr/>
        </p:nvSpPr>
        <p:spPr>
          <a:xfrm>
            <a:off x="9409176" y="2340864"/>
            <a:ext cx="713232" cy="713232"/>
          </a:xfrm>
          <a:prstGeom prst="ellipse">
            <a:avLst/>
          </a:prstGeom>
          <a:solidFill>
            <a:srgbClr val="D9A93C"/>
          </a:solidFill>
          <a:ln/>
        </p:spPr>
      </p:sp>
      <p:pic>
        <p:nvPicPr>
          <p:cNvPr id="21" name="Image 3" descr="assets/icons/calendar_brown.png">    </p:cNvPr>
          <p:cNvPicPr>
            <a:picLocks noChangeAspect="1"/>
          </p:cNvPicPr>
          <p:nvPr/>
        </p:nvPicPr>
        <p:blipFill>
          <a:blip r:embed="rId5"/>
          <a:stretch>
            <a:fillRect/>
          </a:stretch>
        </p:blipFill>
        <p:spPr>
          <a:xfrm>
            <a:off x="9587484" y="2519172"/>
            <a:ext cx="356616" cy="356616"/>
          </a:xfrm>
          <a:prstGeom prst="rect">
            <a:avLst/>
          </a:prstGeom>
        </p:spPr>
      </p:pic>
      <p:sp>
        <p:nvSpPr>
          <p:cNvPr id="22" name="Text 16"/>
          <p:cNvSpPr/>
          <p:nvPr/>
        </p:nvSpPr>
        <p:spPr>
          <a:xfrm>
            <a:off x="9381744" y="3127248"/>
            <a:ext cx="2203704" cy="347472"/>
          </a:xfrm>
          <a:prstGeom prst="rect">
            <a:avLst/>
          </a:prstGeom>
          <a:noFill/>
          <a:ln/>
        </p:spPr>
        <p:txBody>
          <a:bodyPr wrap="square" lIns="0" tIns="0" rIns="0" bIns="0" rtlCol="0" anchor="ctr"/>
          <a:lstStyle/>
          <a:p>
            <a:pPr indent="0" marL="0">
              <a:buNone/>
            </a:pPr>
            <a:r>
              <a:rPr lang="en-US" sz="1400" b="1" dirty="0">
                <a:solidFill>
                  <a:srgbClr val="4A3413"/>
                </a:solidFill>
                <a:latin typeface="Montserrat" pitchFamily="34" charset="0"/>
                <a:ea typeface="Montserrat" pitchFamily="34" charset="-122"/>
                <a:cs typeface="Montserrat" pitchFamily="34" charset="-120"/>
              </a:rPr>
              <a:t>Banquet enquiries</a:t>
            </a:r>
            <a:endParaRPr lang="en-US" sz="1400" dirty="0"/>
          </a:p>
        </p:txBody>
      </p:sp>
      <p:sp>
        <p:nvSpPr>
          <p:cNvPr id="23" name="Text 17"/>
          <p:cNvSpPr/>
          <p:nvPr/>
        </p:nvSpPr>
        <p:spPr>
          <a:xfrm>
            <a:off x="9381744" y="3511296"/>
            <a:ext cx="2231136" cy="457200"/>
          </a:xfrm>
          <a:prstGeom prst="rect">
            <a:avLst/>
          </a:prstGeom>
          <a:noFill/>
          <a:ln/>
        </p:spPr>
        <p:txBody>
          <a:bodyPr wrap="square" lIns="0" tIns="0" rIns="0" bIns="0" rtlCol="0" anchor="ctr"/>
          <a:lstStyle/>
          <a:p>
            <a:pPr indent="0" marL="0">
              <a:lnSpc>
                <a:spcPct val="100000"/>
              </a:lnSpc>
              <a:buNone/>
            </a:pPr>
            <a:r>
              <a:rPr lang="en-US" sz="1050" dirty="0">
                <a:solidFill>
                  <a:srgbClr val="796A50"/>
                </a:solidFill>
                <a:latin typeface="Inter" pitchFamily="34" charset="0"/>
                <a:ea typeface="Inter" pitchFamily="34" charset="-122"/>
                <a:cs typeface="Inter" pitchFamily="34" charset="-120"/>
              </a:rPr>
              <a:t>Answers hall questions &amp; captures booking leads, 24/7.</a:t>
            </a:r>
            <a:endParaRPr lang="en-US" sz="1050" dirty="0"/>
          </a:p>
        </p:txBody>
      </p:sp>
      <p:sp>
        <p:nvSpPr>
          <p:cNvPr id="24" name="Shape 18"/>
          <p:cNvSpPr/>
          <p:nvPr/>
        </p:nvSpPr>
        <p:spPr>
          <a:xfrm>
            <a:off x="457200" y="4160520"/>
            <a:ext cx="2615184" cy="1920240"/>
          </a:xfrm>
          <a:prstGeom prst="roundRect">
            <a:avLst>
              <a:gd name="adj" fmla="val 4762"/>
            </a:avLst>
          </a:prstGeom>
          <a:solidFill>
            <a:srgbClr val="FFFFFF"/>
          </a:solidFill>
          <a:ln w="12700">
            <a:solidFill>
              <a:srgbClr val="E2D4B6"/>
            </a:solidFill>
            <a:prstDash val="solid"/>
          </a:ln>
          <a:effectLst>
            <a:outerShdw sx="100000" sy="100000" kx="0" ky="0" algn="bl" rotWithShape="0" blurRad="114300" dist="38100" dir="5400000">
              <a:srgbClr val="000000">
                <a:alpha val="16000"/>
              </a:srgbClr>
            </a:outerShdw>
          </a:effectLst>
        </p:spPr>
      </p:sp>
      <p:sp>
        <p:nvSpPr>
          <p:cNvPr id="25" name="Shape 19"/>
          <p:cNvSpPr/>
          <p:nvPr/>
        </p:nvSpPr>
        <p:spPr>
          <a:xfrm>
            <a:off x="713232" y="4398264"/>
            <a:ext cx="713232" cy="713232"/>
          </a:xfrm>
          <a:prstGeom prst="ellipse">
            <a:avLst/>
          </a:prstGeom>
          <a:solidFill>
            <a:srgbClr val="4A3413"/>
          </a:solidFill>
          <a:ln/>
        </p:spPr>
      </p:sp>
      <p:pic>
        <p:nvPicPr>
          <p:cNvPr id="26" name="Image 4" descr="assets/icons/info_white.png">    </p:cNvPr>
          <p:cNvPicPr>
            <a:picLocks noChangeAspect="1"/>
          </p:cNvPicPr>
          <p:nvPr/>
        </p:nvPicPr>
        <p:blipFill>
          <a:blip r:embed="rId6"/>
          <a:stretch>
            <a:fillRect/>
          </a:stretch>
        </p:blipFill>
        <p:spPr>
          <a:xfrm>
            <a:off x="891540" y="4576572"/>
            <a:ext cx="356616" cy="356616"/>
          </a:xfrm>
          <a:prstGeom prst="rect">
            <a:avLst/>
          </a:prstGeom>
        </p:spPr>
      </p:pic>
      <p:sp>
        <p:nvSpPr>
          <p:cNvPr id="27" name="Text 20"/>
          <p:cNvSpPr/>
          <p:nvPr/>
        </p:nvSpPr>
        <p:spPr>
          <a:xfrm>
            <a:off x="685800" y="5184648"/>
            <a:ext cx="2203704" cy="347472"/>
          </a:xfrm>
          <a:prstGeom prst="rect">
            <a:avLst/>
          </a:prstGeom>
          <a:noFill/>
          <a:ln/>
        </p:spPr>
        <p:txBody>
          <a:bodyPr wrap="square" lIns="0" tIns="0" rIns="0" bIns="0" rtlCol="0" anchor="ctr"/>
          <a:lstStyle/>
          <a:p>
            <a:pPr indent="0" marL="0">
              <a:buNone/>
            </a:pPr>
            <a:r>
              <a:rPr lang="en-US" sz="1400" b="1" dirty="0">
                <a:solidFill>
                  <a:srgbClr val="4A3413"/>
                </a:solidFill>
                <a:latin typeface="Montserrat" pitchFamily="34" charset="0"/>
                <a:ea typeface="Montserrat" pitchFamily="34" charset="-122"/>
                <a:cs typeface="Montserrat" pitchFamily="34" charset="-120"/>
              </a:rPr>
              <a:t>Restaurant info</a:t>
            </a:r>
            <a:endParaRPr lang="en-US" sz="1400" dirty="0"/>
          </a:p>
        </p:txBody>
      </p:sp>
      <p:sp>
        <p:nvSpPr>
          <p:cNvPr id="28" name="Text 21"/>
          <p:cNvSpPr/>
          <p:nvPr/>
        </p:nvSpPr>
        <p:spPr>
          <a:xfrm>
            <a:off x="685800" y="5568696"/>
            <a:ext cx="2231136" cy="457200"/>
          </a:xfrm>
          <a:prstGeom prst="rect">
            <a:avLst/>
          </a:prstGeom>
          <a:noFill/>
          <a:ln/>
        </p:spPr>
        <p:txBody>
          <a:bodyPr wrap="square" lIns="0" tIns="0" rIns="0" bIns="0" rtlCol="0" anchor="ctr"/>
          <a:lstStyle/>
          <a:p>
            <a:pPr indent="0" marL="0">
              <a:lnSpc>
                <a:spcPct val="100000"/>
              </a:lnSpc>
              <a:buNone/>
            </a:pPr>
            <a:r>
              <a:rPr lang="en-US" sz="1050" dirty="0">
                <a:solidFill>
                  <a:srgbClr val="796A50"/>
                </a:solidFill>
                <a:latin typeface="Inter" pitchFamily="34" charset="0"/>
                <a:ea typeface="Inter" pitchFamily="34" charset="-122"/>
                <a:cs typeface="Inter" pitchFamily="34" charset="-120"/>
              </a:rPr>
              <a:t>Timings, location, parking, seating — all covered.</a:t>
            </a:r>
            <a:endParaRPr lang="en-US" sz="1050" dirty="0"/>
          </a:p>
        </p:txBody>
      </p:sp>
      <p:sp>
        <p:nvSpPr>
          <p:cNvPr id="29" name="Shape 22"/>
          <p:cNvSpPr/>
          <p:nvPr/>
        </p:nvSpPr>
        <p:spPr>
          <a:xfrm>
            <a:off x="3355848" y="4160520"/>
            <a:ext cx="2615184" cy="1920240"/>
          </a:xfrm>
          <a:prstGeom prst="roundRect">
            <a:avLst>
              <a:gd name="adj" fmla="val 4762"/>
            </a:avLst>
          </a:prstGeom>
          <a:solidFill>
            <a:srgbClr val="FFFFFF"/>
          </a:solidFill>
          <a:ln w="12700">
            <a:solidFill>
              <a:srgbClr val="E2D4B6"/>
            </a:solidFill>
            <a:prstDash val="solid"/>
          </a:ln>
          <a:effectLst>
            <a:outerShdw sx="100000" sy="100000" kx="0" ky="0" algn="bl" rotWithShape="0" blurRad="114300" dist="38100" dir="5400000">
              <a:srgbClr val="000000">
                <a:alpha val="16000"/>
              </a:srgbClr>
            </a:outerShdw>
          </a:effectLst>
        </p:spPr>
      </p:sp>
      <p:sp>
        <p:nvSpPr>
          <p:cNvPr id="30" name="Shape 23"/>
          <p:cNvSpPr/>
          <p:nvPr/>
        </p:nvSpPr>
        <p:spPr>
          <a:xfrm>
            <a:off x="3611880" y="4398264"/>
            <a:ext cx="713232" cy="713232"/>
          </a:xfrm>
          <a:prstGeom prst="ellipse">
            <a:avLst/>
          </a:prstGeom>
          <a:solidFill>
            <a:srgbClr val="927327"/>
          </a:solidFill>
          <a:ln/>
        </p:spPr>
      </p:sp>
      <p:pic>
        <p:nvPicPr>
          <p:cNvPr id="31" name="Image 5" descr="assets/icons/language_white.png">    </p:cNvPr>
          <p:cNvPicPr>
            <a:picLocks noChangeAspect="1"/>
          </p:cNvPicPr>
          <p:nvPr/>
        </p:nvPicPr>
        <p:blipFill>
          <a:blip r:embed="rId7"/>
          <a:stretch>
            <a:fillRect/>
          </a:stretch>
        </p:blipFill>
        <p:spPr>
          <a:xfrm>
            <a:off x="3790188" y="4576572"/>
            <a:ext cx="356616" cy="356616"/>
          </a:xfrm>
          <a:prstGeom prst="rect">
            <a:avLst/>
          </a:prstGeom>
        </p:spPr>
      </p:pic>
      <p:sp>
        <p:nvSpPr>
          <p:cNvPr id="32" name="Text 24"/>
          <p:cNvSpPr/>
          <p:nvPr/>
        </p:nvSpPr>
        <p:spPr>
          <a:xfrm>
            <a:off x="3584448" y="5184648"/>
            <a:ext cx="2203704" cy="347472"/>
          </a:xfrm>
          <a:prstGeom prst="rect">
            <a:avLst/>
          </a:prstGeom>
          <a:noFill/>
          <a:ln/>
        </p:spPr>
        <p:txBody>
          <a:bodyPr wrap="square" lIns="0" tIns="0" rIns="0" bIns="0" rtlCol="0" anchor="ctr"/>
          <a:lstStyle/>
          <a:p>
            <a:pPr indent="0" marL="0">
              <a:buNone/>
            </a:pPr>
            <a:r>
              <a:rPr lang="en-US" sz="1400" b="1" dirty="0">
                <a:solidFill>
                  <a:srgbClr val="4A3413"/>
                </a:solidFill>
                <a:latin typeface="Montserrat" pitchFamily="34" charset="0"/>
                <a:ea typeface="Montserrat" pitchFamily="34" charset="-122"/>
                <a:cs typeface="Montserrat" pitchFamily="34" charset="-120"/>
              </a:rPr>
              <a:t>Up to 6 languages</a:t>
            </a:r>
            <a:endParaRPr lang="en-US" sz="1400" dirty="0"/>
          </a:p>
        </p:txBody>
      </p:sp>
      <p:sp>
        <p:nvSpPr>
          <p:cNvPr id="33" name="Text 25"/>
          <p:cNvSpPr/>
          <p:nvPr/>
        </p:nvSpPr>
        <p:spPr>
          <a:xfrm>
            <a:off x="3584448" y="5568696"/>
            <a:ext cx="2231136" cy="457200"/>
          </a:xfrm>
          <a:prstGeom prst="rect">
            <a:avLst/>
          </a:prstGeom>
          <a:noFill/>
          <a:ln/>
        </p:spPr>
        <p:txBody>
          <a:bodyPr wrap="square" lIns="0" tIns="0" rIns="0" bIns="0" rtlCol="0" anchor="ctr"/>
          <a:lstStyle/>
          <a:p>
            <a:pPr indent="0" marL="0">
              <a:lnSpc>
                <a:spcPct val="100000"/>
              </a:lnSpc>
              <a:buNone/>
            </a:pPr>
            <a:r>
              <a:rPr lang="en-US" sz="1050" dirty="0">
                <a:solidFill>
                  <a:srgbClr val="796A50"/>
                </a:solidFill>
                <a:latin typeface="Inter" pitchFamily="34" charset="0"/>
                <a:ea typeface="Inter" pitchFamily="34" charset="-122"/>
                <a:cs typeface="Inter" pitchFamily="34" charset="-120"/>
              </a:rPr>
              <a:t>Tamil &amp; English now; Hindi, Malayalam, Telugu, Kannada ready.</a:t>
            </a:r>
            <a:endParaRPr lang="en-US" sz="1050" dirty="0"/>
          </a:p>
        </p:txBody>
      </p:sp>
      <p:sp>
        <p:nvSpPr>
          <p:cNvPr id="34" name="Shape 26"/>
          <p:cNvSpPr/>
          <p:nvPr/>
        </p:nvSpPr>
        <p:spPr>
          <a:xfrm>
            <a:off x="6254496" y="4160520"/>
            <a:ext cx="2615184" cy="1920240"/>
          </a:xfrm>
          <a:prstGeom prst="roundRect">
            <a:avLst>
              <a:gd name="adj" fmla="val 4762"/>
            </a:avLst>
          </a:prstGeom>
          <a:solidFill>
            <a:srgbClr val="FFFFFF"/>
          </a:solidFill>
          <a:ln w="12700">
            <a:solidFill>
              <a:srgbClr val="E2D4B6"/>
            </a:solidFill>
            <a:prstDash val="solid"/>
          </a:ln>
          <a:effectLst>
            <a:outerShdw sx="100000" sy="100000" kx="0" ky="0" algn="bl" rotWithShape="0" blurRad="114300" dist="38100" dir="5400000">
              <a:srgbClr val="000000">
                <a:alpha val="16000"/>
              </a:srgbClr>
            </a:outerShdw>
          </a:effectLst>
        </p:spPr>
      </p:sp>
      <p:sp>
        <p:nvSpPr>
          <p:cNvPr id="35" name="Shape 27"/>
          <p:cNvSpPr/>
          <p:nvPr/>
        </p:nvSpPr>
        <p:spPr>
          <a:xfrm>
            <a:off x="6510528" y="4398264"/>
            <a:ext cx="713232" cy="713232"/>
          </a:xfrm>
          <a:prstGeom prst="ellipse">
            <a:avLst/>
          </a:prstGeom>
          <a:solidFill>
            <a:srgbClr val="6E5320"/>
          </a:solidFill>
          <a:ln/>
        </p:spPr>
      </p:sp>
      <p:pic>
        <p:nvPicPr>
          <p:cNvPr id="36" name="Image 6" descr="assets/icons/star_white.png">    </p:cNvPr>
          <p:cNvPicPr>
            <a:picLocks noChangeAspect="1"/>
          </p:cNvPicPr>
          <p:nvPr/>
        </p:nvPicPr>
        <p:blipFill>
          <a:blip r:embed="rId8"/>
          <a:stretch>
            <a:fillRect/>
          </a:stretch>
        </p:blipFill>
        <p:spPr>
          <a:xfrm>
            <a:off x="6688836" y="4576572"/>
            <a:ext cx="356616" cy="356616"/>
          </a:xfrm>
          <a:prstGeom prst="rect">
            <a:avLst/>
          </a:prstGeom>
        </p:spPr>
      </p:pic>
      <p:sp>
        <p:nvSpPr>
          <p:cNvPr id="37" name="Text 28"/>
          <p:cNvSpPr/>
          <p:nvPr/>
        </p:nvSpPr>
        <p:spPr>
          <a:xfrm>
            <a:off x="6483096" y="5184648"/>
            <a:ext cx="2203704" cy="347472"/>
          </a:xfrm>
          <a:prstGeom prst="rect">
            <a:avLst/>
          </a:prstGeom>
          <a:noFill/>
          <a:ln/>
        </p:spPr>
        <p:txBody>
          <a:bodyPr wrap="square" lIns="0" tIns="0" rIns="0" bIns="0" rtlCol="0" anchor="ctr"/>
          <a:lstStyle/>
          <a:p>
            <a:pPr indent="0" marL="0">
              <a:buNone/>
            </a:pPr>
            <a:r>
              <a:rPr lang="en-US" sz="1400" b="1" dirty="0">
                <a:solidFill>
                  <a:srgbClr val="4A3413"/>
                </a:solidFill>
                <a:latin typeface="Montserrat" pitchFamily="34" charset="0"/>
                <a:ea typeface="Montserrat" pitchFamily="34" charset="-122"/>
                <a:cs typeface="Montserrat" pitchFamily="34" charset="-120"/>
              </a:rPr>
              <a:t>Customer feedback</a:t>
            </a:r>
            <a:endParaRPr lang="en-US" sz="1400" dirty="0"/>
          </a:p>
        </p:txBody>
      </p:sp>
      <p:sp>
        <p:nvSpPr>
          <p:cNvPr id="38" name="Text 29"/>
          <p:cNvSpPr/>
          <p:nvPr/>
        </p:nvSpPr>
        <p:spPr>
          <a:xfrm>
            <a:off x="6483096" y="5568696"/>
            <a:ext cx="2231136" cy="457200"/>
          </a:xfrm>
          <a:prstGeom prst="rect">
            <a:avLst/>
          </a:prstGeom>
          <a:noFill/>
          <a:ln/>
        </p:spPr>
        <p:txBody>
          <a:bodyPr wrap="square" lIns="0" tIns="0" rIns="0" bIns="0" rtlCol="0" anchor="ctr"/>
          <a:lstStyle/>
          <a:p>
            <a:pPr indent="0" marL="0">
              <a:lnSpc>
                <a:spcPct val="100000"/>
              </a:lnSpc>
              <a:buNone/>
            </a:pPr>
            <a:r>
              <a:rPr lang="en-US" sz="1050" dirty="0">
                <a:solidFill>
                  <a:srgbClr val="796A50"/>
                </a:solidFill>
                <a:latin typeface="Inter" pitchFamily="34" charset="0"/>
                <a:ea typeface="Inter" pitchFamily="34" charset="-122"/>
                <a:cs typeface="Inter" pitchFamily="34" charset="-120"/>
              </a:rPr>
              <a:t>Collects feedback and flags problems to your manager fast.</a:t>
            </a:r>
            <a:endParaRPr lang="en-US" sz="1050" dirty="0"/>
          </a:p>
        </p:txBody>
      </p:sp>
      <p:sp>
        <p:nvSpPr>
          <p:cNvPr id="39" name="Shape 30"/>
          <p:cNvSpPr/>
          <p:nvPr/>
        </p:nvSpPr>
        <p:spPr>
          <a:xfrm>
            <a:off x="9153144" y="4160520"/>
            <a:ext cx="2615184" cy="1920240"/>
          </a:xfrm>
          <a:prstGeom prst="roundRect">
            <a:avLst>
              <a:gd name="adj" fmla="val 4762"/>
            </a:avLst>
          </a:prstGeom>
          <a:solidFill>
            <a:srgbClr val="FFFFFF"/>
          </a:solidFill>
          <a:ln w="12700">
            <a:solidFill>
              <a:srgbClr val="E2D4B6"/>
            </a:solidFill>
            <a:prstDash val="solid"/>
          </a:ln>
          <a:effectLst>
            <a:outerShdw sx="100000" sy="100000" kx="0" ky="0" algn="bl" rotWithShape="0" blurRad="114300" dist="38100" dir="5400000">
              <a:srgbClr val="000000">
                <a:alpha val="16000"/>
              </a:srgbClr>
            </a:outerShdw>
          </a:effectLst>
        </p:spPr>
      </p:sp>
      <p:sp>
        <p:nvSpPr>
          <p:cNvPr id="40" name="Shape 31"/>
          <p:cNvSpPr/>
          <p:nvPr/>
        </p:nvSpPr>
        <p:spPr>
          <a:xfrm>
            <a:off x="9409176" y="4398264"/>
            <a:ext cx="713232" cy="713232"/>
          </a:xfrm>
          <a:prstGeom prst="ellipse">
            <a:avLst/>
          </a:prstGeom>
          <a:solidFill>
            <a:srgbClr val="D9A93C"/>
          </a:solidFill>
          <a:ln/>
        </p:spPr>
      </p:sp>
      <p:pic>
        <p:nvPicPr>
          <p:cNvPr id="41" name="Image 7" descr="assets/icons/images_brown.png">    </p:cNvPr>
          <p:cNvPicPr>
            <a:picLocks noChangeAspect="1"/>
          </p:cNvPicPr>
          <p:nvPr/>
        </p:nvPicPr>
        <p:blipFill>
          <a:blip r:embed="rId9"/>
          <a:stretch>
            <a:fillRect/>
          </a:stretch>
        </p:blipFill>
        <p:spPr>
          <a:xfrm>
            <a:off x="9587484" y="4576572"/>
            <a:ext cx="356616" cy="356616"/>
          </a:xfrm>
          <a:prstGeom prst="rect">
            <a:avLst/>
          </a:prstGeom>
        </p:spPr>
      </p:pic>
      <p:sp>
        <p:nvSpPr>
          <p:cNvPr id="42" name="Text 32"/>
          <p:cNvSpPr/>
          <p:nvPr/>
        </p:nvSpPr>
        <p:spPr>
          <a:xfrm>
            <a:off x="9381744" y="5184648"/>
            <a:ext cx="2203704" cy="347472"/>
          </a:xfrm>
          <a:prstGeom prst="rect">
            <a:avLst/>
          </a:prstGeom>
          <a:noFill/>
          <a:ln/>
        </p:spPr>
        <p:txBody>
          <a:bodyPr wrap="square" lIns="0" tIns="0" rIns="0" bIns="0" rtlCol="0" anchor="ctr"/>
          <a:lstStyle/>
          <a:p>
            <a:pPr indent="0" marL="0">
              <a:buNone/>
            </a:pPr>
            <a:r>
              <a:rPr lang="en-US" sz="1400" b="1" dirty="0">
                <a:solidFill>
                  <a:srgbClr val="4A3413"/>
                </a:solidFill>
                <a:latin typeface="Montserrat" pitchFamily="34" charset="0"/>
                <a:ea typeface="Montserrat" pitchFamily="34" charset="-122"/>
                <a:cs typeface="Montserrat" pitchFamily="34" charset="-120"/>
              </a:rPr>
              <a:t>Dish photos</a:t>
            </a:r>
            <a:endParaRPr lang="en-US" sz="1400" dirty="0"/>
          </a:p>
        </p:txBody>
      </p:sp>
      <p:sp>
        <p:nvSpPr>
          <p:cNvPr id="43" name="Text 33"/>
          <p:cNvSpPr/>
          <p:nvPr/>
        </p:nvSpPr>
        <p:spPr>
          <a:xfrm>
            <a:off x="9381744" y="5568696"/>
            <a:ext cx="2231136" cy="457200"/>
          </a:xfrm>
          <a:prstGeom prst="rect">
            <a:avLst/>
          </a:prstGeom>
          <a:noFill/>
          <a:ln/>
        </p:spPr>
        <p:txBody>
          <a:bodyPr wrap="square" lIns="0" tIns="0" rIns="0" bIns="0" rtlCol="0" anchor="ctr"/>
          <a:lstStyle/>
          <a:p>
            <a:pPr indent="0" marL="0">
              <a:lnSpc>
                <a:spcPct val="100000"/>
              </a:lnSpc>
              <a:buNone/>
            </a:pPr>
            <a:r>
              <a:rPr lang="en-US" sz="1050" dirty="0">
                <a:solidFill>
                  <a:srgbClr val="796A50"/>
                </a:solidFill>
                <a:latin typeface="Inter" pitchFamily="34" charset="0"/>
                <a:ea typeface="Inter" pitchFamily="34" charset="-122"/>
                <a:cs typeface="Inter" pitchFamily="34" charset="-120"/>
              </a:rPr>
              <a:t>Shows tempting photos so guests order with their eyes.</a:t>
            </a:r>
            <a:endParaRPr lang="en-US" sz="1050" dirty="0"/>
          </a:p>
        </p:txBody>
      </p:sp>
      <p:pic>
        <p:nvPicPr>
          <p:cNvPr id="44" name="Image 8" descr="assets/odysra_logo.png">    </p:cNvPr>
          <p:cNvPicPr>
            <a:picLocks noChangeAspect="1"/>
          </p:cNvPicPr>
          <p:nvPr/>
        </p:nvPicPr>
        <p:blipFill>
          <a:blip r:embed="rId10"/>
          <a:stretch>
            <a:fillRect/>
          </a:stretch>
        </p:blipFill>
        <p:spPr>
          <a:xfrm>
            <a:off x="11521440" y="6236208"/>
            <a:ext cx="475488" cy="4754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250" b="1" spc="300" kern="0" dirty="0">
                <a:solidFill>
                  <a:srgbClr val="927327"/>
                </a:solidFill>
                <a:latin typeface="Inter" pitchFamily="34" charset="0"/>
                <a:ea typeface="Inter" pitchFamily="34" charset="-122"/>
                <a:cs typeface="Inter" pitchFamily="34" charset="-120"/>
              </a:rPr>
              <a:t>MORE THAN A CHATBOT</a:t>
            </a:r>
            <a:endParaRPr lang="en-US" sz="1250" dirty="0"/>
          </a:p>
        </p:txBody>
      </p:sp>
      <p:sp>
        <p:nvSpPr>
          <p:cNvPr id="3" name="Text 1"/>
          <p:cNvSpPr/>
          <p:nvPr/>
        </p:nvSpPr>
        <p:spPr>
          <a:xfrm>
            <a:off x="548640" y="868680"/>
            <a:ext cx="11064240" cy="822960"/>
          </a:xfrm>
          <a:prstGeom prst="rect">
            <a:avLst/>
          </a:prstGeom>
          <a:noFill/>
          <a:ln/>
        </p:spPr>
        <p:txBody>
          <a:bodyPr wrap="square" lIns="0" tIns="0" rIns="0" bIns="0" rtlCol="0" anchor="ctr"/>
          <a:lstStyle/>
          <a:p>
            <a:pPr indent="0" marL="0">
              <a:lnSpc>
                <a:spcPct val="100000"/>
              </a:lnSpc>
              <a:buNone/>
            </a:pPr>
            <a:r>
              <a:rPr lang="en-US" sz="2600" b="1" dirty="0">
                <a:solidFill>
                  <a:srgbClr val="4A3413"/>
                </a:solidFill>
                <a:latin typeface="Montserrat" pitchFamily="34" charset="0"/>
                <a:ea typeface="Montserrat" pitchFamily="34" charset="-122"/>
                <a:cs typeface="Montserrat" pitchFamily="34" charset="-120"/>
              </a:rPr>
              <a:t>One assistant. The power of two systems.</a:t>
            </a:r>
            <a:endParaRPr lang="en-US" sz="2600" dirty="0"/>
          </a:p>
        </p:txBody>
      </p:sp>
      <p:sp>
        <p:nvSpPr>
          <p:cNvPr id="4" name="Shape 2"/>
          <p:cNvSpPr/>
          <p:nvPr/>
        </p:nvSpPr>
        <p:spPr>
          <a:xfrm>
            <a:off x="548640" y="2103120"/>
            <a:ext cx="5225796" cy="2880360"/>
          </a:xfrm>
          <a:prstGeom prst="roundRect">
            <a:avLst>
              <a:gd name="adj" fmla="val 3810"/>
            </a:avLst>
          </a:prstGeom>
          <a:solidFill>
            <a:srgbClr val="FFFFFF"/>
          </a:solidFill>
          <a:ln w="12700">
            <a:solidFill>
              <a:srgbClr val="E2D4B6"/>
            </a:solidFill>
            <a:prstDash val="solid"/>
          </a:ln>
          <a:effectLst>
            <a:outerShdw sx="100000" sy="100000" kx="0" ky="0" algn="bl" rotWithShape="0" blurRad="114300" dist="38100" dir="5400000">
              <a:srgbClr val="000000">
                <a:alpha val="16000"/>
              </a:srgbClr>
            </a:outerShdw>
          </a:effectLst>
        </p:spPr>
      </p:sp>
      <p:sp>
        <p:nvSpPr>
          <p:cNvPr id="5" name="Shape 3"/>
          <p:cNvSpPr/>
          <p:nvPr/>
        </p:nvSpPr>
        <p:spPr>
          <a:xfrm>
            <a:off x="868680" y="2450592"/>
            <a:ext cx="868680" cy="868680"/>
          </a:xfrm>
          <a:prstGeom prst="ellipse">
            <a:avLst/>
          </a:prstGeom>
          <a:solidFill>
            <a:srgbClr val="D9A93C"/>
          </a:solidFill>
          <a:ln/>
        </p:spPr>
      </p:sp>
      <p:pic>
        <p:nvPicPr>
          <p:cNvPr id="6" name="Image 0" descr="assets/icons/users_brown.png">    </p:cNvPr>
          <p:cNvPicPr>
            <a:picLocks noChangeAspect="1"/>
          </p:cNvPicPr>
          <p:nvPr/>
        </p:nvPicPr>
        <p:blipFill>
          <a:blip r:embed="rId2"/>
          <a:stretch>
            <a:fillRect/>
          </a:stretch>
        </p:blipFill>
        <p:spPr>
          <a:xfrm>
            <a:off x="1085850" y="2667762"/>
            <a:ext cx="434340" cy="434340"/>
          </a:xfrm>
          <a:prstGeom prst="rect">
            <a:avLst/>
          </a:prstGeom>
        </p:spPr>
      </p:pic>
      <p:sp>
        <p:nvSpPr>
          <p:cNvPr id="7" name="Text 4"/>
          <p:cNvSpPr/>
          <p:nvPr/>
        </p:nvSpPr>
        <p:spPr>
          <a:xfrm>
            <a:off x="1874520" y="2450592"/>
            <a:ext cx="3671316" cy="411480"/>
          </a:xfrm>
          <a:prstGeom prst="rect">
            <a:avLst/>
          </a:prstGeom>
          <a:noFill/>
          <a:ln/>
        </p:spPr>
        <p:txBody>
          <a:bodyPr wrap="square" lIns="0" tIns="0" rIns="0" bIns="0" rtlCol="0" anchor="ctr"/>
          <a:lstStyle/>
          <a:p>
            <a:pPr indent="0" marL="0">
              <a:buNone/>
            </a:pPr>
            <a:r>
              <a:rPr lang="en-US" sz="2200" b="1" dirty="0">
                <a:solidFill>
                  <a:srgbClr val="4A3413"/>
                </a:solidFill>
                <a:latin typeface="Montserrat" pitchFamily="34" charset="0"/>
                <a:ea typeface="Montserrat" pitchFamily="34" charset="-122"/>
                <a:cs typeface="Montserrat" pitchFamily="34" charset="-120"/>
              </a:rPr>
              <a:t>CRM</a:t>
            </a:r>
            <a:endParaRPr lang="en-US" sz="2200" dirty="0"/>
          </a:p>
        </p:txBody>
      </p:sp>
      <p:sp>
        <p:nvSpPr>
          <p:cNvPr id="8" name="Text 5"/>
          <p:cNvSpPr/>
          <p:nvPr/>
        </p:nvSpPr>
        <p:spPr>
          <a:xfrm>
            <a:off x="1874520" y="2889504"/>
            <a:ext cx="3762756" cy="320040"/>
          </a:xfrm>
          <a:prstGeom prst="rect">
            <a:avLst/>
          </a:prstGeom>
          <a:noFill/>
          <a:ln/>
        </p:spPr>
        <p:txBody>
          <a:bodyPr wrap="square" lIns="0" tIns="0" rIns="0" bIns="0" rtlCol="0" anchor="ctr"/>
          <a:lstStyle/>
          <a:p>
            <a:pPr indent="0" marL="0">
              <a:buNone/>
            </a:pPr>
            <a:r>
              <a:rPr lang="en-US" sz="1100" i="1" dirty="0">
                <a:solidFill>
                  <a:srgbClr val="796A50"/>
                </a:solidFill>
                <a:latin typeface="Inter" pitchFamily="34" charset="0"/>
                <a:ea typeface="Inter" pitchFamily="34" charset="-122"/>
                <a:cs typeface="Inter" pitchFamily="34" charset="-120"/>
              </a:rPr>
              <a:t>Customer Relationship Management</a:t>
            </a:r>
            <a:endParaRPr lang="en-US" sz="1100" dirty="0"/>
          </a:p>
        </p:txBody>
      </p:sp>
      <p:sp>
        <p:nvSpPr>
          <p:cNvPr id="9" name="Text 6"/>
          <p:cNvSpPr/>
          <p:nvPr/>
        </p:nvSpPr>
        <p:spPr>
          <a:xfrm>
            <a:off x="960120" y="3474720"/>
            <a:ext cx="4448556" cy="1371600"/>
          </a:xfrm>
          <a:prstGeom prst="rect">
            <a:avLst/>
          </a:prstGeom>
          <a:noFill/>
          <a:ln/>
        </p:spPr>
        <p:txBody>
          <a:bodyPr wrap="square" lIns="0" tIns="0" rIns="0" bIns="0" rtlCol="0" anchor="ctr"/>
          <a:lstStyle/>
          <a:p>
            <a:pPr marL="177800" indent="-177800">
              <a:spcAft>
                <a:spcPts val="700"/>
              </a:spcAft>
              <a:buSzPct val="100000"/>
              <a:buChar char="•"/>
            </a:pPr>
            <a:r>
              <a:rPr lang="en-US" sz="1300" dirty="0">
                <a:solidFill>
                  <a:srgbClr val="3A2E1C"/>
                </a:solidFill>
                <a:latin typeface="Inter" pitchFamily="34" charset="0"/>
                <a:ea typeface="Inter" pitchFamily="34" charset="-122"/>
                <a:cs typeface="Inter" pitchFamily="34" charset="-120"/>
              </a:rPr>
              <a:t>Remembers guest preferences &amp; feedback</a:t>
            </a:r>
            <a:endParaRPr lang="en-US" sz="1300" dirty="0"/>
          </a:p>
          <a:p>
            <a:pPr marL="177800" indent="-177800">
              <a:spcAft>
                <a:spcPts val="700"/>
              </a:spcAft>
              <a:buSzPct val="100000"/>
              <a:buChar char="•"/>
            </a:pPr>
            <a:r>
              <a:rPr lang="en-US" sz="1300" dirty="0">
                <a:solidFill>
                  <a:srgbClr val="3A2E1C"/>
                </a:solidFill>
                <a:latin typeface="Inter" pitchFamily="34" charset="0"/>
                <a:ea typeface="Inter" pitchFamily="34" charset="-122"/>
                <a:cs typeface="Inter" pitchFamily="34" charset="-120"/>
              </a:rPr>
              <a:t>Surfaces what guests love — and what's missing</a:t>
            </a:r>
            <a:endParaRPr lang="en-US" sz="1300" dirty="0"/>
          </a:p>
          <a:p>
            <a:pPr marL="177800" indent="-177800">
              <a:buSzPct val="100000"/>
              <a:buChar char="•"/>
            </a:pPr>
            <a:r>
              <a:rPr lang="en-US" sz="1300" dirty="0">
                <a:solidFill>
                  <a:srgbClr val="3A2E1C"/>
                </a:solidFill>
                <a:latin typeface="Inter" pitchFamily="34" charset="0"/>
                <a:ea typeface="Inter" pitchFamily="34" charset="-122"/>
                <a:cs typeface="Inter" pitchFamily="34" charset="-120"/>
              </a:rPr>
              <a:t>Turns every chat into real customer data</a:t>
            </a:r>
            <a:endParaRPr lang="en-US" sz="1300" dirty="0"/>
          </a:p>
        </p:txBody>
      </p:sp>
      <p:sp>
        <p:nvSpPr>
          <p:cNvPr id="10" name="Shape 7"/>
          <p:cNvSpPr/>
          <p:nvPr/>
        </p:nvSpPr>
        <p:spPr>
          <a:xfrm>
            <a:off x="6414516" y="2103120"/>
            <a:ext cx="5225796" cy="2880360"/>
          </a:xfrm>
          <a:prstGeom prst="roundRect">
            <a:avLst>
              <a:gd name="adj" fmla="val 3810"/>
            </a:avLst>
          </a:prstGeom>
          <a:solidFill>
            <a:srgbClr val="FFFFFF"/>
          </a:solidFill>
          <a:ln w="12700">
            <a:solidFill>
              <a:srgbClr val="E2D4B6"/>
            </a:solidFill>
            <a:prstDash val="solid"/>
          </a:ln>
          <a:effectLst>
            <a:outerShdw sx="100000" sy="100000" kx="0" ky="0" algn="bl" rotWithShape="0" blurRad="114300" dist="38100" dir="5400000">
              <a:srgbClr val="000000">
                <a:alpha val="16000"/>
              </a:srgbClr>
            </a:outerShdw>
          </a:effectLst>
        </p:spPr>
      </p:sp>
      <p:sp>
        <p:nvSpPr>
          <p:cNvPr id="11" name="Shape 8"/>
          <p:cNvSpPr/>
          <p:nvPr/>
        </p:nvSpPr>
        <p:spPr>
          <a:xfrm>
            <a:off x="6734556" y="2450592"/>
            <a:ext cx="868680" cy="868680"/>
          </a:xfrm>
          <a:prstGeom prst="ellipse">
            <a:avLst/>
          </a:prstGeom>
          <a:solidFill>
            <a:srgbClr val="D9A93C"/>
          </a:solidFill>
          <a:ln/>
        </p:spPr>
      </p:sp>
      <p:pic>
        <p:nvPicPr>
          <p:cNvPr id="12" name="Image 1" descr="assets/icons/list_brown.png">    </p:cNvPr>
          <p:cNvPicPr>
            <a:picLocks noChangeAspect="1"/>
          </p:cNvPicPr>
          <p:nvPr/>
        </p:nvPicPr>
        <p:blipFill>
          <a:blip r:embed="rId3"/>
          <a:stretch>
            <a:fillRect/>
          </a:stretch>
        </p:blipFill>
        <p:spPr>
          <a:xfrm>
            <a:off x="6951726" y="2667762"/>
            <a:ext cx="434340" cy="434340"/>
          </a:xfrm>
          <a:prstGeom prst="rect">
            <a:avLst/>
          </a:prstGeom>
        </p:spPr>
      </p:pic>
      <p:sp>
        <p:nvSpPr>
          <p:cNvPr id="13" name="Text 9"/>
          <p:cNvSpPr/>
          <p:nvPr/>
        </p:nvSpPr>
        <p:spPr>
          <a:xfrm>
            <a:off x="7740396" y="2450592"/>
            <a:ext cx="3671316" cy="411480"/>
          </a:xfrm>
          <a:prstGeom prst="rect">
            <a:avLst/>
          </a:prstGeom>
          <a:noFill/>
          <a:ln/>
        </p:spPr>
        <p:txBody>
          <a:bodyPr wrap="square" lIns="0" tIns="0" rIns="0" bIns="0" rtlCol="0" anchor="ctr"/>
          <a:lstStyle/>
          <a:p>
            <a:pPr indent="0" marL="0">
              <a:buNone/>
            </a:pPr>
            <a:r>
              <a:rPr lang="en-US" sz="2200" b="1" dirty="0">
                <a:solidFill>
                  <a:srgbClr val="4A3413"/>
                </a:solidFill>
                <a:latin typeface="Montserrat" pitchFamily="34" charset="0"/>
                <a:ea typeface="Montserrat" pitchFamily="34" charset="-122"/>
                <a:cs typeface="Montserrat" pitchFamily="34" charset="-120"/>
              </a:rPr>
              <a:t>TMS</a:t>
            </a:r>
            <a:endParaRPr lang="en-US" sz="2200" dirty="0"/>
          </a:p>
        </p:txBody>
      </p:sp>
      <p:sp>
        <p:nvSpPr>
          <p:cNvPr id="14" name="Text 10"/>
          <p:cNvSpPr/>
          <p:nvPr/>
        </p:nvSpPr>
        <p:spPr>
          <a:xfrm>
            <a:off x="7740396" y="2889504"/>
            <a:ext cx="3762756" cy="320040"/>
          </a:xfrm>
          <a:prstGeom prst="rect">
            <a:avLst/>
          </a:prstGeom>
          <a:noFill/>
          <a:ln/>
        </p:spPr>
        <p:txBody>
          <a:bodyPr wrap="square" lIns="0" tIns="0" rIns="0" bIns="0" rtlCol="0" anchor="ctr"/>
          <a:lstStyle/>
          <a:p>
            <a:pPr indent="0" marL="0">
              <a:buNone/>
            </a:pPr>
            <a:r>
              <a:rPr lang="en-US" sz="1100" i="1" dirty="0">
                <a:solidFill>
                  <a:srgbClr val="796A50"/>
                </a:solidFill>
                <a:latin typeface="Inter" pitchFamily="34" charset="0"/>
                <a:ea typeface="Inter" pitchFamily="34" charset="-122"/>
                <a:cs typeface="Inter" pitchFamily="34" charset="-120"/>
              </a:rPr>
              <a:t>Table &amp; Menu Management</a:t>
            </a:r>
            <a:endParaRPr lang="en-US" sz="1100" dirty="0"/>
          </a:p>
        </p:txBody>
      </p:sp>
      <p:sp>
        <p:nvSpPr>
          <p:cNvPr id="15" name="Text 11"/>
          <p:cNvSpPr/>
          <p:nvPr/>
        </p:nvSpPr>
        <p:spPr>
          <a:xfrm>
            <a:off x="6825996" y="3474720"/>
            <a:ext cx="4448556" cy="1371600"/>
          </a:xfrm>
          <a:prstGeom prst="rect">
            <a:avLst/>
          </a:prstGeom>
          <a:noFill/>
          <a:ln/>
        </p:spPr>
        <p:txBody>
          <a:bodyPr wrap="square" lIns="0" tIns="0" rIns="0" bIns="0" rtlCol="0" anchor="ctr"/>
          <a:lstStyle/>
          <a:p>
            <a:pPr marL="177800" indent="-177800">
              <a:spcAft>
                <a:spcPts val="700"/>
              </a:spcAft>
              <a:buSzPct val="100000"/>
              <a:buChar char="•"/>
            </a:pPr>
            <a:r>
              <a:rPr lang="en-US" sz="1300" dirty="0">
                <a:solidFill>
                  <a:srgbClr val="3A2E1C"/>
                </a:solidFill>
                <a:latin typeface="Inter" pitchFamily="34" charset="0"/>
                <a:ea typeface="Inter" pitchFamily="34" charset="-122"/>
                <a:cs typeface="Inter" pitchFamily="34" charset="-120"/>
              </a:rPr>
              <a:t>Live menu, prices &amp; availability</a:t>
            </a:r>
            <a:endParaRPr lang="en-US" sz="1300" dirty="0"/>
          </a:p>
          <a:p>
            <a:pPr marL="177800" indent="-177800">
              <a:spcAft>
                <a:spcPts val="700"/>
              </a:spcAft>
              <a:buSzPct val="100000"/>
              <a:buChar char="•"/>
            </a:pPr>
            <a:r>
              <a:rPr lang="en-US" sz="1300" dirty="0">
                <a:solidFill>
                  <a:srgbClr val="3A2E1C"/>
                </a:solidFill>
                <a:latin typeface="Inter" pitchFamily="34" charset="0"/>
                <a:ea typeface="Inter" pitchFamily="34" charset="-122"/>
                <a:cs typeface="Inter" pitchFamily="34" charset="-120"/>
              </a:rPr>
              <a:t>Captures banquet &amp; booking enquiries</a:t>
            </a:r>
            <a:endParaRPr lang="en-US" sz="1300" dirty="0"/>
          </a:p>
          <a:p>
            <a:pPr marL="177800" indent="-177800">
              <a:buSzPct val="100000"/>
              <a:buChar char="•"/>
            </a:pPr>
            <a:r>
              <a:rPr lang="en-US" sz="1300" dirty="0">
                <a:solidFill>
                  <a:srgbClr val="3A2E1C"/>
                </a:solidFill>
                <a:latin typeface="Inter" pitchFamily="34" charset="0"/>
                <a:ea typeface="Inter" pitchFamily="34" charset="-122"/>
                <a:cs typeface="Inter" pitchFamily="34" charset="-120"/>
              </a:rPr>
              <a:t>Recommends to lift each order, eases staff load</a:t>
            </a:r>
            <a:endParaRPr lang="en-US" sz="1300" dirty="0"/>
          </a:p>
        </p:txBody>
      </p:sp>
      <p:sp>
        <p:nvSpPr>
          <p:cNvPr id="16" name="Shape 12"/>
          <p:cNvSpPr/>
          <p:nvPr/>
        </p:nvSpPr>
        <p:spPr>
          <a:xfrm>
            <a:off x="5710428" y="3159252"/>
            <a:ext cx="768096" cy="768096"/>
          </a:xfrm>
          <a:prstGeom prst="ellipse">
            <a:avLst/>
          </a:prstGeom>
          <a:solidFill>
            <a:srgbClr val="4A3413"/>
          </a:solidFill>
          <a:ln/>
        </p:spPr>
      </p:sp>
      <p:pic>
        <p:nvPicPr>
          <p:cNvPr id="17" name="Image 2" descr="assets/icons/plus_gold2.png">    </p:cNvPr>
          <p:cNvPicPr>
            <a:picLocks noChangeAspect="1"/>
          </p:cNvPicPr>
          <p:nvPr/>
        </p:nvPicPr>
        <p:blipFill>
          <a:blip r:embed="rId4"/>
          <a:stretch>
            <a:fillRect/>
          </a:stretch>
        </p:blipFill>
        <p:spPr>
          <a:xfrm>
            <a:off x="5911596" y="3360420"/>
            <a:ext cx="365760" cy="365760"/>
          </a:xfrm>
          <a:prstGeom prst="rect">
            <a:avLst/>
          </a:prstGeom>
        </p:spPr>
      </p:pic>
      <p:sp>
        <p:nvSpPr>
          <p:cNvPr id="18" name="Shape 13"/>
          <p:cNvSpPr/>
          <p:nvPr/>
        </p:nvSpPr>
        <p:spPr>
          <a:xfrm>
            <a:off x="548640" y="5394960"/>
            <a:ext cx="11091672" cy="914400"/>
          </a:xfrm>
          <a:prstGeom prst="roundRect">
            <a:avLst>
              <a:gd name="adj" fmla="val 10000"/>
            </a:avLst>
          </a:prstGeom>
          <a:solidFill>
            <a:srgbClr val="4A3413"/>
          </a:solidFill>
          <a:ln/>
        </p:spPr>
      </p:sp>
      <p:sp>
        <p:nvSpPr>
          <p:cNvPr id="19" name="Text 14"/>
          <p:cNvSpPr/>
          <p:nvPr/>
        </p:nvSpPr>
        <p:spPr>
          <a:xfrm>
            <a:off x="868680" y="5394960"/>
            <a:ext cx="10424160" cy="914400"/>
          </a:xfrm>
          <a:prstGeom prst="rect">
            <a:avLst/>
          </a:prstGeom>
          <a:noFill/>
          <a:ln/>
        </p:spPr>
        <p:txBody>
          <a:bodyPr wrap="square" lIns="0" tIns="0" rIns="0" bIns="0" rtlCol="0" anchor="ctr"/>
          <a:lstStyle/>
          <a:p>
            <a:pPr algn="ctr" indent="0" marL="0">
              <a:lnSpc>
                <a:spcPct val="110000"/>
              </a:lnSpc>
              <a:buNone/>
            </a:pPr>
            <a:r>
              <a:rPr lang="en-US" sz="1300" b="1" dirty="0">
                <a:solidFill>
                  <a:srgbClr val="EAC158"/>
                </a:solidFill>
                <a:latin typeface="Inter" pitchFamily="34" charset="0"/>
                <a:ea typeface="Inter" pitchFamily="34" charset="-122"/>
                <a:cs typeface="Inter" pitchFamily="34" charset="-120"/>
              </a:rPr>
              <a:t>CRM + TMS, combined into one simple QR chat.    </a:t>
            </a:r>
            <a:pPr algn="ctr" indent="0" marL="0">
              <a:lnSpc>
                <a:spcPct val="110000"/>
              </a:lnSpc>
              <a:buNone/>
            </a:pPr>
            <a:r>
              <a:rPr lang="en-US" sz="1300" dirty="0">
                <a:solidFill>
                  <a:srgbClr val="F0E6D2"/>
                </a:solidFill>
                <a:latin typeface="Inter" pitchFamily="34" charset="0"/>
                <a:ea typeface="Inter" pitchFamily="34" charset="-122"/>
                <a:cs typeface="Inter" pitchFamily="34" charset="-120"/>
              </a:rPr>
              <a:t>Speaks up to 6 languages — English · Tamil · Hindi · Malayalam · Telugu · Kannada   (Tamil &amp; English first).</a:t>
            </a:r>
            <a:endParaRPr lang="en-US" sz="1300" dirty="0"/>
          </a:p>
        </p:txBody>
      </p:sp>
      <p:pic>
        <p:nvPicPr>
          <p:cNvPr id="20" name="Image 3" descr="assets/odysra_logo.png">    </p:cNvPr>
          <p:cNvPicPr>
            <a:picLocks noChangeAspect="1"/>
          </p:cNvPicPr>
          <p:nvPr/>
        </p:nvPicPr>
        <p:blipFill>
          <a:blip r:embed="rId5"/>
          <a:stretch>
            <a:fillRect/>
          </a:stretch>
        </p:blipFill>
        <p:spPr>
          <a:xfrm>
            <a:off x="11521440" y="6236208"/>
            <a:ext cx="475488" cy="4754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250" b="1" spc="300" kern="0" dirty="0">
                <a:solidFill>
                  <a:srgbClr val="927327"/>
                </a:solidFill>
                <a:latin typeface="Inter" pitchFamily="34" charset="0"/>
                <a:ea typeface="Inter" pitchFamily="34" charset="-122"/>
                <a:cs typeface="Inter" pitchFamily="34" charset="-120"/>
              </a:rPr>
              <a:t>WHAT ANNAPOORNA GAINS</a:t>
            </a:r>
            <a:endParaRPr lang="en-US" sz="1250" dirty="0"/>
          </a:p>
        </p:txBody>
      </p:sp>
      <p:sp>
        <p:nvSpPr>
          <p:cNvPr id="3" name="Text 1"/>
          <p:cNvSpPr/>
          <p:nvPr/>
        </p:nvSpPr>
        <p:spPr>
          <a:xfrm>
            <a:off x="548640" y="868680"/>
            <a:ext cx="11064240" cy="822960"/>
          </a:xfrm>
          <a:prstGeom prst="rect">
            <a:avLst/>
          </a:prstGeom>
          <a:noFill/>
          <a:ln/>
        </p:spPr>
        <p:txBody>
          <a:bodyPr wrap="square" lIns="0" tIns="0" rIns="0" bIns="0" rtlCol="0" anchor="ctr"/>
          <a:lstStyle/>
          <a:p>
            <a:pPr indent="0" marL="0">
              <a:lnSpc>
                <a:spcPct val="100000"/>
              </a:lnSpc>
              <a:buNone/>
            </a:pPr>
            <a:r>
              <a:rPr lang="en-US" sz="2600" b="1" dirty="0">
                <a:solidFill>
                  <a:srgbClr val="4A3413"/>
                </a:solidFill>
                <a:latin typeface="Montserrat" pitchFamily="34" charset="0"/>
                <a:ea typeface="Montserrat" pitchFamily="34" charset="-122"/>
                <a:cs typeface="Montserrat" pitchFamily="34" charset="-120"/>
              </a:rPr>
              <a:t>More orders, lighter load, zero missed leads.</a:t>
            </a:r>
            <a:endParaRPr lang="en-US" sz="2600" dirty="0"/>
          </a:p>
        </p:txBody>
      </p:sp>
      <p:sp>
        <p:nvSpPr>
          <p:cNvPr id="4" name="Shape 2"/>
          <p:cNvSpPr/>
          <p:nvPr/>
        </p:nvSpPr>
        <p:spPr>
          <a:xfrm>
            <a:off x="548640" y="2194560"/>
            <a:ext cx="5440680" cy="1920240"/>
          </a:xfrm>
          <a:prstGeom prst="roundRect">
            <a:avLst>
              <a:gd name="adj" fmla="val 4762"/>
            </a:avLst>
          </a:prstGeom>
          <a:solidFill>
            <a:srgbClr val="FFFFFF"/>
          </a:solidFill>
          <a:ln w="12700">
            <a:solidFill>
              <a:srgbClr val="E2D4B6"/>
            </a:solidFill>
            <a:prstDash val="solid"/>
          </a:ln>
          <a:effectLst>
            <a:outerShdw sx="100000" sy="100000" kx="0" ky="0" algn="bl" rotWithShape="0" blurRad="114300" dist="38100" dir="5400000">
              <a:srgbClr val="000000">
                <a:alpha val="16000"/>
              </a:srgbClr>
            </a:outerShdw>
          </a:effectLst>
        </p:spPr>
      </p:sp>
      <p:sp>
        <p:nvSpPr>
          <p:cNvPr id="5" name="Shape 3"/>
          <p:cNvSpPr/>
          <p:nvPr/>
        </p:nvSpPr>
        <p:spPr>
          <a:xfrm>
            <a:off x="822960" y="2487168"/>
            <a:ext cx="777240" cy="777240"/>
          </a:xfrm>
          <a:prstGeom prst="ellipse">
            <a:avLst/>
          </a:prstGeom>
          <a:solidFill>
            <a:srgbClr val="927327"/>
          </a:solidFill>
          <a:ln/>
        </p:spPr>
      </p:sp>
      <p:pic>
        <p:nvPicPr>
          <p:cNvPr id="6" name="Image 0" descr="assets/icons/trend_white.png">    </p:cNvPr>
          <p:cNvPicPr>
            <a:picLocks noChangeAspect="1"/>
          </p:cNvPicPr>
          <p:nvPr/>
        </p:nvPicPr>
        <p:blipFill>
          <a:blip r:embed="rId2"/>
          <a:stretch>
            <a:fillRect/>
          </a:stretch>
        </p:blipFill>
        <p:spPr>
          <a:xfrm>
            <a:off x="1017270" y="2681478"/>
            <a:ext cx="388620" cy="388620"/>
          </a:xfrm>
          <a:prstGeom prst="rect">
            <a:avLst/>
          </a:prstGeom>
        </p:spPr>
      </p:pic>
      <p:sp>
        <p:nvSpPr>
          <p:cNvPr id="7" name="Text 4"/>
          <p:cNvSpPr/>
          <p:nvPr/>
        </p:nvSpPr>
        <p:spPr>
          <a:xfrm>
            <a:off x="1828800" y="2487168"/>
            <a:ext cx="3931920" cy="411480"/>
          </a:xfrm>
          <a:prstGeom prst="rect">
            <a:avLst/>
          </a:prstGeom>
          <a:noFill/>
          <a:ln/>
        </p:spPr>
        <p:txBody>
          <a:bodyPr wrap="square" lIns="0" tIns="0" rIns="0" bIns="0" rtlCol="0" anchor="ctr"/>
          <a:lstStyle/>
          <a:p>
            <a:pPr indent="0" marL="0">
              <a:buNone/>
            </a:pPr>
            <a:r>
              <a:rPr lang="en-US" sz="1700" b="1" dirty="0">
                <a:solidFill>
                  <a:srgbClr val="4A3413"/>
                </a:solidFill>
                <a:latin typeface="Montserrat" pitchFamily="34" charset="0"/>
                <a:ea typeface="Montserrat" pitchFamily="34" charset="-122"/>
                <a:cs typeface="Montserrat" pitchFamily="34" charset="-120"/>
              </a:rPr>
              <a:t>Higher bills, naturally</a:t>
            </a:r>
            <a:endParaRPr lang="en-US" sz="1700" dirty="0"/>
          </a:p>
        </p:txBody>
      </p:sp>
      <p:sp>
        <p:nvSpPr>
          <p:cNvPr id="8" name="Text 5"/>
          <p:cNvSpPr/>
          <p:nvPr/>
        </p:nvSpPr>
        <p:spPr>
          <a:xfrm>
            <a:off x="1828800" y="2944368"/>
            <a:ext cx="3931920" cy="1051560"/>
          </a:xfrm>
          <a:prstGeom prst="rect">
            <a:avLst/>
          </a:prstGeom>
          <a:noFill/>
          <a:ln/>
        </p:spPr>
        <p:txBody>
          <a:bodyPr wrap="square" lIns="0" tIns="0" rIns="0" bIns="0" rtlCol="0" anchor="ctr"/>
          <a:lstStyle/>
          <a:p>
            <a:pPr indent="0" marL="0">
              <a:lnSpc>
                <a:spcPct val="105000"/>
              </a:lnSpc>
              <a:buNone/>
            </a:pPr>
            <a:r>
              <a:rPr lang="en-US" sz="1180" dirty="0">
                <a:solidFill>
                  <a:srgbClr val="796A50"/>
                </a:solidFill>
                <a:latin typeface="Inter" pitchFamily="34" charset="0"/>
                <a:ea typeface="Inter" pitchFamily="34" charset="-122"/>
                <a:cs typeface="Inter" pitchFamily="34" charset="-120"/>
              </a:rPr>
              <a:t>Guest: “Something light.” → AI: “Our Ghee Pongal is a favourite — lovely with filter coffee.” A gentle nudge lifts the average bill, and the guest still feels cared for.</a:t>
            </a:r>
            <a:endParaRPr lang="en-US" sz="1180" dirty="0"/>
          </a:p>
        </p:txBody>
      </p:sp>
      <p:sp>
        <p:nvSpPr>
          <p:cNvPr id="9" name="Shape 6"/>
          <p:cNvSpPr/>
          <p:nvPr/>
        </p:nvSpPr>
        <p:spPr>
          <a:xfrm>
            <a:off x="6263640" y="2194560"/>
            <a:ext cx="5440680" cy="1920240"/>
          </a:xfrm>
          <a:prstGeom prst="roundRect">
            <a:avLst>
              <a:gd name="adj" fmla="val 4762"/>
            </a:avLst>
          </a:prstGeom>
          <a:solidFill>
            <a:srgbClr val="FFFFFF"/>
          </a:solidFill>
          <a:ln w="12700">
            <a:solidFill>
              <a:srgbClr val="E2D4B6"/>
            </a:solidFill>
            <a:prstDash val="solid"/>
          </a:ln>
          <a:effectLst>
            <a:outerShdw sx="100000" sy="100000" kx="0" ky="0" algn="bl" rotWithShape="0" blurRad="114300" dist="38100" dir="5400000">
              <a:srgbClr val="000000">
                <a:alpha val="16000"/>
              </a:srgbClr>
            </a:outerShdw>
          </a:effectLst>
        </p:spPr>
      </p:sp>
      <p:sp>
        <p:nvSpPr>
          <p:cNvPr id="10" name="Shape 7"/>
          <p:cNvSpPr/>
          <p:nvPr/>
        </p:nvSpPr>
        <p:spPr>
          <a:xfrm>
            <a:off x="6537960" y="2487168"/>
            <a:ext cx="777240" cy="777240"/>
          </a:xfrm>
          <a:prstGeom prst="ellipse">
            <a:avLst/>
          </a:prstGeom>
          <a:solidFill>
            <a:srgbClr val="4A3413"/>
          </a:solidFill>
          <a:ln/>
        </p:spPr>
      </p:sp>
      <p:pic>
        <p:nvPicPr>
          <p:cNvPr id="11" name="Image 1" descr="assets/icons/handshake_white.png">    </p:cNvPr>
          <p:cNvPicPr>
            <a:picLocks noChangeAspect="1"/>
          </p:cNvPicPr>
          <p:nvPr/>
        </p:nvPicPr>
        <p:blipFill>
          <a:blip r:embed="rId3"/>
          <a:stretch>
            <a:fillRect/>
          </a:stretch>
        </p:blipFill>
        <p:spPr>
          <a:xfrm>
            <a:off x="6732270" y="2681478"/>
            <a:ext cx="388620" cy="388620"/>
          </a:xfrm>
          <a:prstGeom prst="rect">
            <a:avLst/>
          </a:prstGeom>
        </p:spPr>
      </p:pic>
      <p:sp>
        <p:nvSpPr>
          <p:cNvPr id="12" name="Text 8"/>
          <p:cNvSpPr/>
          <p:nvPr/>
        </p:nvSpPr>
        <p:spPr>
          <a:xfrm>
            <a:off x="7543800" y="2487168"/>
            <a:ext cx="3931920" cy="411480"/>
          </a:xfrm>
          <a:prstGeom prst="rect">
            <a:avLst/>
          </a:prstGeom>
          <a:noFill/>
          <a:ln/>
        </p:spPr>
        <p:txBody>
          <a:bodyPr wrap="square" lIns="0" tIns="0" rIns="0" bIns="0" rtlCol="0" anchor="ctr"/>
          <a:lstStyle/>
          <a:p>
            <a:pPr indent="0" marL="0">
              <a:buNone/>
            </a:pPr>
            <a:r>
              <a:rPr lang="en-US" sz="1700" b="1" dirty="0">
                <a:solidFill>
                  <a:srgbClr val="4A3413"/>
                </a:solidFill>
                <a:latin typeface="Montserrat" pitchFamily="34" charset="0"/>
                <a:ea typeface="Montserrat" pitchFamily="34" charset="-122"/>
                <a:cs typeface="Montserrat" pitchFamily="34" charset="-120"/>
              </a:rPr>
              <a:t>Lighter load on staff</a:t>
            </a:r>
            <a:endParaRPr lang="en-US" sz="1700" dirty="0"/>
          </a:p>
        </p:txBody>
      </p:sp>
      <p:sp>
        <p:nvSpPr>
          <p:cNvPr id="13" name="Text 9"/>
          <p:cNvSpPr/>
          <p:nvPr/>
        </p:nvSpPr>
        <p:spPr>
          <a:xfrm>
            <a:off x="7543800" y="2944368"/>
            <a:ext cx="3931920" cy="1051560"/>
          </a:xfrm>
          <a:prstGeom prst="rect">
            <a:avLst/>
          </a:prstGeom>
          <a:noFill/>
          <a:ln/>
        </p:spPr>
        <p:txBody>
          <a:bodyPr wrap="square" lIns="0" tIns="0" rIns="0" bIns="0" rtlCol="0" anchor="ctr"/>
          <a:lstStyle/>
          <a:p>
            <a:pPr indent="0" marL="0">
              <a:lnSpc>
                <a:spcPct val="105000"/>
              </a:lnSpc>
              <a:buNone/>
            </a:pPr>
            <a:r>
              <a:rPr lang="en-US" sz="1180" dirty="0">
                <a:solidFill>
                  <a:srgbClr val="796A50"/>
                </a:solidFill>
                <a:latin typeface="Inter" pitchFamily="34" charset="0"/>
                <a:ea typeface="Inter" pitchFamily="34" charset="-122"/>
                <a:cs typeface="Inter" pitchFamily="34" charset="-120"/>
              </a:rPr>
              <a:t>The chatbot fields the endless “what's good?” and “is it spicy?” questions, so your team focuses on serving, not explaining.</a:t>
            </a:r>
            <a:endParaRPr lang="en-US" sz="1180" dirty="0"/>
          </a:p>
        </p:txBody>
      </p:sp>
      <p:sp>
        <p:nvSpPr>
          <p:cNvPr id="14" name="Shape 10"/>
          <p:cNvSpPr/>
          <p:nvPr/>
        </p:nvSpPr>
        <p:spPr>
          <a:xfrm>
            <a:off x="548640" y="4297680"/>
            <a:ext cx="5440680" cy="1920240"/>
          </a:xfrm>
          <a:prstGeom prst="roundRect">
            <a:avLst>
              <a:gd name="adj" fmla="val 4762"/>
            </a:avLst>
          </a:prstGeom>
          <a:solidFill>
            <a:srgbClr val="FFFFFF"/>
          </a:solidFill>
          <a:ln w="12700">
            <a:solidFill>
              <a:srgbClr val="E2D4B6"/>
            </a:solidFill>
            <a:prstDash val="solid"/>
          </a:ln>
          <a:effectLst>
            <a:outerShdw sx="100000" sy="100000" kx="0" ky="0" algn="bl" rotWithShape="0" blurRad="114300" dist="38100" dir="5400000">
              <a:srgbClr val="000000">
                <a:alpha val="16000"/>
              </a:srgbClr>
            </a:outerShdw>
          </a:effectLst>
        </p:spPr>
      </p:sp>
      <p:sp>
        <p:nvSpPr>
          <p:cNvPr id="15" name="Shape 11"/>
          <p:cNvSpPr/>
          <p:nvPr/>
        </p:nvSpPr>
        <p:spPr>
          <a:xfrm>
            <a:off x="822960" y="4590288"/>
            <a:ext cx="777240" cy="777240"/>
          </a:xfrm>
          <a:prstGeom prst="ellipse">
            <a:avLst/>
          </a:prstGeom>
          <a:solidFill>
            <a:srgbClr val="6E5320"/>
          </a:solidFill>
          <a:ln/>
        </p:spPr>
      </p:sp>
      <p:pic>
        <p:nvPicPr>
          <p:cNvPr id="16" name="Image 2" descr="assets/icons/calendar_white.png">    </p:cNvPr>
          <p:cNvPicPr>
            <a:picLocks noChangeAspect="1"/>
          </p:cNvPicPr>
          <p:nvPr/>
        </p:nvPicPr>
        <p:blipFill>
          <a:blip r:embed="rId4"/>
          <a:stretch>
            <a:fillRect/>
          </a:stretch>
        </p:blipFill>
        <p:spPr>
          <a:xfrm>
            <a:off x="1017270" y="4784598"/>
            <a:ext cx="388620" cy="388620"/>
          </a:xfrm>
          <a:prstGeom prst="rect">
            <a:avLst/>
          </a:prstGeom>
        </p:spPr>
      </p:pic>
      <p:sp>
        <p:nvSpPr>
          <p:cNvPr id="17" name="Text 12"/>
          <p:cNvSpPr/>
          <p:nvPr/>
        </p:nvSpPr>
        <p:spPr>
          <a:xfrm>
            <a:off x="1828800" y="4590288"/>
            <a:ext cx="3931920" cy="411480"/>
          </a:xfrm>
          <a:prstGeom prst="rect">
            <a:avLst/>
          </a:prstGeom>
          <a:noFill/>
          <a:ln/>
        </p:spPr>
        <p:txBody>
          <a:bodyPr wrap="square" lIns="0" tIns="0" rIns="0" bIns="0" rtlCol="0" anchor="ctr"/>
          <a:lstStyle/>
          <a:p>
            <a:pPr indent="0" marL="0">
              <a:buNone/>
            </a:pPr>
            <a:r>
              <a:rPr lang="en-US" sz="1700" b="1" dirty="0">
                <a:solidFill>
                  <a:srgbClr val="4A3413"/>
                </a:solidFill>
                <a:latin typeface="Montserrat" pitchFamily="34" charset="0"/>
                <a:ea typeface="Montserrat" pitchFamily="34" charset="-122"/>
                <a:cs typeface="Montserrat" pitchFamily="34" charset="-120"/>
              </a:rPr>
              <a:t>Never miss a banquet lead</a:t>
            </a:r>
            <a:endParaRPr lang="en-US" sz="1700" dirty="0"/>
          </a:p>
        </p:txBody>
      </p:sp>
      <p:sp>
        <p:nvSpPr>
          <p:cNvPr id="18" name="Text 13"/>
          <p:cNvSpPr/>
          <p:nvPr/>
        </p:nvSpPr>
        <p:spPr>
          <a:xfrm>
            <a:off x="1828800" y="5047488"/>
            <a:ext cx="3931920" cy="1051560"/>
          </a:xfrm>
          <a:prstGeom prst="rect">
            <a:avLst/>
          </a:prstGeom>
          <a:noFill/>
          <a:ln/>
        </p:spPr>
        <p:txBody>
          <a:bodyPr wrap="square" lIns="0" tIns="0" rIns="0" bIns="0" rtlCol="0" anchor="ctr"/>
          <a:lstStyle/>
          <a:p>
            <a:pPr indent="0" marL="0">
              <a:lnSpc>
                <a:spcPct val="105000"/>
              </a:lnSpc>
              <a:buNone/>
            </a:pPr>
            <a:r>
              <a:rPr lang="en-US" sz="1180" dirty="0">
                <a:solidFill>
                  <a:srgbClr val="796A50"/>
                </a:solidFill>
                <a:latin typeface="Inter" pitchFamily="34" charset="0"/>
                <a:ea typeface="Inter" pitchFamily="34" charset="-122"/>
                <a:cs typeface="Inter" pitchFamily="34" charset="-120"/>
              </a:rPr>
              <a:t>A wedding enquiry at 11 pm? The chatbot answers and captures their number — even when you're closed.</a:t>
            </a:r>
            <a:endParaRPr lang="en-US" sz="1180" dirty="0"/>
          </a:p>
        </p:txBody>
      </p:sp>
      <p:sp>
        <p:nvSpPr>
          <p:cNvPr id="19" name="Shape 14"/>
          <p:cNvSpPr/>
          <p:nvPr/>
        </p:nvSpPr>
        <p:spPr>
          <a:xfrm>
            <a:off x="6263640" y="4297680"/>
            <a:ext cx="5440680" cy="1920240"/>
          </a:xfrm>
          <a:prstGeom prst="roundRect">
            <a:avLst>
              <a:gd name="adj" fmla="val 4762"/>
            </a:avLst>
          </a:prstGeom>
          <a:solidFill>
            <a:srgbClr val="FFFFFF"/>
          </a:solidFill>
          <a:ln w="12700">
            <a:solidFill>
              <a:srgbClr val="E2D4B6"/>
            </a:solidFill>
            <a:prstDash val="solid"/>
          </a:ln>
          <a:effectLst>
            <a:outerShdw sx="100000" sy="100000" kx="0" ky="0" algn="bl" rotWithShape="0" blurRad="114300" dist="38100" dir="5400000">
              <a:srgbClr val="000000">
                <a:alpha val="16000"/>
              </a:srgbClr>
            </a:outerShdw>
          </a:effectLst>
        </p:spPr>
      </p:sp>
      <p:sp>
        <p:nvSpPr>
          <p:cNvPr id="20" name="Shape 15"/>
          <p:cNvSpPr/>
          <p:nvPr/>
        </p:nvSpPr>
        <p:spPr>
          <a:xfrm>
            <a:off x="6537960" y="4590288"/>
            <a:ext cx="777240" cy="777240"/>
          </a:xfrm>
          <a:prstGeom prst="ellipse">
            <a:avLst/>
          </a:prstGeom>
          <a:solidFill>
            <a:srgbClr val="D9A93C"/>
          </a:solidFill>
          <a:ln/>
        </p:spPr>
      </p:sp>
      <p:pic>
        <p:nvPicPr>
          <p:cNvPr id="21" name="Image 3" descr="assets/icons/chart_brown.png">    </p:cNvPr>
          <p:cNvPicPr>
            <a:picLocks noChangeAspect="1"/>
          </p:cNvPicPr>
          <p:nvPr/>
        </p:nvPicPr>
        <p:blipFill>
          <a:blip r:embed="rId5"/>
          <a:stretch>
            <a:fillRect/>
          </a:stretch>
        </p:blipFill>
        <p:spPr>
          <a:xfrm>
            <a:off x="6732270" y="4784598"/>
            <a:ext cx="388620" cy="388620"/>
          </a:xfrm>
          <a:prstGeom prst="rect">
            <a:avLst/>
          </a:prstGeom>
        </p:spPr>
      </p:pic>
      <p:sp>
        <p:nvSpPr>
          <p:cNvPr id="22" name="Text 16"/>
          <p:cNvSpPr/>
          <p:nvPr/>
        </p:nvSpPr>
        <p:spPr>
          <a:xfrm>
            <a:off x="7543800" y="4590288"/>
            <a:ext cx="3931920" cy="411480"/>
          </a:xfrm>
          <a:prstGeom prst="rect">
            <a:avLst/>
          </a:prstGeom>
          <a:noFill/>
          <a:ln/>
        </p:spPr>
        <p:txBody>
          <a:bodyPr wrap="square" lIns="0" tIns="0" rIns="0" bIns="0" rtlCol="0" anchor="ctr"/>
          <a:lstStyle/>
          <a:p>
            <a:pPr indent="0" marL="0">
              <a:buNone/>
            </a:pPr>
            <a:r>
              <a:rPr lang="en-US" sz="1700" b="1" dirty="0">
                <a:solidFill>
                  <a:srgbClr val="4A3413"/>
                </a:solidFill>
                <a:latin typeface="Montserrat" pitchFamily="34" charset="0"/>
                <a:ea typeface="Montserrat" pitchFamily="34" charset="-122"/>
                <a:cs typeface="Montserrat" pitchFamily="34" charset="-120"/>
              </a:rPr>
              <a:t>Know your guests</a:t>
            </a:r>
            <a:endParaRPr lang="en-US" sz="1700" dirty="0"/>
          </a:p>
        </p:txBody>
      </p:sp>
      <p:sp>
        <p:nvSpPr>
          <p:cNvPr id="23" name="Text 17"/>
          <p:cNvSpPr/>
          <p:nvPr/>
        </p:nvSpPr>
        <p:spPr>
          <a:xfrm>
            <a:off x="7543800" y="5047488"/>
            <a:ext cx="3931920" cy="1051560"/>
          </a:xfrm>
          <a:prstGeom prst="rect">
            <a:avLst/>
          </a:prstGeom>
          <a:noFill/>
          <a:ln/>
        </p:spPr>
        <p:txBody>
          <a:bodyPr wrap="square" lIns="0" tIns="0" rIns="0" bIns="0" rtlCol="0" anchor="ctr"/>
          <a:lstStyle/>
          <a:p>
            <a:pPr indent="0" marL="0">
              <a:lnSpc>
                <a:spcPct val="105000"/>
              </a:lnSpc>
              <a:buNone/>
            </a:pPr>
            <a:r>
              <a:rPr lang="en-US" sz="1180" dirty="0">
                <a:solidFill>
                  <a:srgbClr val="796A50"/>
                </a:solidFill>
                <a:latin typeface="Inter" pitchFamily="34" charset="0"/>
                <a:ea typeface="Inter" pitchFamily="34" charset="-122"/>
                <a:cs typeface="Inter" pitchFamily="34" charset="-120"/>
              </a:rPr>
              <a:t>See what guests ask for, what's in demand, and what's missing — real data you never had before.</a:t>
            </a:r>
            <a:endParaRPr lang="en-US" sz="1180" dirty="0"/>
          </a:p>
        </p:txBody>
      </p:sp>
      <p:pic>
        <p:nvPicPr>
          <p:cNvPr id="24" name="Image 4" descr="assets/odysra_logo.png">    </p:cNvPr>
          <p:cNvPicPr>
            <a:picLocks noChangeAspect="1"/>
          </p:cNvPicPr>
          <p:nvPr/>
        </p:nvPicPr>
        <p:blipFill>
          <a:blip r:embed="rId6"/>
          <a:stretch>
            <a:fillRect/>
          </a:stretch>
        </p:blipFill>
        <p:spPr>
          <a:xfrm>
            <a:off x="11521440" y="6236208"/>
            <a:ext cx="475488" cy="47548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77240" y="640080"/>
            <a:ext cx="8229600" cy="320040"/>
          </a:xfrm>
          <a:prstGeom prst="rect">
            <a:avLst/>
          </a:prstGeom>
          <a:noFill/>
          <a:ln/>
        </p:spPr>
        <p:txBody>
          <a:bodyPr wrap="square" lIns="0" tIns="0" rIns="0" bIns="0" rtlCol="0" anchor="ctr"/>
          <a:lstStyle/>
          <a:p>
            <a:pPr indent="0" marL="0">
              <a:buNone/>
            </a:pPr>
            <a:r>
              <a:rPr lang="en-US" sz="1250" b="1" spc="300" kern="0" dirty="0">
                <a:solidFill>
                  <a:srgbClr val="D9A93C"/>
                </a:solidFill>
                <a:latin typeface="Inter" pitchFamily="34" charset="0"/>
                <a:ea typeface="Inter" pitchFamily="34" charset="-122"/>
                <a:cs typeface="Inter" pitchFamily="34" charset="-120"/>
              </a:rPr>
              <a:t>EXPECTED OUTCOMES</a:t>
            </a:r>
            <a:endParaRPr lang="en-US" sz="1250" dirty="0"/>
          </a:p>
        </p:txBody>
      </p:sp>
      <p:sp>
        <p:nvSpPr>
          <p:cNvPr id="3" name="Text 1"/>
          <p:cNvSpPr/>
          <p:nvPr/>
        </p:nvSpPr>
        <p:spPr>
          <a:xfrm>
            <a:off x="777240" y="1005840"/>
            <a:ext cx="10058400" cy="822960"/>
          </a:xfrm>
          <a:prstGeom prst="rect">
            <a:avLst/>
          </a:prstGeom>
          <a:noFill/>
          <a:ln/>
        </p:spPr>
        <p:txBody>
          <a:bodyPr wrap="square" lIns="0" tIns="0" rIns="0" bIns="0" rtlCol="0" anchor="ctr"/>
          <a:lstStyle/>
          <a:p>
            <a:pPr indent="0" marL="0">
              <a:buNone/>
            </a:pPr>
            <a:r>
              <a:rPr lang="en-US" sz="3000" b="1" dirty="0">
                <a:solidFill>
                  <a:srgbClr val="FFFFFF"/>
                </a:solidFill>
                <a:latin typeface="Montserrat" pitchFamily="34" charset="0"/>
                <a:ea typeface="Montserrat" pitchFamily="34" charset="-122"/>
                <a:cs typeface="Montserrat" pitchFamily="34" charset="-120"/>
              </a:rPr>
              <a:t>What success looks like.</a:t>
            </a:r>
            <a:endParaRPr lang="en-US" sz="3000" dirty="0"/>
          </a:p>
        </p:txBody>
      </p:sp>
      <p:sp>
        <p:nvSpPr>
          <p:cNvPr id="4" name="Shape 2"/>
          <p:cNvSpPr/>
          <p:nvPr/>
        </p:nvSpPr>
        <p:spPr>
          <a:xfrm>
            <a:off x="548640" y="2286000"/>
            <a:ext cx="2615184" cy="2926080"/>
          </a:xfrm>
          <a:prstGeom prst="roundRect">
            <a:avLst>
              <a:gd name="adj" fmla="val 4196"/>
            </a:avLst>
          </a:prstGeom>
          <a:solidFill>
            <a:srgbClr val="5E4A28"/>
          </a:solidFill>
          <a:ln w="12700">
            <a:solidFill>
              <a:srgbClr val="9C4250"/>
            </a:solidFill>
            <a:prstDash val="solid"/>
          </a:ln>
        </p:spPr>
      </p:sp>
      <p:sp>
        <p:nvSpPr>
          <p:cNvPr id="5" name="Shape 3"/>
          <p:cNvSpPr/>
          <p:nvPr/>
        </p:nvSpPr>
        <p:spPr>
          <a:xfrm>
            <a:off x="1353312" y="2651760"/>
            <a:ext cx="1005840" cy="1005840"/>
          </a:xfrm>
          <a:prstGeom prst="ellipse">
            <a:avLst/>
          </a:prstGeom>
          <a:solidFill>
            <a:srgbClr val="2A1E10"/>
          </a:solidFill>
          <a:ln w="25400">
            <a:solidFill>
              <a:srgbClr val="D9A93C"/>
            </a:solidFill>
            <a:prstDash val="solid"/>
          </a:ln>
        </p:spPr>
      </p:sp>
      <p:pic>
        <p:nvPicPr>
          <p:cNvPr id="6" name="Image 0" descr="assets/icons/arrowup_gold.png">    </p:cNvPr>
          <p:cNvPicPr>
            <a:picLocks noChangeAspect="1"/>
          </p:cNvPicPr>
          <p:nvPr/>
        </p:nvPicPr>
        <p:blipFill>
          <a:blip r:embed="rId2"/>
          <a:stretch>
            <a:fillRect/>
          </a:stretch>
        </p:blipFill>
        <p:spPr>
          <a:xfrm>
            <a:off x="1600200" y="2852928"/>
            <a:ext cx="512064" cy="512064"/>
          </a:xfrm>
          <a:prstGeom prst="rect">
            <a:avLst/>
          </a:prstGeom>
        </p:spPr>
      </p:pic>
      <p:sp>
        <p:nvSpPr>
          <p:cNvPr id="7" name="Text 4"/>
          <p:cNvSpPr/>
          <p:nvPr/>
        </p:nvSpPr>
        <p:spPr>
          <a:xfrm>
            <a:off x="731520" y="3840480"/>
            <a:ext cx="2249424" cy="640080"/>
          </a:xfrm>
          <a:prstGeom prst="rect">
            <a:avLst/>
          </a:prstGeom>
          <a:noFill/>
          <a:ln/>
        </p:spPr>
        <p:txBody>
          <a:bodyPr wrap="square" lIns="0" tIns="0" rIns="0" bIns="0" rtlCol="0" anchor="t"/>
          <a:lstStyle/>
          <a:p>
            <a:pPr algn="ctr" indent="0" marL="0">
              <a:lnSpc>
                <a:spcPct val="95000"/>
              </a:lnSpc>
              <a:buNone/>
            </a:pPr>
            <a:r>
              <a:rPr lang="en-US" sz="1700" b="1" dirty="0">
                <a:solidFill>
                  <a:srgbClr val="FFFFFF"/>
                </a:solidFill>
                <a:latin typeface="Montserrat" pitchFamily="34" charset="0"/>
                <a:ea typeface="Montserrat" pitchFamily="34" charset="-122"/>
                <a:cs typeface="Montserrat" pitchFamily="34" charset="-120"/>
              </a:rPr>
              <a:t>Average bill</a:t>
            </a:r>
            <a:endParaRPr lang="en-US" sz="1700" dirty="0"/>
          </a:p>
        </p:txBody>
      </p:sp>
      <p:sp>
        <p:nvSpPr>
          <p:cNvPr id="8" name="Text 5"/>
          <p:cNvSpPr/>
          <p:nvPr/>
        </p:nvSpPr>
        <p:spPr>
          <a:xfrm>
            <a:off x="777240" y="4480560"/>
            <a:ext cx="2157984" cy="640080"/>
          </a:xfrm>
          <a:prstGeom prst="rect">
            <a:avLst/>
          </a:prstGeom>
          <a:noFill/>
          <a:ln/>
        </p:spPr>
        <p:txBody>
          <a:bodyPr wrap="square" lIns="0" tIns="0" rIns="0" bIns="0" rtlCol="0" anchor="ctr"/>
          <a:lstStyle/>
          <a:p>
            <a:pPr algn="ctr" indent="0" marL="0">
              <a:lnSpc>
                <a:spcPct val="100000"/>
              </a:lnSpc>
              <a:buNone/>
            </a:pPr>
            <a:r>
              <a:rPr lang="en-US" sz="1150" dirty="0">
                <a:solidFill>
                  <a:srgbClr val="F0DFCF"/>
                </a:solidFill>
                <a:latin typeface="Inter" pitchFamily="34" charset="0"/>
                <a:ea typeface="Inter" pitchFamily="34" charset="-122"/>
                <a:cs typeface="Inter" pitchFamily="34" charset="-120"/>
              </a:rPr>
              <a:t>Gentle, honest upselling on every table.</a:t>
            </a:r>
            <a:endParaRPr lang="en-US" sz="1150" dirty="0"/>
          </a:p>
        </p:txBody>
      </p:sp>
      <p:sp>
        <p:nvSpPr>
          <p:cNvPr id="9" name="Shape 6"/>
          <p:cNvSpPr/>
          <p:nvPr/>
        </p:nvSpPr>
        <p:spPr>
          <a:xfrm>
            <a:off x="3447288" y="2286000"/>
            <a:ext cx="2615184" cy="2926080"/>
          </a:xfrm>
          <a:prstGeom prst="roundRect">
            <a:avLst>
              <a:gd name="adj" fmla="val 4196"/>
            </a:avLst>
          </a:prstGeom>
          <a:solidFill>
            <a:srgbClr val="5E4A28"/>
          </a:solidFill>
          <a:ln w="12700">
            <a:solidFill>
              <a:srgbClr val="9C4250"/>
            </a:solidFill>
            <a:prstDash val="solid"/>
          </a:ln>
        </p:spPr>
      </p:sp>
      <p:sp>
        <p:nvSpPr>
          <p:cNvPr id="10" name="Shape 7"/>
          <p:cNvSpPr/>
          <p:nvPr/>
        </p:nvSpPr>
        <p:spPr>
          <a:xfrm>
            <a:off x="4251960" y="2651760"/>
            <a:ext cx="1005840" cy="1005840"/>
          </a:xfrm>
          <a:prstGeom prst="ellipse">
            <a:avLst/>
          </a:prstGeom>
          <a:solidFill>
            <a:srgbClr val="2A1E10"/>
          </a:solidFill>
          <a:ln w="25400">
            <a:solidFill>
              <a:srgbClr val="D9A93C"/>
            </a:solidFill>
            <a:prstDash val="solid"/>
          </a:ln>
        </p:spPr>
      </p:sp>
      <p:pic>
        <p:nvPicPr>
          <p:cNvPr id="11" name="Image 1" descr="assets/icons/arrowdown_gold.png">    </p:cNvPr>
          <p:cNvPicPr>
            <a:picLocks noChangeAspect="1"/>
          </p:cNvPicPr>
          <p:nvPr/>
        </p:nvPicPr>
        <p:blipFill>
          <a:blip r:embed="rId3"/>
          <a:stretch>
            <a:fillRect/>
          </a:stretch>
        </p:blipFill>
        <p:spPr>
          <a:xfrm>
            <a:off x="4498848" y="2852928"/>
            <a:ext cx="512064" cy="512064"/>
          </a:xfrm>
          <a:prstGeom prst="rect">
            <a:avLst/>
          </a:prstGeom>
        </p:spPr>
      </p:pic>
      <p:sp>
        <p:nvSpPr>
          <p:cNvPr id="12" name="Text 8"/>
          <p:cNvSpPr/>
          <p:nvPr/>
        </p:nvSpPr>
        <p:spPr>
          <a:xfrm>
            <a:off x="3630168" y="3840480"/>
            <a:ext cx="2249424" cy="640080"/>
          </a:xfrm>
          <a:prstGeom prst="rect">
            <a:avLst/>
          </a:prstGeom>
          <a:noFill/>
          <a:ln/>
        </p:spPr>
        <p:txBody>
          <a:bodyPr wrap="square" lIns="0" tIns="0" rIns="0" bIns="0" rtlCol="0" anchor="t"/>
          <a:lstStyle/>
          <a:p>
            <a:pPr algn="ctr" indent="0" marL="0">
              <a:lnSpc>
                <a:spcPct val="95000"/>
              </a:lnSpc>
              <a:buNone/>
            </a:pPr>
            <a:r>
              <a:rPr lang="en-US" sz="1700" b="1" dirty="0">
                <a:solidFill>
                  <a:srgbClr val="FFFFFF"/>
                </a:solidFill>
                <a:latin typeface="Montserrat" pitchFamily="34" charset="0"/>
                <a:ea typeface="Montserrat" pitchFamily="34" charset="-122"/>
                <a:cs typeface="Montserrat" pitchFamily="34" charset="-120"/>
              </a:rPr>
              <a:t>Wait for answers</a:t>
            </a:r>
            <a:endParaRPr lang="en-US" sz="1700" dirty="0"/>
          </a:p>
        </p:txBody>
      </p:sp>
      <p:sp>
        <p:nvSpPr>
          <p:cNvPr id="13" name="Text 9"/>
          <p:cNvSpPr/>
          <p:nvPr/>
        </p:nvSpPr>
        <p:spPr>
          <a:xfrm>
            <a:off x="3675888" y="4480560"/>
            <a:ext cx="2157984" cy="640080"/>
          </a:xfrm>
          <a:prstGeom prst="rect">
            <a:avLst/>
          </a:prstGeom>
          <a:noFill/>
          <a:ln/>
        </p:spPr>
        <p:txBody>
          <a:bodyPr wrap="square" lIns="0" tIns="0" rIns="0" bIns="0" rtlCol="0" anchor="ctr"/>
          <a:lstStyle/>
          <a:p>
            <a:pPr algn="ctr" indent="0" marL="0">
              <a:lnSpc>
                <a:spcPct val="100000"/>
              </a:lnSpc>
              <a:buNone/>
            </a:pPr>
            <a:r>
              <a:rPr lang="en-US" sz="1150" dirty="0">
                <a:solidFill>
                  <a:srgbClr val="F0DFCF"/>
                </a:solidFill>
                <a:latin typeface="Inter" pitchFamily="34" charset="0"/>
                <a:ea typeface="Inter" pitchFamily="34" charset="-122"/>
                <a:cs typeface="Inter" pitchFamily="34" charset="-120"/>
              </a:rPr>
              <a:t>Guests get help instantly, even at peak.</a:t>
            </a:r>
            <a:endParaRPr lang="en-US" sz="1150" dirty="0"/>
          </a:p>
        </p:txBody>
      </p:sp>
      <p:sp>
        <p:nvSpPr>
          <p:cNvPr id="14" name="Shape 10"/>
          <p:cNvSpPr/>
          <p:nvPr/>
        </p:nvSpPr>
        <p:spPr>
          <a:xfrm>
            <a:off x="6345936" y="2286000"/>
            <a:ext cx="2615184" cy="2926080"/>
          </a:xfrm>
          <a:prstGeom prst="roundRect">
            <a:avLst>
              <a:gd name="adj" fmla="val 4196"/>
            </a:avLst>
          </a:prstGeom>
          <a:solidFill>
            <a:srgbClr val="5E4A28"/>
          </a:solidFill>
          <a:ln w="12700">
            <a:solidFill>
              <a:srgbClr val="9C4250"/>
            </a:solidFill>
            <a:prstDash val="solid"/>
          </a:ln>
        </p:spPr>
      </p:sp>
      <p:sp>
        <p:nvSpPr>
          <p:cNvPr id="15" name="Shape 11"/>
          <p:cNvSpPr/>
          <p:nvPr/>
        </p:nvSpPr>
        <p:spPr>
          <a:xfrm>
            <a:off x="7150608" y="2651760"/>
            <a:ext cx="1005840" cy="1005840"/>
          </a:xfrm>
          <a:prstGeom prst="ellipse">
            <a:avLst/>
          </a:prstGeom>
          <a:solidFill>
            <a:srgbClr val="2A1E10"/>
          </a:solidFill>
          <a:ln w="25400">
            <a:solidFill>
              <a:srgbClr val="D9A93C"/>
            </a:solidFill>
            <a:prstDash val="solid"/>
          </a:ln>
        </p:spPr>
      </p:sp>
      <p:pic>
        <p:nvPicPr>
          <p:cNvPr id="16" name="Image 2" descr="assets/icons/arrowup_gold.png">    </p:cNvPr>
          <p:cNvPicPr>
            <a:picLocks noChangeAspect="1"/>
          </p:cNvPicPr>
          <p:nvPr/>
        </p:nvPicPr>
        <p:blipFill>
          <a:blip r:embed="rId4"/>
          <a:stretch>
            <a:fillRect/>
          </a:stretch>
        </p:blipFill>
        <p:spPr>
          <a:xfrm>
            <a:off x="7397496" y="2852928"/>
            <a:ext cx="512064" cy="512064"/>
          </a:xfrm>
          <a:prstGeom prst="rect">
            <a:avLst/>
          </a:prstGeom>
        </p:spPr>
      </p:pic>
      <p:sp>
        <p:nvSpPr>
          <p:cNvPr id="17" name="Text 12"/>
          <p:cNvSpPr/>
          <p:nvPr/>
        </p:nvSpPr>
        <p:spPr>
          <a:xfrm>
            <a:off x="6528816" y="3840480"/>
            <a:ext cx="2249424" cy="640080"/>
          </a:xfrm>
          <a:prstGeom prst="rect">
            <a:avLst/>
          </a:prstGeom>
          <a:noFill/>
          <a:ln/>
        </p:spPr>
        <p:txBody>
          <a:bodyPr wrap="square" lIns="0" tIns="0" rIns="0" bIns="0" rtlCol="0" anchor="t"/>
          <a:lstStyle/>
          <a:p>
            <a:pPr algn="ctr" indent="0" marL="0">
              <a:lnSpc>
                <a:spcPct val="95000"/>
              </a:lnSpc>
              <a:buNone/>
            </a:pPr>
            <a:r>
              <a:rPr lang="en-US" sz="1700" b="1" dirty="0">
                <a:solidFill>
                  <a:srgbClr val="FFFFFF"/>
                </a:solidFill>
                <a:latin typeface="Montserrat" pitchFamily="34" charset="0"/>
                <a:ea typeface="Montserrat" pitchFamily="34" charset="-122"/>
                <a:cs typeface="Montserrat" pitchFamily="34" charset="-120"/>
              </a:rPr>
              <a:t>Banquet leads</a:t>
            </a:r>
            <a:endParaRPr lang="en-US" sz="1700" dirty="0"/>
          </a:p>
        </p:txBody>
      </p:sp>
      <p:sp>
        <p:nvSpPr>
          <p:cNvPr id="18" name="Text 13"/>
          <p:cNvSpPr/>
          <p:nvPr/>
        </p:nvSpPr>
        <p:spPr>
          <a:xfrm>
            <a:off x="6574536" y="4480560"/>
            <a:ext cx="2157984" cy="640080"/>
          </a:xfrm>
          <a:prstGeom prst="rect">
            <a:avLst/>
          </a:prstGeom>
          <a:noFill/>
          <a:ln/>
        </p:spPr>
        <p:txBody>
          <a:bodyPr wrap="square" lIns="0" tIns="0" rIns="0" bIns="0" rtlCol="0" anchor="ctr"/>
          <a:lstStyle/>
          <a:p>
            <a:pPr algn="ctr" indent="0" marL="0">
              <a:lnSpc>
                <a:spcPct val="100000"/>
              </a:lnSpc>
              <a:buNone/>
            </a:pPr>
            <a:r>
              <a:rPr lang="en-US" sz="1150" dirty="0">
                <a:solidFill>
                  <a:srgbClr val="F0DFCF"/>
                </a:solidFill>
                <a:latin typeface="Inter" pitchFamily="34" charset="0"/>
                <a:ea typeface="Inter" pitchFamily="34" charset="-122"/>
                <a:cs typeface="Inter" pitchFamily="34" charset="-120"/>
              </a:rPr>
              <a:t>Round-the-clock enquiry capture.</a:t>
            </a:r>
            <a:endParaRPr lang="en-US" sz="1150" dirty="0"/>
          </a:p>
        </p:txBody>
      </p:sp>
      <p:sp>
        <p:nvSpPr>
          <p:cNvPr id="19" name="Shape 14"/>
          <p:cNvSpPr/>
          <p:nvPr/>
        </p:nvSpPr>
        <p:spPr>
          <a:xfrm>
            <a:off x="9244584" y="2286000"/>
            <a:ext cx="2615184" cy="2926080"/>
          </a:xfrm>
          <a:prstGeom prst="roundRect">
            <a:avLst>
              <a:gd name="adj" fmla="val 4196"/>
            </a:avLst>
          </a:prstGeom>
          <a:solidFill>
            <a:srgbClr val="5E4A28"/>
          </a:solidFill>
          <a:ln w="12700">
            <a:solidFill>
              <a:srgbClr val="9C4250"/>
            </a:solidFill>
            <a:prstDash val="solid"/>
          </a:ln>
        </p:spPr>
      </p:sp>
      <p:sp>
        <p:nvSpPr>
          <p:cNvPr id="20" name="Shape 15"/>
          <p:cNvSpPr/>
          <p:nvPr/>
        </p:nvSpPr>
        <p:spPr>
          <a:xfrm>
            <a:off x="10049256" y="2651760"/>
            <a:ext cx="1005840" cy="1005840"/>
          </a:xfrm>
          <a:prstGeom prst="ellipse">
            <a:avLst/>
          </a:prstGeom>
          <a:solidFill>
            <a:srgbClr val="2A1E10"/>
          </a:solidFill>
          <a:ln w="25400">
            <a:solidFill>
              <a:srgbClr val="D9A93C"/>
            </a:solidFill>
            <a:prstDash val="solid"/>
          </a:ln>
        </p:spPr>
      </p:sp>
      <p:pic>
        <p:nvPicPr>
          <p:cNvPr id="21" name="Image 3" descr="assets/icons/arrowup_gold.png">    </p:cNvPr>
          <p:cNvPicPr>
            <a:picLocks noChangeAspect="1"/>
          </p:cNvPicPr>
          <p:nvPr/>
        </p:nvPicPr>
        <p:blipFill>
          <a:blip r:embed="rId5"/>
          <a:stretch>
            <a:fillRect/>
          </a:stretch>
        </p:blipFill>
        <p:spPr>
          <a:xfrm>
            <a:off x="10296144" y="2852928"/>
            <a:ext cx="512064" cy="512064"/>
          </a:xfrm>
          <a:prstGeom prst="rect">
            <a:avLst/>
          </a:prstGeom>
        </p:spPr>
      </p:pic>
      <p:sp>
        <p:nvSpPr>
          <p:cNvPr id="22" name="Text 16"/>
          <p:cNvSpPr/>
          <p:nvPr/>
        </p:nvSpPr>
        <p:spPr>
          <a:xfrm>
            <a:off x="9427464" y="3840480"/>
            <a:ext cx="2249424" cy="640080"/>
          </a:xfrm>
          <a:prstGeom prst="rect">
            <a:avLst/>
          </a:prstGeom>
          <a:noFill/>
          <a:ln/>
        </p:spPr>
        <p:txBody>
          <a:bodyPr wrap="square" lIns="0" tIns="0" rIns="0" bIns="0" rtlCol="0" anchor="t"/>
          <a:lstStyle/>
          <a:p>
            <a:pPr algn="ctr" indent="0" marL="0">
              <a:lnSpc>
                <a:spcPct val="95000"/>
              </a:lnSpc>
              <a:buNone/>
            </a:pPr>
            <a:r>
              <a:rPr lang="en-US" sz="1700" b="1" dirty="0">
                <a:solidFill>
                  <a:srgbClr val="FFFFFF"/>
                </a:solidFill>
                <a:latin typeface="Montserrat" pitchFamily="34" charset="0"/>
                <a:ea typeface="Montserrat" pitchFamily="34" charset="-122"/>
                <a:cs typeface="Montserrat" pitchFamily="34" charset="-120"/>
              </a:rPr>
              <a:t>Guest delight &amp; repeats</a:t>
            </a:r>
            <a:endParaRPr lang="en-US" sz="1700" dirty="0"/>
          </a:p>
        </p:txBody>
      </p:sp>
      <p:sp>
        <p:nvSpPr>
          <p:cNvPr id="23" name="Text 17"/>
          <p:cNvSpPr/>
          <p:nvPr/>
        </p:nvSpPr>
        <p:spPr>
          <a:xfrm>
            <a:off x="9473184" y="4480560"/>
            <a:ext cx="2157984" cy="640080"/>
          </a:xfrm>
          <a:prstGeom prst="rect">
            <a:avLst/>
          </a:prstGeom>
          <a:noFill/>
          <a:ln/>
        </p:spPr>
        <p:txBody>
          <a:bodyPr wrap="square" lIns="0" tIns="0" rIns="0" bIns="0" rtlCol="0" anchor="ctr"/>
          <a:lstStyle/>
          <a:p>
            <a:pPr algn="ctr" indent="0" marL="0">
              <a:lnSpc>
                <a:spcPct val="100000"/>
              </a:lnSpc>
              <a:buNone/>
            </a:pPr>
            <a:r>
              <a:rPr lang="en-US" sz="1150" dirty="0">
                <a:solidFill>
                  <a:srgbClr val="F0DFCF"/>
                </a:solidFill>
                <a:latin typeface="Inter" pitchFamily="34" charset="0"/>
                <a:ea typeface="Inter" pitchFamily="34" charset="-122"/>
                <a:cs typeface="Inter" pitchFamily="34" charset="-120"/>
              </a:rPr>
              <a:t>A memorable, modern dining touch.</a:t>
            </a:r>
            <a:endParaRPr lang="en-US" sz="1150" dirty="0"/>
          </a:p>
        </p:txBody>
      </p:sp>
      <p:sp>
        <p:nvSpPr>
          <p:cNvPr id="24" name="Text 18"/>
          <p:cNvSpPr/>
          <p:nvPr/>
        </p:nvSpPr>
        <p:spPr>
          <a:xfrm>
            <a:off x="548640" y="5715000"/>
            <a:ext cx="11064240" cy="365760"/>
          </a:xfrm>
          <a:prstGeom prst="rect">
            <a:avLst/>
          </a:prstGeom>
          <a:noFill/>
          <a:ln/>
        </p:spPr>
        <p:txBody>
          <a:bodyPr wrap="square" lIns="0" tIns="0" rIns="0" bIns="0" rtlCol="0" anchor="ctr"/>
          <a:lstStyle/>
          <a:p>
            <a:pPr algn="ctr" indent="0" marL="0">
              <a:buNone/>
            </a:pPr>
            <a:r>
              <a:rPr lang="en-US" sz="1150" i="1" dirty="0">
                <a:solidFill>
                  <a:srgbClr val="D8C39A"/>
                </a:solidFill>
                <a:latin typeface="Inter" pitchFamily="34" charset="0"/>
                <a:ea typeface="Inter" pitchFamily="34" charset="-122"/>
                <a:cs typeface="Inter" pitchFamily="34" charset="-120"/>
              </a:rPr>
              <a:t>Directional, based on how guided menus and digital ordering perform — actuals firm up during the pilot.</a:t>
            </a:r>
            <a:endParaRPr lang="en-US" sz="1150" dirty="0"/>
          </a:p>
        </p:txBody>
      </p:sp>
      <p:pic>
        <p:nvPicPr>
          <p:cNvPr id="25" name="Image 4" descr="assets/odysra_logo.png">    </p:cNvPr>
          <p:cNvPicPr>
            <a:picLocks noChangeAspect="1"/>
          </p:cNvPicPr>
          <p:nvPr/>
        </p:nvPicPr>
        <p:blipFill>
          <a:blip r:embed="rId6"/>
          <a:stretch>
            <a:fillRect/>
          </a:stretch>
        </p:blipFill>
        <p:spPr>
          <a:xfrm>
            <a:off x="11521440" y="6236208"/>
            <a:ext cx="475488" cy="47548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77240" y="640080"/>
            <a:ext cx="8229600" cy="320040"/>
          </a:xfrm>
          <a:prstGeom prst="rect">
            <a:avLst/>
          </a:prstGeom>
          <a:noFill/>
          <a:ln/>
        </p:spPr>
        <p:txBody>
          <a:bodyPr wrap="square" lIns="0" tIns="0" rIns="0" bIns="0" rtlCol="0" anchor="ctr"/>
          <a:lstStyle/>
          <a:p>
            <a:pPr indent="0" marL="0">
              <a:buNone/>
            </a:pPr>
            <a:r>
              <a:rPr lang="en-US" sz="1250" b="1" spc="300" kern="0" dirty="0">
                <a:solidFill>
                  <a:srgbClr val="D9A93C"/>
                </a:solidFill>
                <a:latin typeface="Inter" pitchFamily="34" charset="0"/>
                <a:ea typeface="Inter" pitchFamily="34" charset="-122"/>
                <a:cs typeface="Inter" pitchFamily="34" charset="-120"/>
              </a:rPr>
              <a:t>WHERE THIS GOES NEXT</a:t>
            </a:r>
            <a:endParaRPr lang="en-US" sz="1250" dirty="0"/>
          </a:p>
        </p:txBody>
      </p:sp>
      <p:sp>
        <p:nvSpPr>
          <p:cNvPr id="3" name="Text 1"/>
          <p:cNvSpPr/>
          <p:nvPr/>
        </p:nvSpPr>
        <p:spPr>
          <a:xfrm>
            <a:off x="777240" y="1005840"/>
            <a:ext cx="10607040" cy="822960"/>
          </a:xfrm>
          <a:prstGeom prst="rect">
            <a:avLst/>
          </a:prstGeom>
          <a:noFill/>
          <a:ln/>
        </p:spPr>
        <p:txBody>
          <a:bodyPr wrap="square" lIns="0" tIns="0" rIns="0" bIns="0" rtlCol="0" anchor="ctr"/>
          <a:lstStyle/>
          <a:p>
            <a:pPr indent="0" marL="0">
              <a:buNone/>
            </a:pPr>
            <a:r>
              <a:rPr lang="en-US" sz="2900" b="1" dirty="0">
                <a:solidFill>
                  <a:srgbClr val="FFFFFF"/>
                </a:solidFill>
                <a:latin typeface="Montserrat" pitchFamily="34" charset="0"/>
                <a:ea typeface="Montserrat" pitchFamily="34" charset="-122"/>
                <a:cs typeface="Montserrat" pitchFamily="34" charset="-120"/>
              </a:rPr>
              <a:t>We're starting with chat. We're not stopping there.</a:t>
            </a:r>
            <a:endParaRPr lang="en-US" sz="2900" dirty="0"/>
          </a:p>
        </p:txBody>
      </p:sp>
      <p:sp>
        <p:nvSpPr>
          <p:cNvPr id="4" name="Shape 2"/>
          <p:cNvSpPr/>
          <p:nvPr/>
        </p:nvSpPr>
        <p:spPr>
          <a:xfrm>
            <a:off x="740664" y="2194560"/>
            <a:ext cx="3474720" cy="1783080"/>
          </a:xfrm>
          <a:prstGeom prst="roundRect">
            <a:avLst>
              <a:gd name="adj" fmla="val 5128"/>
            </a:avLst>
          </a:prstGeom>
          <a:solidFill>
            <a:srgbClr val="5E4A28"/>
          </a:solidFill>
          <a:ln w="12700">
            <a:solidFill>
              <a:srgbClr val="9C4250"/>
            </a:solidFill>
            <a:prstDash val="solid"/>
          </a:ln>
        </p:spPr>
      </p:sp>
      <p:sp>
        <p:nvSpPr>
          <p:cNvPr id="5" name="Shape 3"/>
          <p:cNvSpPr/>
          <p:nvPr/>
        </p:nvSpPr>
        <p:spPr>
          <a:xfrm>
            <a:off x="996696" y="2468880"/>
            <a:ext cx="713232" cy="713232"/>
          </a:xfrm>
          <a:prstGeom prst="ellipse">
            <a:avLst/>
          </a:prstGeom>
          <a:solidFill>
            <a:srgbClr val="2A1E10"/>
          </a:solidFill>
          <a:ln/>
        </p:spPr>
      </p:sp>
      <p:pic>
        <p:nvPicPr>
          <p:cNvPr id="6" name="Image 0" descr="assets/icons/video_gold.png">    </p:cNvPr>
          <p:cNvPicPr>
            <a:picLocks noChangeAspect="1"/>
          </p:cNvPicPr>
          <p:nvPr/>
        </p:nvPicPr>
        <p:blipFill>
          <a:blip r:embed="rId2"/>
          <a:stretch>
            <a:fillRect/>
          </a:stretch>
        </p:blipFill>
        <p:spPr>
          <a:xfrm>
            <a:off x="1175004" y="2647188"/>
            <a:ext cx="356616" cy="356616"/>
          </a:xfrm>
          <a:prstGeom prst="rect">
            <a:avLst/>
          </a:prstGeom>
        </p:spPr>
      </p:pic>
      <p:sp>
        <p:nvSpPr>
          <p:cNvPr id="7" name="Text 4"/>
          <p:cNvSpPr/>
          <p:nvPr/>
        </p:nvSpPr>
        <p:spPr>
          <a:xfrm>
            <a:off x="1837944" y="2487168"/>
            <a:ext cx="2194560" cy="640080"/>
          </a:xfrm>
          <a:prstGeom prst="rect">
            <a:avLst/>
          </a:prstGeom>
          <a:noFill/>
          <a:ln/>
        </p:spPr>
        <p:txBody>
          <a:bodyPr wrap="square" lIns="0" tIns="0" rIns="0" bIns="0" rtlCol="0" anchor="ctr"/>
          <a:lstStyle/>
          <a:p>
            <a:pPr indent="0" marL="0">
              <a:buNone/>
            </a:pPr>
            <a:r>
              <a:rPr lang="en-US" sz="1550" b="1" dirty="0">
                <a:solidFill>
                  <a:srgbClr val="EAC158"/>
                </a:solidFill>
                <a:latin typeface="Montserrat" pitchFamily="34" charset="0"/>
                <a:ea typeface="Montserrat" pitchFamily="34" charset="-122"/>
                <a:cs typeface="Montserrat" pitchFamily="34" charset="-120"/>
              </a:rPr>
              <a:t>Dish videos</a:t>
            </a:r>
            <a:endParaRPr lang="en-US" sz="1550" dirty="0"/>
          </a:p>
        </p:txBody>
      </p:sp>
      <p:sp>
        <p:nvSpPr>
          <p:cNvPr id="8" name="Text 5"/>
          <p:cNvSpPr/>
          <p:nvPr/>
        </p:nvSpPr>
        <p:spPr>
          <a:xfrm>
            <a:off x="1837944" y="3127248"/>
            <a:ext cx="2194560" cy="731520"/>
          </a:xfrm>
          <a:prstGeom prst="rect">
            <a:avLst/>
          </a:prstGeom>
          <a:noFill/>
          <a:ln/>
        </p:spPr>
        <p:txBody>
          <a:bodyPr wrap="square" lIns="0" tIns="0" rIns="0" bIns="0" rtlCol="0" anchor="ctr"/>
          <a:lstStyle/>
          <a:p>
            <a:pPr indent="0" marL="0">
              <a:lnSpc>
                <a:spcPct val="100000"/>
              </a:lnSpc>
              <a:buNone/>
            </a:pPr>
            <a:r>
              <a:rPr lang="en-US" sz="1120" dirty="0">
                <a:solidFill>
                  <a:srgbClr val="F0DFCF"/>
                </a:solidFill>
                <a:latin typeface="Inter" pitchFamily="34" charset="0"/>
                <a:ea typeface="Inter" pitchFamily="34" charset="-122"/>
                <a:cs typeface="Inter" pitchFamily="34" charset="-120"/>
              </a:rPr>
              <a:t>Short clips so guests see the sizzle, not just a photo.</a:t>
            </a:r>
            <a:endParaRPr lang="en-US" sz="1120" dirty="0"/>
          </a:p>
        </p:txBody>
      </p:sp>
      <p:sp>
        <p:nvSpPr>
          <p:cNvPr id="9" name="Shape 6"/>
          <p:cNvSpPr/>
          <p:nvPr/>
        </p:nvSpPr>
        <p:spPr>
          <a:xfrm>
            <a:off x="4352544" y="2194560"/>
            <a:ext cx="3474720" cy="1783080"/>
          </a:xfrm>
          <a:prstGeom prst="roundRect">
            <a:avLst>
              <a:gd name="adj" fmla="val 5128"/>
            </a:avLst>
          </a:prstGeom>
          <a:solidFill>
            <a:srgbClr val="5E4A28"/>
          </a:solidFill>
          <a:ln w="12700">
            <a:solidFill>
              <a:srgbClr val="9C4250"/>
            </a:solidFill>
            <a:prstDash val="solid"/>
          </a:ln>
        </p:spPr>
      </p:sp>
      <p:sp>
        <p:nvSpPr>
          <p:cNvPr id="10" name="Shape 7"/>
          <p:cNvSpPr/>
          <p:nvPr/>
        </p:nvSpPr>
        <p:spPr>
          <a:xfrm>
            <a:off x="4608576" y="2468880"/>
            <a:ext cx="713232" cy="713232"/>
          </a:xfrm>
          <a:prstGeom prst="ellipse">
            <a:avLst/>
          </a:prstGeom>
          <a:solidFill>
            <a:srgbClr val="2A1E10"/>
          </a:solidFill>
          <a:ln/>
        </p:spPr>
      </p:sp>
      <p:pic>
        <p:nvPicPr>
          <p:cNvPr id="11" name="Image 1" descr="assets/icons/cube_gold.png">    </p:cNvPr>
          <p:cNvPicPr>
            <a:picLocks noChangeAspect="1"/>
          </p:cNvPicPr>
          <p:nvPr/>
        </p:nvPicPr>
        <p:blipFill>
          <a:blip r:embed="rId3"/>
          <a:stretch>
            <a:fillRect/>
          </a:stretch>
        </p:blipFill>
        <p:spPr>
          <a:xfrm>
            <a:off x="4786884" y="2647188"/>
            <a:ext cx="356616" cy="356616"/>
          </a:xfrm>
          <a:prstGeom prst="rect">
            <a:avLst/>
          </a:prstGeom>
        </p:spPr>
      </p:pic>
      <p:sp>
        <p:nvSpPr>
          <p:cNvPr id="12" name="Text 8"/>
          <p:cNvSpPr/>
          <p:nvPr/>
        </p:nvSpPr>
        <p:spPr>
          <a:xfrm>
            <a:off x="5449824" y="2487168"/>
            <a:ext cx="2194560" cy="640080"/>
          </a:xfrm>
          <a:prstGeom prst="rect">
            <a:avLst/>
          </a:prstGeom>
          <a:noFill/>
          <a:ln/>
        </p:spPr>
        <p:txBody>
          <a:bodyPr wrap="square" lIns="0" tIns="0" rIns="0" bIns="0" rtlCol="0" anchor="ctr"/>
          <a:lstStyle/>
          <a:p>
            <a:pPr indent="0" marL="0">
              <a:buNone/>
            </a:pPr>
            <a:r>
              <a:rPr lang="en-US" sz="1550" b="1" dirty="0">
                <a:solidFill>
                  <a:srgbClr val="EAC158"/>
                </a:solidFill>
                <a:latin typeface="Montserrat" pitchFamily="34" charset="0"/>
                <a:ea typeface="Montserrat" pitchFamily="34" charset="-122"/>
                <a:cs typeface="Montserrat" pitchFamily="34" charset="-120"/>
              </a:rPr>
              <a:t>AR food view</a:t>
            </a:r>
            <a:endParaRPr lang="en-US" sz="1550" dirty="0"/>
          </a:p>
        </p:txBody>
      </p:sp>
      <p:sp>
        <p:nvSpPr>
          <p:cNvPr id="13" name="Text 9"/>
          <p:cNvSpPr/>
          <p:nvPr/>
        </p:nvSpPr>
        <p:spPr>
          <a:xfrm>
            <a:off x="5449824" y="3127248"/>
            <a:ext cx="2194560" cy="731520"/>
          </a:xfrm>
          <a:prstGeom prst="rect">
            <a:avLst/>
          </a:prstGeom>
          <a:noFill/>
          <a:ln/>
        </p:spPr>
        <p:txBody>
          <a:bodyPr wrap="square" lIns="0" tIns="0" rIns="0" bIns="0" rtlCol="0" anchor="ctr"/>
          <a:lstStyle/>
          <a:p>
            <a:pPr indent="0" marL="0">
              <a:lnSpc>
                <a:spcPct val="100000"/>
              </a:lnSpc>
              <a:buNone/>
            </a:pPr>
            <a:r>
              <a:rPr lang="en-US" sz="1120" dirty="0">
                <a:solidFill>
                  <a:srgbClr val="F0DFCF"/>
                </a:solidFill>
                <a:latin typeface="Inter" pitchFamily="34" charset="0"/>
                <a:ea typeface="Inter" pitchFamily="34" charset="-122"/>
                <a:cs typeface="Inter" pitchFamily="34" charset="-120"/>
              </a:rPr>
              <a:t>Point the phone at the table and see the dish in 3D, life-size.</a:t>
            </a:r>
            <a:endParaRPr lang="en-US" sz="1120" dirty="0"/>
          </a:p>
        </p:txBody>
      </p:sp>
      <p:sp>
        <p:nvSpPr>
          <p:cNvPr id="14" name="Shape 10"/>
          <p:cNvSpPr/>
          <p:nvPr/>
        </p:nvSpPr>
        <p:spPr>
          <a:xfrm>
            <a:off x="7964424" y="2194560"/>
            <a:ext cx="3474720" cy="1783080"/>
          </a:xfrm>
          <a:prstGeom prst="roundRect">
            <a:avLst>
              <a:gd name="adj" fmla="val 5128"/>
            </a:avLst>
          </a:prstGeom>
          <a:solidFill>
            <a:srgbClr val="5E4A28"/>
          </a:solidFill>
          <a:ln w="12700">
            <a:solidFill>
              <a:srgbClr val="9C4250"/>
            </a:solidFill>
            <a:prstDash val="solid"/>
          </a:ln>
        </p:spPr>
      </p:sp>
      <p:sp>
        <p:nvSpPr>
          <p:cNvPr id="15" name="Shape 11"/>
          <p:cNvSpPr/>
          <p:nvPr/>
        </p:nvSpPr>
        <p:spPr>
          <a:xfrm>
            <a:off x="8220456" y="2468880"/>
            <a:ext cx="713232" cy="713232"/>
          </a:xfrm>
          <a:prstGeom prst="ellipse">
            <a:avLst/>
          </a:prstGeom>
          <a:solidFill>
            <a:srgbClr val="2A1E10"/>
          </a:solidFill>
          <a:ln/>
        </p:spPr>
      </p:sp>
      <p:pic>
        <p:nvPicPr>
          <p:cNvPr id="16" name="Image 2" descr="assets/icons/mic_gold.png">    </p:cNvPr>
          <p:cNvPicPr>
            <a:picLocks noChangeAspect="1"/>
          </p:cNvPicPr>
          <p:nvPr/>
        </p:nvPicPr>
        <p:blipFill>
          <a:blip r:embed="rId4"/>
          <a:stretch>
            <a:fillRect/>
          </a:stretch>
        </p:blipFill>
        <p:spPr>
          <a:xfrm>
            <a:off x="8398764" y="2647188"/>
            <a:ext cx="356616" cy="356616"/>
          </a:xfrm>
          <a:prstGeom prst="rect">
            <a:avLst/>
          </a:prstGeom>
        </p:spPr>
      </p:pic>
      <p:sp>
        <p:nvSpPr>
          <p:cNvPr id="17" name="Text 12"/>
          <p:cNvSpPr/>
          <p:nvPr/>
        </p:nvSpPr>
        <p:spPr>
          <a:xfrm>
            <a:off x="9061704" y="2487168"/>
            <a:ext cx="2194560" cy="640080"/>
          </a:xfrm>
          <a:prstGeom prst="rect">
            <a:avLst/>
          </a:prstGeom>
          <a:noFill/>
          <a:ln/>
        </p:spPr>
        <p:txBody>
          <a:bodyPr wrap="square" lIns="0" tIns="0" rIns="0" bIns="0" rtlCol="0" anchor="ctr"/>
          <a:lstStyle/>
          <a:p>
            <a:pPr indent="0" marL="0">
              <a:buNone/>
            </a:pPr>
            <a:r>
              <a:rPr lang="en-US" sz="1550" b="1" dirty="0">
                <a:solidFill>
                  <a:srgbClr val="EAC158"/>
                </a:solidFill>
                <a:latin typeface="Montserrat" pitchFamily="34" charset="0"/>
                <a:ea typeface="Montserrat" pitchFamily="34" charset="-122"/>
                <a:cs typeface="Montserrat" pitchFamily="34" charset="-120"/>
              </a:rPr>
              <a:t>Voice ordering</a:t>
            </a:r>
            <a:endParaRPr lang="en-US" sz="1550" dirty="0"/>
          </a:p>
        </p:txBody>
      </p:sp>
      <p:sp>
        <p:nvSpPr>
          <p:cNvPr id="18" name="Text 13"/>
          <p:cNvSpPr/>
          <p:nvPr/>
        </p:nvSpPr>
        <p:spPr>
          <a:xfrm>
            <a:off x="9061704" y="3127248"/>
            <a:ext cx="2194560" cy="731520"/>
          </a:xfrm>
          <a:prstGeom prst="rect">
            <a:avLst/>
          </a:prstGeom>
          <a:noFill/>
          <a:ln/>
        </p:spPr>
        <p:txBody>
          <a:bodyPr wrap="square" lIns="0" tIns="0" rIns="0" bIns="0" rtlCol="0" anchor="ctr"/>
          <a:lstStyle/>
          <a:p>
            <a:pPr indent="0" marL="0">
              <a:lnSpc>
                <a:spcPct val="100000"/>
              </a:lnSpc>
              <a:buNone/>
            </a:pPr>
            <a:r>
              <a:rPr lang="en-US" sz="1120" dirty="0">
                <a:solidFill>
                  <a:srgbClr val="F0DFCF"/>
                </a:solidFill>
                <a:latin typeface="Inter" pitchFamily="34" charset="0"/>
                <a:ea typeface="Inter" pitchFamily="34" charset="-122"/>
                <a:cs typeface="Inter" pitchFamily="34" charset="-120"/>
              </a:rPr>
              <a:t>Guests simply talk to the chatbot, hands-free.</a:t>
            </a:r>
            <a:endParaRPr lang="en-US" sz="1120" dirty="0"/>
          </a:p>
        </p:txBody>
      </p:sp>
      <p:sp>
        <p:nvSpPr>
          <p:cNvPr id="19" name="Shape 14"/>
          <p:cNvSpPr/>
          <p:nvPr/>
        </p:nvSpPr>
        <p:spPr>
          <a:xfrm>
            <a:off x="740664" y="4160520"/>
            <a:ext cx="3474720" cy="1783080"/>
          </a:xfrm>
          <a:prstGeom prst="roundRect">
            <a:avLst>
              <a:gd name="adj" fmla="val 5128"/>
            </a:avLst>
          </a:prstGeom>
          <a:solidFill>
            <a:srgbClr val="5E4A28"/>
          </a:solidFill>
          <a:ln w="12700">
            <a:solidFill>
              <a:srgbClr val="9C4250"/>
            </a:solidFill>
            <a:prstDash val="solid"/>
          </a:ln>
        </p:spPr>
      </p:sp>
      <p:sp>
        <p:nvSpPr>
          <p:cNvPr id="20" name="Shape 15"/>
          <p:cNvSpPr/>
          <p:nvPr/>
        </p:nvSpPr>
        <p:spPr>
          <a:xfrm>
            <a:off x="996696" y="4434840"/>
            <a:ext cx="713232" cy="713232"/>
          </a:xfrm>
          <a:prstGeom prst="ellipse">
            <a:avLst/>
          </a:prstGeom>
          <a:solidFill>
            <a:srgbClr val="2A1E10"/>
          </a:solidFill>
          <a:ln/>
        </p:spPr>
      </p:sp>
      <p:pic>
        <p:nvPicPr>
          <p:cNvPr id="21" name="Image 3" descr="assets/icons/user_gold.png">    </p:cNvPr>
          <p:cNvPicPr>
            <a:picLocks noChangeAspect="1"/>
          </p:cNvPicPr>
          <p:nvPr/>
        </p:nvPicPr>
        <p:blipFill>
          <a:blip r:embed="rId5"/>
          <a:stretch>
            <a:fillRect/>
          </a:stretch>
        </p:blipFill>
        <p:spPr>
          <a:xfrm>
            <a:off x="1175004" y="4613148"/>
            <a:ext cx="356616" cy="356616"/>
          </a:xfrm>
          <a:prstGeom prst="rect">
            <a:avLst/>
          </a:prstGeom>
        </p:spPr>
      </p:pic>
      <p:sp>
        <p:nvSpPr>
          <p:cNvPr id="22" name="Text 16"/>
          <p:cNvSpPr/>
          <p:nvPr/>
        </p:nvSpPr>
        <p:spPr>
          <a:xfrm>
            <a:off x="1837944" y="4453128"/>
            <a:ext cx="2194560" cy="640080"/>
          </a:xfrm>
          <a:prstGeom prst="rect">
            <a:avLst/>
          </a:prstGeom>
          <a:noFill/>
          <a:ln/>
        </p:spPr>
        <p:txBody>
          <a:bodyPr wrap="square" lIns="0" tIns="0" rIns="0" bIns="0" rtlCol="0" anchor="ctr"/>
          <a:lstStyle/>
          <a:p>
            <a:pPr indent="0" marL="0">
              <a:buNone/>
            </a:pPr>
            <a:r>
              <a:rPr lang="en-US" sz="1550" b="1" dirty="0">
                <a:solidFill>
                  <a:srgbClr val="EAC158"/>
                </a:solidFill>
                <a:latin typeface="Montserrat" pitchFamily="34" charset="0"/>
                <a:ea typeface="Montserrat" pitchFamily="34" charset="-122"/>
                <a:cs typeface="Montserrat" pitchFamily="34" charset="-120"/>
              </a:rPr>
              <a:t>Personalised regulars</a:t>
            </a:r>
            <a:endParaRPr lang="en-US" sz="1550" dirty="0"/>
          </a:p>
        </p:txBody>
      </p:sp>
      <p:sp>
        <p:nvSpPr>
          <p:cNvPr id="23" name="Text 17"/>
          <p:cNvSpPr/>
          <p:nvPr/>
        </p:nvSpPr>
        <p:spPr>
          <a:xfrm>
            <a:off x="1837944" y="5093208"/>
            <a:ext cx="2194560" cy="731520"/>
          </a:xfrm>
          <a:prstGeom prst="rect">
            <a:avLst/>
          </a:prstGeom>
          <a:noFill/>
          <a:ln/>
        </p:spPr>
        <p:txBody>
          <a:bodyPr wrap="square" lIns="0" tIns="0" rIns="0" bIns="0" rtlCol="0" anchor="ctr"/>
          <a:lstStyle/>
          <a:p>
            <a:pPr indent="0" marL="0">
              <a:lnSpc>
                <a:spcPct val="100000"/>
              </a:lnSpc>
              <a:buNone/>
            </a:pPr>
            <a:r>
              <a:rPr lang="en-US" sz="1120" dirty="0">
                <a:solidFill>
                  <a:srgbClr val="F0DFCF"/>
                </a:solidFill>
                <a:latin typeface="Inter" pitchFamily="34" charset="0"/>
                <a:ea typeface="Inter" pitchFamily="34" charset="-122"/>
                <a:cs typeface="Inter" pitchFamily="34" charset="-120"/>
              </a:rPr>
              <a:t>Signed-in guests get picks based on past visits.</a:t>
            </a:r>
            <a:endParaRPr lang="en-US" sz="1120" dirty="0"/>
          </a:p>
        </p:txBody>
      </p:sp>
      <p:sp>
        <p:nvSpPr>
          <p:cNvPr id="24" name="Shape 18"/>
          <p:cNvSpPr/>
          <p:nvPr/>
        </p:nvSpPr>
        <p:spPr>
          <a:xfrm>
            <a:off x="4352544" y="4160520"/>
            <a:ext cx="3474720" cy="1783080"/>
          </a:xfrm>
          <a:prstGeom prst="roundRect">
            <a:avLst>
              <a:gd name="adj" fmla="val 5128"/>
            </a:avLst>
          </a:prstGeom>
          <a:solidFill>
            <a:srgbClr val="5E4A28"/>
          </a:solidFill>
          <a:ln w="12700">
            <a:solidFill>
              <a:srgbClr val="9C4250"/>
            </a:solidFill>
            <a:prstDash val="solid"/>
          </a:ln>
        </p:spPr>
      </p:sp>
      <p:sp>
        <p:nvSpPr>
          <p:cNvPr id="25" name="Shape 19"/>
          <p:cNvSpPr/>
          <p:nvPr/>
        </p:nvSpPr>
        <p:spPr>
          <a:xfrm>
            <a:off x="4608576" y="4434840"/>
            <a:ext cx="713232" cy="713232"/>
          </a:xfrm>
          <a:prstGeom prst="ellipse">
            <a:avLst/>
          </a:prstGeom>
          <a:solidFill>
            <a:srgbClr val="2A1E10"/>
          </a:solidFill>
          <a:ln/>
        </p:spPr>
      </p:sp>
      <p:pic>
        <p:nvPicPr>
          <p:cNvPr id="26" name="Image 4" descr="assets/icons/store_gold.png">    </p:cNvPr>
          <p:cNvPicPr>
            <a:picLocks noChangeAspect="1"/>
          </p:cNvPicPr>
          <p:nvPr/>
        </p:nvPicPr>
        <p:blipFill>
          <a:blip r:embed="rId6"/>
          <a:stretch>
            <a:fillRect/>
          </a:stretch>
        </p:blipFill>
        <p:spPr>
          <a:xfrm>
            <a:off x="4786884" y="4613148"/>
            <a:ext cx="356616" cy="356616"/>
          </a:xfrm>
          <a:prstGeom prst="rect">
            <a:avLst/>
          </a:prstGeom>
        </p:spPr>
      </p:pic>
      <p:sp>
        <p:nvSpPr>
          <p:cNvPr id="27" name="Text 20"/>
          <p:cNvSpPr/>
          <p:nvPr/>
        </p:nvSpPr>
        <p:spPr>
          <a:xfrm>
            <a:off x="5449824" y="4453128"/>
            <a:ext cx="2194560" cy="640080"/>
          </a:xfrm>
          <a:prstGeom prst="rect">
            <a:avLst/>
          </a:prstGeom>
          <a:noFill/>
          <a:ln/>
        </p:spPr>
        <p:txBody>
          <a:bodyPr wrap="square" lIns="0" tIns="0" rIns="0" bIns="0" rtlCol="0" anchor="ctr"/>
          <a:lstStyle/>
          <a:p>
            <a:pPr indent="0" marL="0">
              <a:buNone/>
            </a:pPr>
            <a:r>
              <a:rPr lang="en-US" sz="1550" b="1" dirty="0">
                <a:solidFill>
                  <a:srgbClr val="EAC158"/>
                </a:solidFill>
                <a:latin typeface="Montserrat" pitchFamily="34" charset="0"/>
                <a:ea typeface="Montserrat" pitchFamily="34" charset="-122"/>
                <a:cs typeface="Montserrat" pitchFamily="34" charset="-120"/>
              </a:rPr>
              <a:t>All branches, one brain</a:t>
            </a:r>
            <a:endParaRPr lang="en-US" sz="1550" dirty="0"/>
          </a:p>
        </p:txBody>
      </p:sp>
      <p:sp>
        <p:nvSpPr>
          <p:cNvPr id="28" name="Text 21"/>
          <p:cNvSpPr/>
          <p:nvPr/>
        </p:nvSpPr>
        <p:spPr>
          <a:xfrm>
            <a:off x="5449824" y="5093208"/>
            <a:ext cx="2194560" cy="731520"/>
          </a:xfrm>
          <a:prstGeom prst="rect">
            <a:avLst/>
          </a:prstGeom>
          <a:noFill/>
          <a:ln/>
        </p:spPr>
        <p:txBody>
          <a:bodyPr wrap="square" lIns="0" tIns="0" rIns="0" bIns="0" rtlCol="0" anchor="ctr"/>
          <a:lstStyle/>
          <a:p>
            <a:pPr indent="0" marL="0">
              <a:lnSpc>
                <a:spcPct val="100000"/>
              </a:lnSpc>
              <a:buNone/>
            </a:pPr>
            <a:r>
              <a:rPr lang="en-US" sz="1120" dirty="0">
                <a:solidFill>
                  <a:srgbClr val="F0DFCF"/>
                </a:solidFill>
                <a:latin typeface="Inter" pitchFamily="34" charset="0"/>
                <a:ea typeface="Inter" pitchFamily="34" charset="-122"/>
                <a:cs typeface="Inter" pitchFamily="34" charset="-120"/>
              </a:rPr>
              <a:t>Roll it out across every Annapoorna outlet.</a:t>
            </a:r>
            <a:endParaRPr lang="en-US" sz="1120" dirty="0"/>
          </a:p>
        </p:txBody>
      </p:sp>
      <p:sp>
        <p:nvSpPr>
          <p:cNvPr id="29" name="Shape 22"/>
          <p:cNvSpPr/>
          <p:nvPr/>
        </p:nvSpPr>
        <p:spPr>
          <a:xfrm>
            <a:off x="7964424" y="4160520"/>
            <a:ext cx="3474720" cy="1783080"/>
          </a:xfrm>
          <a:prstGeom prst="roundRect">
            <a:avLst>
              <a:gd name="adj" fmla="val 5128"/>
            </a:avLst>
          </a:prstGeom>
          <a:solidFill>
            <a:srgbClr val="5E4A28"/>
          </a:solidFill>
          <a:ln w="12700">
            <a:solidFill>
              <a:srgbClr val="9C4250"/>
            </a:solidFill>
            <a:prstDash val="solid"/>
          </a:ln>
        </p:spPr>
      </p:sp>
      <p:sp>
        <p:nvSpPr>
          <p:cNvPr id="30" name="Shape 23"/>
          <p:cNvSpPr/>
          <p:nvPr/>
        </p:nvSpPr>
        <p:spPr>
          <a:xfrm>
            <a:off x="8220456" y="4434840"/>
            <a:ext cx="713232" cy="713232"/>
          </a:xfrm>
          <a:prstGeom prst="ellipse">
            <a:avLst/>
          </a:prstGeom>
          <a:solidFill>
            <a:srgbClr val="2A1E10"/>
          </a:solidFill>
          <a:ln/>
        </p:spPr>
      </p:sp>
      <p:pic>
        <p:nvPicPr>
          <p:cNvPr id="31" name="Image 5" descr="assets/icons/sparkles_gold.png">    </p:cNvPr>
          <p:cNvPicPr>
            <a:picLocks noChangeAspect="1"/>
          </p:cNvPicPr>
          <p:nvPr/>
        </p:nvPicPr>
        <p:blipFill>
          <a:blip r:embed="rId7"/>
          <a:stretch>
            <a:fillRect/>
          </a:stretch>
        </p:blipFill>
        <p:spPr>
          <a:xfrm>
            <a:off x="8398764" y="4613148"/>
            <a:ext cx="356616" cy="356616"/>
          </a:xfrm>
          <a:prstGeom prst="rect">
            <a:avLst/>
          </a:prstGeom>
        </p:spPr>
      </p:pic>
      <p:sp>
        <p:nvSpPr>
          <p:cNvPr id="32" name="Text 24"/>
          <p:cNvSpPr/>
          <p:nvPr/>
        </p:nvSpPr>
        <p:spPr>
          <a:xfrm>
            <a:off x="9061704" y="4453128"/>
            <a:ext cx="2194560" cy="640080"/>
          </a:xfrm>
          <a:prstGeom prst="rect">
            <a:avLst/>
          </a:prstGeom>
          <a:noFill/>
          <a:ln/>
        </p:spPr>
        <p:txBody>
          <a:bodyPr wrap="square" lIns="0" tIns="0" rIns="0" bIns="0" rtlCol="0" anchor="ctr"/>
          <a:lstStyle/>
          <a:p>
            <a:pPr indent="0" marL="0">
              <a:buNone/>
            </a:pPr>
            <a:r>
              <a:rPr lang="en-US" sz="1550" b="1" dirty="0">
                <a:solidFill>
                  <a:srgbClr val="EAC158"/>
                </a:solidFill>
                <a:latin typeface="Montserrat" pitchFamily="34" charset="0"/>
                <a:ea typeface="Montserrat" pitchFamily="34" charset="-122"/>
                <a:cs typeface="Montserrat" pitchFamily="34" charset="-120"/>
              </a:rPr>
              <a:t>…and more</a:t>
            </a:r>
            <a:endParaRPr lang="en-US" sz="1550" dirty="0"/>
          </a:p>
        </p:txBody>
      </p:sp>
      <p:sp>
        <p:nvSpPr>
          <p:cNvPr id="33" name="Text 25"/>
          <p:cNvSpPr/>
          <p:nvPr/>
        </p:nvSpPr>
        <p:spPr>
          <a:xfrm>
            <a:off x="9061704" y="5093208"/>
            <a:ext cx="2194560" cy="731520"/>
          </a:xfrm>
          <a:prstGeom prst="rect">
            <a:avLst/>
          </a:prstGeom>
          <a:noFill/>
          <a:ln/>
        </p:spPr>
        <p:txBody>
          <a:bodyPr wrap="square" lIns="0" tIns="0" rIns="0" bIns="0" rtlCol="0" anchor="ctr"/>
          <a:lstStyle/>
          <a:p>
            <a:pPr indent="0" marL="0">
              <a:lnSpc>
                <a:spcPct val="100000"/>
              </a:lnSpc>
              <a:buNone/>
            </a:pPr>
            <a:r>
              <a:rPr lang="en-US" sz="1120" dirty="0">
                <a:solidFill>
                  <a:srgbClr val="F0DFCF"/>
                </a:solidFill>
                <a:latin typeface="Inter" pitchFamily="34" charset="0"/>
                <a:ea typeface="Inter" pitchFamily="34" charset="-122"/>
                <a:cs typeface="Inter" pitchFamily="34" charset="-120"/>
              </a:rPr>
              <a:t>We grow the assistant alongside your restaurant.</a:t>
            </a:r>
            <a:endParaRPr lang="en-US" sz="1120" dirty="0"/>
          </a:p>
        </p:txBody>
      </p:sp>
      <p:pic>
        <p:nvPicPr>
          <p:cNvPr id="34" name="Image 6" descr="assets/odysra_logo.png">    </p:cNvPr>
          <p:cNvPicPr>
            <a:picLocks noChangeAspect="1"/>
          </p:cNvPicPr>
          <p:nvPr/>
        </p:nvPicPr>
        <p:blipFill>
          <a:blip r:embed="rId8"/>
          <a:stretch>
            <a:fillRect/>
          </a:stretch>
        </p:blipFill>
        <p:spPr>
          <a:xfrm>
            <a:off x="11521440" y="6236208"/>
            <a:ext cx="475488" cy="47548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odysra_logo.png">    </p:cNvPr>
          <p:cNvPicPr>
            <a:picLocks noChangeAspect="1"/>
          </p:cNvPicPr>
          <p:nvPr/>
        </p:nvPicPr>
        <p:blipFill>
          <a:blip r:embed="rId2"/>
          <a:stretch>
            <a:fillRect/>
          </a:stretch>
        </p:blipFill>
        <p:spPr>
          <a:xfrm>
            <a:off x="5637276" y="457200"/>
            <a:ext cx="914400" cy="914400"/>
          </a:xfrm>
          <a:prstGeom prst="rect">
            <a:avLst/>
          </a:prstGeom>
        </p:spPr>
      </p:pic>
      <p:sp>
        <p:nvSpPr>
          <p:cNvPr id="3" name="Text 0"/>
          <p:cNvSpPr/>
          <p:nvPr/>
        </p:nvSpPr>
        <p:spPr>
          <a:xfrm>
            <a:off x="0" y="1463040"/>
            <a:ext cx="12188952" cy="640080"/>
          </a:xfrm>
          <a:prstGeom prst="rect">
            <a:avLst/>
          </a:prstGeom>
          <a:noFill/>
          <a:ln/>
        </p:spPr>
        <p:txBody>
          <a:bodyPr wrap="square" lIns="0" tIns="0" rIns="0" bIns="0" rtlCol="0" anchor="ctr"/>
          <a:lstStyle/>
          <a:p>
            <a:pPr algn="ctr" indent="0" marL="0">
              <a:buNone/>
            </a:pPr>
            <a:r>
              <a:rPr lang="en-US" sz="3200" b="1" i="1" dirty="0">
                <a:solidFill>
                  <a:srgbClr val="D9A93C"/>
                </a:solidFill>
                <a:latin typeface="Montserrat" pitchFamily="34" charset="0"/>
                <a:ea typeface="Montserrat" pitchFamily="34" charset="-122"/>
                <a:cs typeface="Montserrat" pitchFamily="34" charset="-120"/>
              </a:rPr>
              <a:t>Odysra</a:t>
            </a:r>
            <a:endParaRPr lang="en-US" sz="3200" dirty="0"/>
          </a:p>
        </p:txBody>
      </p:sp>
      <p:sp>
        <p:nvSpPr>
          <p:cNvPr id="4" name="Text 1"/>
          <p:cNvSpPr/>
          <p:nvPr/>
        </p:nvSpPr>
        <p:spPr>
          <a:xfrm>
            <a:off x="0" y="2423160"/>
            <a:ext cx="12188952" cy="914400"/>
          </a:xfrm>
          <a:prstGeom prst="rect">
            <a:avLst/>
          </a:prstGeom>
          <a:noFill/>
          <a:ln/>
        </p:spPr>
        <p:txBody>
          <a:bodyPr wrap="square" lIns="0" tIns="0" rIns="0" bIns="0" rtlCol="0" anchor="ctr"/>
          <a:lstStyle/>
          <a:p>
            <a:pPr algn="ctr" indent="0" marL="0">
              <a:buNone/>
            </a:pPr>
            <a:r>
              <a:rPr lang="en-US" sz="4600" b="1" dirty="0">
                <a:solidFill>
                  <a:srgbClr val="FFFFFF"/>
                </a:solidFill>
                <a:latin typeface="Montserrat" pitchFamily="34" charset="0"/>
                <a:ea typeface="Montserrat" pitchFamily="34" charset="-122"/>
                <a:cs typeface="Montserrat" pitchFamily="34" charset="-120"/>
              </a:rPr>
              <a:t>Thank you.</a:t>
            </a:r>
            <a:endParaRPr lang="en-US" sz="4600" dirty="0"/>
          </a:p>
        </p:txBody>
      </p:sp>
      <p:sp>
        <p:nvSpPr>
          <p:cNvPr id="5" name="Text 2"/>
          <p:cNvSpPr/>
          <p:nvPr/>
        </p:nvSpPr>
        <p:spPr>
          <a:xfrm>
            <a:off x="0" y="3520440"/>
            <a:ext cx="12188952" cy="457200"/>
          </a:xfrm>
          <a:prstGeom prst="rect">
            <a:avLst/>
          </a:prstGeom>
          <a:noFill/>
          <a:ln/>
        </p:spPr>
        <p:txBody>
          <a:bodyPr wrap="square" lIns="0" tIns="0" rIns="0" bIns="0" rtlCol="0" anchor="ctr"/>
          <a:lstStyle/>
          <a:p>
            <a:pPr algn="ctr" indent="0" marL="0">
              <a:buNone/>
            </a:pPr>
            <a:r>
              <a:rPr lang="en-US" sz="1800" b="1" dirty="0">
                <a:solidFill>
                  <a:srgbClr val="D9A93C"/>
                </a:solidFill>
                <a:latin typeface="Montserrat" pitchFamily="34" charset="0"/>
                <a:ea typeface="Montserrat" pitchFamily="34" charset="-122"/>
                <a:cs typeface="Montserrat" pitchFamily="34" charset="-120"/>
              </a:rPr>
              <a:t>Odysra</a:t>
            </a:r>
            <a:pPr algn="ctr" indent="0" marL="0">
              <a:buNone/>
            </a:pPr>
            <a:r>
              <a:rPr lang="en-US" sz="1800" i="1" dirty="0">
                <a:solidFill>
                  <a:srgbClr val="EAD9C6"/>
                </a:solidFill>
                <a:latin typeface="Montserrat" pitchFamily="34" charset="0"/>
                <a:ea typeface="Montserrat" pitchFamily="34" charset="-122"/>
                <a:cs typeface="Montserrat" pitchFamily="34" charset="-120"/>
              </a:rPr>
              <a:t>  —  an era of good fortune</a:t>
            </a:r>
            <a:endParaRPr lang="en-US" sz="1800" dirty="0"/>
          </a:p>
        </p:txBody>
      </p:sp>
      <p:sp>
        <p:nvSpPr>
          <p:cNvPr id="6" name="Shape 3"/>
          <p:cNvSpPr/>
          <p:nvPr/>
        </p:nvSpPr>
        <p:spPr>
          <a:xfrm>
            <a:off x="4677156" y="4160520"/>
            <a:ext cx="2834640" cy="777240"/>
          </a:xfrm>
          <a:prstGeom prst="roundRect">
            <a:avLst>
              <a:gd name="adj" fmla="val 11765"/>
            </a:avLst>
          </a:prstGeom>
          <a:solidFill>
            <a:srgbClr val="FFFFFF"/>
          </a:solidFill>
          <a:ln/>
          <a:effectLst>
            <a:outerShdw sx="100000" sy="100000" kx="0" ky="0" algn="bl" rotWithShape="0" blurRad="114300" dist="38100" dir="5400000">
              <a:srgbClr val="000000">
                <a:alpha val="16000"/>
              </a:srgbClr>
            </a:outerShdw>
          </a:effectLst>
        </p:spPr>
      </p:sp>
      <p:pic>
        <p:nvPicPr>
          <p:cNvPr id="7" name="Image 1" descr="assets/annapoorna.png">    </p:cNvPr>
          <p:cNvPicPr>
            <a:picLocks noChangeAspect="1"/>
          </p:cNvPicPr>
          <p:nvPr/>
        </p:nvPicPr>
        <p:blipFill>
          <a:blip r:embed="rId3"/>
          <a:stretch>
            <a:fillRect/>
          </a:stretch>
        </p:blipFill>
        <p:spPr>
          <a:xfrm>
            <a:off x="4997196" y="4266042"/>
            <a:ext cx="2194560" cy="566196"/>
          </a:xfrm>
          <a:prstGeom prst="rect">
            <a:avLst/>
          </a:prstGeom>
        </p:spPr>
      </p:pic>
      <p:sp>
        <p:nvSpPr>
          <p:cNvPr id="8" name="Text 4"/>
          <p:cNvSpPr/>
          <p:nvPr/>
        </p:nvSpPr>
        <p:spPr>
          <a:xfrm>
            <a:off x="0" y="5029200"/>
            <a:ext cx="12188952" cy="320040"/>
          </a:xfrm>
          <a:prstGeom prst="rect">
            <a:avLst/>
          </a:prstGeom>
          <a:noFill/>
          <a:ln/>
        </p:spPr>
        <p:txBody>
          <a:bodyPr wrap="square" lIns="0" tIns="0" rIns="0" bIns="0" rtlCol="0" anchor="ctr"/>
          <a:lstStyle/>
          <a:p>
            <a:pPr algn="ctr" indent="0" marL="0">
              <a:buNone/>
            </a:pPr>
            <a:r>
              <a:rPr lang="en-US" sz="1250" i="1" dirty="0">
                <a:solidFill>
                  <a:srgbClr val="C9A38C"/>
                </a:solidFill>
                <a:latin typeface="Inter" pitchFamily="34" charset="0"/>
                <a:ea typeface="Inter" pitchFamily="34" charset="-122"/>
                <a:cs typeface="Inter" pitchFamily="34" charset="-120"/>
              </a:rPr>
              <a:t>Custom-built for Sree Annapoorna</a:t>
            </a:r>
            <a:endParaRPr lang="en-US" sz="1250" dirty="0"/>
          </a:p>
        </p:txBody>
      </p:sp>
      <p:sp>
        <p:nvSpPr>
          <p:cNvPr id="9" name="Shape 5"/>
          <p:cNvSpPr/>
          <p:nvPr/>
        </p:nvSpPr>
        <p:spPr>
          <a:xfrm>
            <a:off x="3351276" y="5577840"/>
            <a:ext cx="5486400" cy="0"/>
          </a:xfrm>
          <a:prstGeom prst="line">
            <a:avLst/>
          </a:prstGeom>
          <a:noFill/>
          <a:ln w="15240">
            <a:solidFill>
              <a:srgbClr val="5E4A28"/>
            </a:solidFill>
            <a:prstDash val="solid"/>
          </a:ln>
        </p:spPr>
      </p:sp>
      <p:pic>
        <p:nvPicPr>
          <p:cNvPr id="10" name="Image 2" descr="assets/icons/user_gold.png">    </p:cNvPr>
          <p:cNvPicPr>
            <a:picLocks noChangeAspect="1"/>
          </p:cNvPicPr>
          <p:nvPr/>
        </p:nvPicPr>
        <p:blipFill>
          <a:blip r:embed="rId4"/>
          <a:stretch>
            <a:fillRect/>
          </a:stretch>
        </p:blipFill>
        <p:spPr>
          <a:xfrm>
            <a:off x="2848356" y="5824728"/>
            <a:ext cx="237744" cy="237744"/>
          </a:xfrm>
          <a:prstGeom prst="rect">
            <a:avLst/>
          </a:prstGeom>
        </p:spPr>
      </p:pic>
      <p:sp>
        <p:nvSpPr>
          <p:cNvPr id="11" name="Text 6"/>
          <p:cNvSpPr/>
          <p:nvPr/>
        </p:nvSpPr>
        <p:spPr>
          <a:xfrm>
            <a:off x="3168396" y="5806440"/>
            <a:ext cx="1463040" cy="320040"/>
          </a:xfrm>
          <a:prstGeom prst="rect">
            <a:avLst/>
          </a:prstGeom>
          <a:noFill/>
          <a:ln/>
        </p:spPr>
        <p:txBody>
          <a:bodyPr wrap="square" lIns="0" tIns="0" rIns="0" bIns="0" rtlCol="0" anchor="ctr"/>
          <a:lstStyle/>
          <a:p>
            <a:pPr indent="0" marL="0">
              <a:buNone/>
            </a:pPr>
            <a:r>
              <a:rPr lang="en-US" sz="1300" b="1" dirty="0">
                <a:solidFill>
                  <a:srgbClr val="FFFFFF"/>
                </a:solidFill>
                <a:latin typeface="Inter" pitchFamily="34" charset="0"/>
                <a:ea typeface="Inter" pitchFamily="34" charset="-122"/>
                <a:cs typeface="Inter" pitchFamily="34" charset="-120"/>
              </a:rPr>
              <a:t>Harsith</a:t>
            </a:r>
            <a:endParaRPr lang="en-US" sz="1300" dirty="0"/>
          </a:p>
        </p:txBody>
      </p:sp>
      <p:pic>
        <p:nvPicPr>
          <p:cNvPr id="12" name="Image 3" descr="assets/icons/phone_gold.png">    </p:cNvPr>
          <p:cNvPicPr>
            <a:picLocks noChangeAspect="1"/>
          </p:cNvPicPr>
          <p:nvPr/>
        </p:nvPicPr>
        <p:blipFill>
          <a:blip r:embed="rId5"/>
          <a:stretch>
            <a:fillRect/>
          </a:stretch>
        </p:blipFill>
        <p:spPr>
          <a:xfrm>
            <a:off x="4768596" y="5824728"/>
            <a:ext cx="237744" cy="237744"/>
          </a:xfrm>
          <a:prstGeom prst="rect">
            <a:avLst/>
          </a:prstGeom>
        </p:spPr>
      </p:pic>
      <p:sp>
        <p:nvSpPr>
          <p:cNvPr id="13" name="Text 7"/>
          <p:cNvSpPr/>
          <p:nvPr/>
        </p:nvSpPr>
        <p:spPr>
          <a:xfrm>
            <a:off x="5088636" y="5806440"/>
            <a:ext cx="2011680" cy="320040"/>
          </a:xfrm>
          <a:prstGeom prst="rect">
            <a:avLst/>
          </a:prstGeom>
          <a:noFill/>
          <a:ln/>
        </p:spPr>
        <p:txBody>
          <a:bodyPr wrap="square" lIns="0" tIns="0" rIns="0" bIns="0" rtlCol="0" anchor="ctr"/>
          <a:lstStyle/>
          <a:p>
            <a:pPr indent="0" marL="0">
              <a:buNone/>
            </a:pPr>
            <a:r>
              <a:rPr lang="en-US" sz="1300" dirty="0">
                <a:solidFill>
                  <a:srgbClr val="EAD9C6"/>
                </a:solidFill>
                <a:latin typeface="Inter" pitchFamily="34" charset="0"/>
                <a:ea typeface="Inter" pitchFamily="34" charset="-122"/>
                <a:cs typeface="Inter" pitchFamily="34" charset="-120"/>
              </a:rPr>
              <a:t>+91 00000 00000</a:t>
            </a:r>
            <a:endParaRPr lang="en-US" sz="1300" dirty="0"/>
          </a:p>
        </p:txBody>
      </p:sp>
      <p:pic>
        <p:nvPicPr>
          <p:cNvPr id="14" name="Image 4" descr="assets/icons/envelope_gold.png">    </p:cNvPr>
          <p:cNvPicPr>
            <a:picLocks noChangeAspect="1"/>
          </p:cNvPicPr>
          <p:nvPr/>
        </p:nvPicPr>
        <p:blipFill>
          <a:blip r:embed="rId6"/>
          <a:stretch>
            <a:fillRect/>
          </a:stretch>
        </p:blipFill>
        <p:spPr>
          <a:xfrm>
            <a:off x="7328916" y="5843016"/>
            <a:ext cx="237744" cy="237744"/>
          </a:xfrm>
          <a:prstGeom prst="rect">
            <a:avLst/>
          </a:prstGeom>
        </p:spPr>
      </p:pic>
      <p:sp>
        <p:nvSpPr>
          <p:cNvPr id="15" name="Text 8"/>
          <p:cNvSpPr/>
          <p:nvPr/>
        </p:nvSpPr>
        <p:spPr>
          <a:xfrm>
            <a:off x="7648956" y="5806440"/>
            <a:ext cx="2194560" cy="320040"/>
          </a:xfrm>
          <a:prstGeom prst="rect">
            <a:avLst/>
          </a:prstGeom>
          <a:noFill/>
          <a:ln/>
        </p:spPr>
        <p:txBody>
          <a:bodyPr wrap="square" lIns="0" tIns="0" rIns="0" bIns="0" rtlCol="0" anchor="ctr"/>
          <a:lstStyle/>
          <a:p>
            <a:pPr indent="0" marL="0">
              <a:buNone/>
            </a:pPr>
            <a:r>
              <a:rPr lang="en-US" sz="1300" dirty="0">
                <a:solidFill>
                  <a:srgbClr val="EAD9C6"/>
                </a:solidFill>
                <a:latin typeface="Inter" pitchFamily="34" charset="0"/>
                <a:ea typeface="Inter" pitchFamily="34" charset="-122"/>
                <a:cs typeface="Inter" pitchFamily="34" charset="-120"/>
              </a:rPr>
              <a:t>you@odysra.com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Waiter for Sree Annapoorna — Odysra</dc:title>
  <dc:subject>PptxGenJS Presentation</dc:subject>
  <dc:creator>Odysra</dc:creator>
  <cp:lastModifiedBy>Odysra</cp:lastModifiedBy>
  <cp:revision>1</cp:revision>
  <dcterms:created xsi:type="dcterms:W3CDTF">2026-06-10T02:21:17Z</dcterms:created>
  <dcterms:modified xsi:type="dcterms:W3CDTF">2026-06-10T02:21:17Z</dcterms:modified>
</cp:coreProperties>
</file>