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457200"/>
            <a:ext cx="5943600" cy="5943600"/>
          </a:xfrm>
          <a:prstGeom prst="ellipse">
            <a:avLst/>
          </a:prstGeom>
          <a:solidFill>
            <a:srgbClr val="03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23192" y="0"/>
            <a:ext cx="365760" cy="6858000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743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0" y="640080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 Black"/>
              </a:rPr>
              <a:t>The Smart QR Menu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389888"/>
            <a:ext cx="8046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 Black"/>
              </a:rPr>
              <a:t>That Makes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139696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A84C1"/>
                </a:solidFill>
                <a:latin typeface="Arial Black"/>
              </a:rPr>
              <a:t>Fall In Love With Your 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38328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CC"/>
                </a:solidFill>
                <a:latin typeface="Calibri"/>
              </a:rPr>
              <a:t>Powered by AI  |  Augmented Reality  |  Live Menu Updates</a:t>
            </a:r>
          </a:p>
        </p:txBody>
      </p:sp>
      <p:sp>
        <p:nvSpPr>
          <p:cNvPr id="9" name="Hexagon 8"/>
          <p:cNvSpPr/>
          <p:nvPr/>
        </p:nvSpPr>
        <p:spPr>
          <a:xfrm>
            <a:off x="3657600" y="3840480"/>
            <a:ext cx="2468880" cy="1051560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A84C1"/>
                </a:solidFill>
                <a:latin typeface="Arial Black"/>
              </a:rPr>
              <a:t>500+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4348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C4CC"/>
                </a:solidFill>
                <a:latin typeface="Calibri"/>
              </a:rPr>
              <a:t>Dishes Supported</a:t>
            </a:r>
          </a:p>
        </p:txBody>
      </p:sp>
      <p:sp>
        <p:nvSpPr>
          <p:cNvPr id="12" name="Hexagon 11"/>
          <p:cNvSpPr/>
          <p:nvPr/>
        </p:nvSpPr>
        <p:spPr>
          <a:xfrm>
            <a:off x="6355080" y="3840480"/>
            <a:ext cx="2468880" cy="1051560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3886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2C55E"/>
                </a:solidFill>
                <a:latin typeface="Arial Black"/>
              </a:rPr>
              <a:t>2 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4348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C4CC"/>
                </a:solidFill>
                <a:latin typeface="Calibri"/>
              </a:rPr>
              <a:t>Live Update Speed</a:t>
            </a:r>
          </a:p>
        </p:txBody>
      </p:sp>
      <p:sp>
        <p:nvSpPr>
          <p:cNvPr id="15" name="Hexagon 14"/>
          <p:cNvSpPr/>
          <p:nvPr/>
        </p:nvSpPr>
        <p:spPr>
          <a:xfrm>
            <a:off x="9052560" y="3840480"/>
            <a:ext cx="2468880" cy="1051560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3886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C107"/>
                </a:solidFill>
                <a:latin typeface="Arial Black"/>
              </a:rPr>
              <a:t>Rs.399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4434840"/>
            <a:ext cx="2468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C4CC"/>
                </a:solidFill>
                <a:latin typeface="Calibri"/>
              </a:rPr>
              <a:t>Per Month Only</a:t>
            </a:r>
          </a:p>
        </p:txBody>
      </p:sp>
      <p:pic>
        <p:nvPicPr>
          <p:cNvPr id="18" name="Picture 17" descr="ody-fa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0"/>
            <a:ext cx="1280160" cy="12801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457200" y="6172200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0C4CC"/>
                </a:solidFill>
                <a:latin typeface="Calibri"/>
              </a:rPr>
              <a:t>Ask 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074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84C1"/>
                </a:solidFill>
                <a:latin typeface="Calibri"/>
              </a:rPr>
              <a:t>odysra.com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 Black"/>
              </a:rPr>
              <a:t>The Problem Every Restaurant Owner Faces</a:t>
            </a:r>
          </a:p>
        </p:txBody>
      </p:sp>
      <p:sp>
        <p:nvSpPr>
          <p:cNvPr id="4" name="Hexagon 3"/>
          <p:cNvSpPr/>
          <p:nvPr/>
        </p:nvSpPr>
        <p:spPr>
          <a:xfrm>
            <a:off x="320040" y="1234440"/>
            <a:ext cx="2788920" cy="5029200"/>
          </a:xfrm>
          <a:prstGeom prst="hexagon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2788920" cy="8229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371600"/>
            <a:ext cx="749808" cy="74980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389888"/>
            <a:ext cx="749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2402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No Visual Menu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743200"/>
            <a:ext cx="25694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0C4CC"/>
                </a:solidFill>
                <a:latin typeface="Calibri"/>
              </a:rPr>
              <a:t>Customers read dish names but cannot picture what they are ordering. Half the dishes go completely unnoticed.</a:t>
            </a:r>
          </a:p>
        </p:txBody>
      </p:sp>
      <p:sp>
        <p:nvSpPr>
          <p:cNvPr id="10" name="Hexagon 9"/>
          <p:cNvSpPr/>
          <p:nvPr/>
        </p:nvSpPr>
        <p:spPr>
          <a:xfrm>
            <a:off x="3264408" y="1234440"/>
            <a:ext cx="2788920" cy="5029200"/>
          </a:xfrm>
          <a:prstGeom prst="hexagon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64408" y="1234440"/>
            <a:ext cx="2788920" cy="8229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0248" y="1371600"/>
            <a:ext cx="749808" cy="749808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0248" y="1389888"/>
            <a:ext cx="749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Arial Blac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55848" y="22402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No Digital Presence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743200"/>
            <a:ext cx="25694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0C4CC"/>
                </a:solidFill>
                <a:latin typeface="Calibri"/>
              </a:rPr>
              <a:t>No way to showcase your best dishes, build customer loyalty, or stand out from the competition around you.</a:t>
            </a:r>
          </a:p>
        </p:txBody>
      </p:sp>
      <p:sp>
        <p:nvSpPr>
          <p:cNvPr id="16" name="Hexagon 15"/>
          <p:cNvSpPr/>
          <p:nvPr/>
        </p:nvSpPr>
        <p:spPr>
          <a:xfrm>
            <a:off x="6208776" y="1234440"/>
            <a:ext cx="2788920" cy="5029200"/>
          </a:xfrm>
          <a:prstGeom prst="hexagon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08776" y="1234440"/>
            <a:ext cx="2788920" cy="82296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14616" y="1371600"/>
            <a:ext cx="749808" cy="749808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4616" y="1389888"/>
            <a:ext cx="749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Arial Black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22402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Zero Customer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2743200"/>
            <a:ext cx="25694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0C4CC"/>
                </a:solidFill>
                <a:latin typeface="Calibri"/>
              </a:rPr>
              <a:t>You have no idea which dishes customers love, which they avoid, or which ones get the most saves and re-orders.</a:t>
            </a:r>
          </a:p>
        </p:txBody>
      </p:sp>
      <p:sp>
        <p:nvSpPr>
          <p:cNvPr id="22" name="Hexagon 21"/>
          <p:cNvSpPr/>
          <p:nvPr/>
        </p:nvSpPr>
        <p:spPr>
          <a:xfrm>
            <a:off x="9153144" y="1234440"/>
            <a:ext cx="2788920" cy="5029200"/>
          </a:xfrm>
          <a:prstGeom prst="hexagon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53144" y="1234440"/>
            <a:ext cx="2788920" cy="82296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58984" y="1371600"/>
            <a:ext cx="749808" cy="749808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58984" y="1389888"/>
            <a:ext cx="74980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0000"/>
                </a:solidFill>
                <a:latin typeface="Arial Black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224028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alibri"/>
              </a:rPr>
              <a:t>Slow Menu Changes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2743200"/>
            <a:ext cx="256946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0" i="0">
                <a:solidFill>
                  <a:srgbClr val="C0C4CC"/>
                </a:solidFill>
                <a:latin typeface="Calibri"/>
              </a:rPr>
              <a:t>Change a price or hide a sold-out dish? Your physical menu is outdated and there is no live fix available.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31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84C1"/>
                </a:solidFill>
                <a:latin typeface="Calibri"/>
              </a:rPr>
              <a:t>OdyCard solves ALL of this — with one QR code.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303520" cy="6858000"/>
          </a:xfrm>
          <a:prstGeom prst="rect">
            <a:avLst/>
          </a:prstGeom>
          <a:solidFill>
            <a:srgbClr val="040E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A84C1"/>
                </a:solidFill>
                <a:latin typeface="Calibri"/>
              </a:rPr>
              <a:t>Introducing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22960"/>
            <a:ext cx="2560320" cy="2560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0" y="1280160"/>
            <a:ext cx="28346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 Black"/>
              </a:rPr>
              <a:t>OdyCard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05740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A84C1"/>
                </a:solidFill>
                <a:latin typeface="Calibri"/>
              </a:rPr>
              <a:t>Smart QR Menu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CC"/>
                </a:solidFill>
                <a:latin typeface="Calibri"/>
              </a:rPr>
              <a:t>One QR code on your table turns your menu into an
immersive, AI-powered digital experience that your
customers will remember.</a:t>
            </a:r>
          </a:p>
        </p:txBody>
      </p:sp>
      <p:sp>
        <p:nvSpPr>
          <p:cNvPr id="8" name="Hexagon 7"/>
          <p:cNvSpPr/>
          <p:nvPr/>
        </p:nvSpPr>
        <p:spPr>
          <a:xfrm>
            <a:off x="5577840" y="320040"/>
            <a:ext cx="6217920" cy="1920240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77840" y="320040"/>
            <a:ext cx="73152" cy="1920240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806440" y="640080"/>
            <a:ext cx="640080" cy="640080"/>
          </a:xfrm>
          <a:prstGeom prst="ellipse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65836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 Blac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976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Smart Visual Menu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886968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4CC"/>
                </a:solidFill>
                <a:latin typeface="Calibri"/>
              </a:rPr>
              <a:t>Beautiful dish photos with live ratings,
favorites and eat-later lists.</a:t>
            </a:r>
          </a:p>
        </p:txBody>
      </p:sp>
      <p:sp>
        <p:nvSpPr>
          <p:cNvPr id="14" name="Hexagon 13"/>
          <p:cNvSpPr/>
          <p:nvPr/>
        </p:nvSpPr>
        <p:spPr>
          <a:xfrm>
            <a:off x="5577840" y="2423160"/>
            <a:ext cx="6217920" cy="1920240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577840" y="2423160"/>
            <a:ext cx="73152" cy="19202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806440" y="274320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06440" y="2761488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 Blac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3288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Augmented Reality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990088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4CC"/>
                </a:solidFill>
                <a:latin typeface="Calibri"/>
              </a:rPr>
              <a:t>Customers point their phone at the table
and see the dish appear in real life.</a:t>
            </a:r>
          </a:p>
        </p:txBody>
      </p:sp>
      <p:sp>
        <p:nvSpPr>
          <p:cNvPr id="20" name="Hexagon 19"/>
          <p:cNvSpPr/>
          <p:nvPr/>
        </p:nvSpPr>
        <p:spPr>
          <a:xfrm>
            <a:off x="5577840" y="4526279"/>
            <a:ext cx="6217920" cy="1920240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77840" y="4526279"/>
            <a:ext cx="73152" cy="19202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806440" y="4846319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4864607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Arial Black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636007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AI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093207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4CC"/>
                </a:solidFill>
                <a:latin typeface="Calibri"/>
              </a:rPr>
              <a:t>AI Waiter answers customer questions.
AI Manager gives business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A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 Black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84C1"/>
                </a:solidFill>
                <a:latin typeface="Calibri"/>
              </a:rPr>
              <a:t>Three simple steps. Zero complexity.</a:t>
            </a:r>
          </a:p>
        </p:txBody>
      </p:sp>
      <p:sp>
        <p:nvSpPr>
          <p:cNvPr id="5" name="Hexagon 4"/>
          <p:cNvSpPr/>
          <p:nvPr/>
        </p:nvSpPr>
        <p:spPr>
          <a:xfrm>
            <a:off x="411480" y="1143000"/>
            <a:ext cx="3611880" cy="5120640"/>
          </a:xfrm>
          <a:prstGeom prst="hexagon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3611880" cy="91440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548640" y="1298448"/>
            <a:ext cx="1097280" cy="329184"/>
          </a:xfrm>
          <a:prstGeom prst="hexagon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1673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73736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Owner Signs Up
and Builds 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578608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4CC"/>
                </a:solidFill>
                <a:latin typeface="Calibri"/>
              </a:rPr>
              <a:t>Add dishes with photos, set timings,
hide or show items instantly from
your phone. No tech skill needed.</a:t>
            </a:r>
          </a:p>
        </p:txBody>
      </p:sp>
      <p:sp>
        <p:nvSpPr>
          <p:cNvPr id="11" name="Hexagon 10"/>
          <p:cNvSpPr/>
          <p:nvPr/>
        </p:nvSpPr>
        <p:spPr>
          <a:xfrm>
            <a:off x="4325112" y="1143000"/>
            <a:ext cx="3611880" cy="5120640"/>
          </a:xfrm>
          <a:prstGeom prst="hexagon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1143000"/>
            <a:ext cx="361188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exagon 12"/>
          <p:cNvSpPr/>
          <p:nvPr/>
        </p:nvSpPr>
        <p:spPr>
          <a:xfrm>
            <a:off x="4462272" y="1298448"/>
            <a:ext cx="1097280" cy="329184"/>
          </a:xfrm>
          <a:prstGeom prst="hexagon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31673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STEP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9704" y="173736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Customers Scan
the QR 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578608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4CC"/>
                </a:solidFill>
                <a:latin typeface="Calibri"/>
              </a:rPr>
              <a:t>One scan on any smartphone. No app
download needed. Customers see your
full interactive menu instantly.</a:t>
            </a:r>
          </a:p>
        </p:txBody>
      </p:sp>
      <p:sp>
        <p:nvSpPr>
          <p:cNvPr id="17" name="Hexagon 16"/>
          <p:cNvSpPr/>
          <p:nvPr/>
        </p:nvSpPr>
        <p:spPr>
          <a:xfrm>
            <a:off x="8238744" y="1143000"/>
            <a:ext cx="3611880" cy="5120640"/>
          </a:xfrm>
          <a:prstGeom prst="hexagon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38744" y="1143000"/>
            <a:ext cx="361188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exagon 18"/>
          <p:cNvSpPr/>
          <p:nvPr/>
        </p:nvSpPr>
        <p:spPr>
          <a:xfrm>
            <a:off x="8375904" y="1298448"/>
            <a:ext cx="1097280" cy="329184"/>
          </a:xfrm>
          <a:prstGeom prst="hexagon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75904" y="1316736"/>
            <a:ext cx="1097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0000"/>
                </a:solidFill>
                <a:latin typeface="Calibri"/>
              </a:rPr>
              <a:t>STEP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03336" y="1737360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Explore, Rate
and You Grow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2578608"/>
            <a:ext cx="3291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4CC"/>
                </a:solidFill>
                <a:latin typeface="Calibri"/>
              </a:rPr>
              <a:t>Customers browse, rate dishes, save
favorites, and view dishes in AR.
You see real-time data on everything.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324612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84C1"/>
                </a:solidFill>
                <a:latin typeface="Arial Black"/>
              </a:rPr>
              <a:t>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45552" y="324612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84C1"/>
                </a:solidFill>
                <a:latin typeface="Arial Black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A84C1"/>
                </a:solidFill>
                <a:latin typeface="Calibri"/>
              </a:rPr>
              <a:t>Live sync: when you update a dish, every customer sees it within 2 seconds.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212080" cy="6858000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200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rial Black"/>
              </a:rPr>
              <a:t>The Customer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C4CC"/>
                </a:solidFill>
                <a:latin typeface="Calibri"/>
              </a:rPr>
              <a:t>Your customers get a beautiful, interactive menu.
Instantly. No app download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395728"/>
            <a:ext cx="54864" cy="347472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30428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Visual Dish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3347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Crystal-clear photos of every dish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090672"/>
            <a:ext cx="54864" cy="34747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299923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Live Star Ratings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328415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Real customer ratings on each dish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85615"/>
            <a:ext cx="54864" cy="34747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694175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Favorites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023359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Customers save their favourite dishes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80560"/>
            <a:ext cx="54864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389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Eat Later 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718304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Save dishes to revisit next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5175504"/>
            <a:ext cx="54864" cy="3474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508406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Smart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5413248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Search any dish by name, live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870448"/>
            <a:ext cx="54864" cy="347472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" y="5779007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Ask Ody (AI)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08192"/>
            <a:ext cx="4389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AI assistant answers food questions</a:t>
            </a:r>
          </a:p>
        </p:txBody>
      </p:sp>
      <p:sp>
        <p:nvSpPr>
          <p:cNvPr id="23" name="Hexagon 22"/>
          <p:cNvSpPr/>
          <p:nvPr/>
        </p:nvSpPr>
        <p:spPr>
          <a:xfrm>
            <a:off x="5440680" y="109728"/>
            <a:ext cx="3246120" cy="6629400"/>
          </a:xfrm>
          <a:prstGeom prst="hexagon">
            <a:avLst/>
          </a:prstGeom>
          <a:solidFill>
            <a:srgbClr val="181818"/>
          </a:solidFill>
          <a:ln w="1905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exagon 23"/>
          <p:cNvSpPr/>
          <p:nvPr/>
        </p:nvSpPr>
        <p:spPr>
          <a:xfrm>
            <a:off x="6926579" y="173736"/>
            <a:ext cx="274320" cy="64008"/>
          </a:xfrm>
          <a:prstGeom prst="hexagon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exagon 24"/>
          <p:cNvSpPr/>
          <p:nvPr/>
        </p:nvSpPr>
        <p:spPr>
          <a:xfrm>
            <a:off x="6743700" y="6620256"/>
            <a:ext cx="640080" cy="54864"/>
          </a:xfrm>
          <a:prstGeom prst="hexagon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59552" y="310896"/>
            <a:ext cx="3008376" cy="622706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59552" y="310896"/>
            <a:ext cx="3008376" cy="3291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23560" y="37490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Register</a:t>
            </a:r>
          </a:p>
        </p:txBody>
      </p:sp>
      <p:pic>
        <p:nvPicPr>
          <p:cNvPr id="29" name="Picture 2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5864" y="292607"/>
            <a:ext cx="457200" cy="347472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5559552" y="630936"/>
            <a:ext cx="3008376" cy="141732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59552" y="1088136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C0C4CC"/>
                </a:solidFill>
                <a:latin typeface="Calibri"/>
              </a:rPr>
              <a:t>Restaurant Banner</a:t>
            </a:r>
          </a:p>
        </p:txBody>
      </p:sp>
      <p:sp>
        <p:nvSpPr>
          <p:cNvPr id="32" name="Oval 31"/>
          <p:cNvSpPr/>
          <p:nvPr/>
        </p:nvSpPr>
        <p:spPr>
          <a:xfrm>
            <a:off x="6771131" y="1545336"/>
            <a:ext cx="585216" cy="585216"/>
          </a:xfrm>
          <a:prstGeom prst="ellipse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71131" y="1636776"/>
            <a:ext cx="5852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0C4CC"/>
                </a:solidFill>
                <a:latin typeface="Calibri"/>
              </a:rPr>
              <a:t>LOGO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59552" y="2020824"/>
            <a:ext cx="3008376" cy="34747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exagon 34"/>
          <p:cNvSpPr/>
          <p:nvPr/>
        </p:nvSpPr>
        <p:spPr>
          <a:xfrm>
            <a:off x="5577840" y="2057400"/>
            <a:ext cx="715518" cy="274320"/>
          </a:xfrm>
          <a:prstGeom prst="hexag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77840" y="2084831"/>
            <a:ext cx="71551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000000"/>
                </a:solidFill>
                <a:latin typeface="Calibri"/>
              </a:rPr>
              <a:t>Ody Menu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11646" y="2084831"/>
            <a:ext cx="75209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0C4CC"/>
                </a:solidFill>
                <a:latin typeface="Calibri"/>
              </a:rPr>
              <a:t>Menu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63740" y="2084831"/>
            <a:ext cx="75209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0C4CC"/>
                </a:solidFill>
                <a:latin typeface="Calibri"/>
              </a:rPr>
              <a:t>Eat Later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15833" y="2084831"/>
            <a:ext cx="75209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C0C4CC"/>
                </a:solidFill>
                <a:latin typeface="Calibri"/>
              </a:rPr>
              <a:t>Fav</a:t>
            </a:r>
          </a:p>
        </p:txBody>
      </p:sp>
      <p:sp>
        <p:nvSpPr>
          <p:cNvPr id="40" name="Hexagon 39"/>
          <p:cNvSpPr/>
          <p:nvPr/>
        </p:nvSpPr>
        <p:spPr>
          <a:xfrm>
            <a:off x="5605272" y="2404872"/>
            <a:ext cx="2916936" cy="1627632"/>
          </a:xfrm>
          <a:prstGeom prst="hexag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605272" y="2404872"/>
            <a:ext cx="2916936" cy="749808"/>
          </a:xfrm>
          <a:prstGeom prst="rect">
            <a:avLst/>
          </a:prstGeom>
          <a:solidFill>
            <a:srgbClr val="CCA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05272" y="2679191"/>
            <a:ext cx="29169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FFFFFF"/>
                </a:solidFill>
                <a:latin typeface="Calibri"/>
              </a:rPr>
              <a:t>Dish Photo</a:t>
            </a:r>
          </a:p>
        </p:txBody>
      </p:sp>
      <p:sp>
        <p:nvSpPr>
          <p:cNvPr id="43" name="Hexagon 42"/>
          <p:cNvSpPr/>
          <p:nvPr/>
        </p:nvSpPr>
        <p:spPr>
          <a:xfrm>
            <a:off x="5669280" y="3182112"/>
            <a:ext cx="146304" cy="146304"/>
          </a:xfrm>
          <a:prstGeom prst="hexagon">
            <a:avLst/>
          </a:prstGeom>
          <a:solidFill>
            <a:srgbClr val="FFFFFF"/>
          </a:solidFill>
          <a:ln w="127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24144" y="3227832"/>
            <a:ext cx="36576" cy="3657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52160" y="318211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Calibri"/>
              </a:rPr>
              <a:t>Chicken Biryani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52160" y="3364991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Calibri"/>
              </a:rPr>
              <a:t>Rs. 280</a:t>
            </a:r>
          </a:p>
        </p:txBody>
      </p:sp>
      <p:sp>
        <p:nvSpPr>
          <p:cNvPr id="47" name="Hexagon 46"/>
          <p:cNvSpPr/>
          <p:nvPr/>
        </p:nvSpPr>
        <p:spPr>
          <a:xfrm>
            <a:off x="5669280" y="3575304"/>
            <a:ext cx="658368" cy="182880"/>
          </a:xfrm>
          <a:prstGeom prst="hexagon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69280" y="3584448"/>
            <a:ext cx="6583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C107"/>
                </a:solidFill>
                <a:latin typeface="Calibri"/>
              </a:rPr>
              <a:t>Star 4.8 (120)</a:t>
            </a:r>
          </a:p>
        </p:txBody>
      </p:sp>
      <p:sp>
        <p:nvSpPr>
          <p:cNvPr id="49" name="Hexagon 48"/>
          <p:cNvSpPr/>
          <p:nvPr/>
        </p:nvSpPr>
        <p:spPr>
          <a:xfrm>
            <a:off x="8092440" y="3227832"/>
            <a:ext cx="182880" cy="182880"/>
          </a:xfrm>
          <a:prstGeom prst="hexagon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92440" y="322783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Fav</a:t>
            </a:r>
          </a:p>
        </p:txBody>
      </p:sp>
      <p:sp>
        <p:nvSpPr>
          <p:cNvPr id="51" name="Hexagon 50"/>
          <p:cNvSpPr/>
          <p:nvPr/>
        </p:nvSpPr>
        <p:spPr>
          <a:xfrm>
            <a:off x="8311896" y="3227832"/>
            <a:ext cx="182880" cy="182880"/>
          </a:xfrm>
          <a:prstGeom prst="hexagon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11896" y="322783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Save</a:t>
            </a:r>
          </a:p>
        </p:txBody>
      </p:sp>
      <p:sp>
        <p:nvSpPr>
          <p:cNvPr id="53" name="Hexagon 52"/>
          <p:cNvSpPr/>
          <p:nvPr/>
        </p:nvSpPr>
        <p:spPr>
          <a:xfrm>
            <a:off x="5605272" y="4096512"/>
            <a:ext cx="2916936" cy="1005840"/>
          </a:xfrm>
          <a:prstGeom prst="hexag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605272" y="4096512"/>
            <a:ext cx="2916936" cy="475488"/>
          </a:xfrm>
          <a:prstGeom prst="rect">
            <a:avLst/>
          </a:prstGeom>
          <a:solidFill>
            <a:srgbClr val="AA7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05272" y="4261104"/>
            <a:ext cx="291693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1">
                <a:solidFill>
                  <a:srgbClr val="FFFFFF"/>
                </a:solidFill>
                <a:latin typeface="Calibri"/>
              </a:rPr>
              <a:t>Dish Photo</a:t>
            </a:r>
          </a:p>
        </p:txBody>
      </p:sp>
      <p:sp>
        <p:nvSpPr>
          <p:cNvPr id="56" name="Hexagon 55"/>
          <p:cNvSpPr/>
          <p:nvPr/>
        </p:nvSpPr>
        <p:spPr>
          <a:xfrm>
            <a:off x="5669280" y="4599432"/>
            <a:ext cx="146304" cy="146304"/>
          </a:xfrm>
          <a:prstGeom prst="hexagon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724144" y="4645152"/>
            <a:ext cx="36576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852160" y="4599432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Calibri"/>
              </a:rPr>
              <a:t>Margherita Pizza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852160" y="4782312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0000"/>
                </a:solidFill>
                <a:latin typeface="Calibri"/>
              </a:rPr>
              <a:t>Rs. 320</a:t>
            </a:r>
          </a:p>
        </p:txBody>
      </p:sp>
      <p:sp>
        <p:nvSpPr>
          <p:cNvPr id="60" name="Hexagon 59"/>
          <p:cNvSpPr/>
          <p:nvPr/>
        </p:nvSpPr>
        <p:spPr>
          <a:xfrm>
            <a:off x="5788152" y="6062471"/>
            <a:ext cx="2551176" cy="347472"/>
          </a:xfrm>
          <a:prstGeom prst="hexagon">
            <a:avLst/>
          </a:prstGeom>
          <a:solidFill>
            <a:srgbClr val="101010"/>
          </a:solidFill>
          <a:ln w="6350">
            <a:solidFill>
              <a:srgbClr val="3535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79592" y="6089903"/>
            <a:ext cx="2642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Ask Ody</a:t>
            </a:r>
          </a:p>
        </p:txBody>
      </p:sp>
      <p:sp>
        <p:nvSpPr>
          <p:cNvPr id="62" name="Hexagon 61"/>
          <p:cNvSpPr/>
          <p:nvPr/>
        </p:nvSpPr>
        <p:spPr>
          <a:xfrm>
            <a:off x="8915400" y="292608"/>
            <a:ext cx="3017520" cy="6263640"/>
          </a:xfrm>
          <a:prstGeom prst="hexagon">
            <a:avLst/>
          </a:prstGeom>
          <a:solidFill>
            <a:srgbClr val="181818"/>
          </a:solidFill>
          <a:ln w="1905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Hexagon 62"/>
          <p:cNvSpPr/>
          <p:nvPr/>
        </p:nvSpPr>
        <p:spPr>
          <a:xfrm>
            <a:off x="10296144" y="356616"/>
            <a:ext cx="256032" cy="64008"/>
          </a:xfrm>
          <a:prstGeom prst="hexagon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Hexagon 63"/>
          <p:cNvSpPr/>
          <p:nvPr/>
        </p:nvSpPr>
        <p:spPr>
          <a:xfrm>
            <a:off x="10149840" y="6437376"/>
            <a:ext cx="548640" cy="54864"/>
          </a:xfrm>
          <a:prstGeom prst="hexagon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25128" y="493776"/>
            <a:ext cx="2798063" cy="5879592"/>
          </a:xfrm>
          <a:prstGeom prst="rect">
            <a:avLst/>
          </a:prstGeom>
          <a:solidFill>
            <a:srgbClr val="04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025128" y="493776"/>
            <a:ext cx="2798063" cy="54864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025128" y="768096"/>
            <a:ext cx="279806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Arial Black"/>
              </a:rPr>
              <a:t>AR VIEW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25128" y="1335024"/>
            <a:ext cx="2798063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4CC"/>
                </a:solidFill>
                <a:latin typeface="Calibri"/>
              </a:rPr>
              <a:t>Point your phone
at the table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098280" y="2871216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098280" y="2871216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9747504" y="2871216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9747504" y="2871216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0396728" y="2871216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0396728" y="2871216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11045951" y="2871216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1045951" y="2871216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098280" y="3255264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9098280" y="3255264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747504" y="3255264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9747504" y="3255264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0396728" y="3255264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0396728" y="3255264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1045951" y="3255264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1045951" y="3255264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9098280" y="3639312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9098280" y="3639312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747504" y="3639312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9747504" y="3639312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10396728" y="3639312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10396728" y="3639312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045951" y="3639312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1045951" y="3639312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9098280" y="4023360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9098280" y="4023360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747504" y="4023360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9747504" y="4023360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10396728" y="4023360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10396728" y="4023360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11045951" y="4023360"/>
            <a:ext cx="603504" cy="18288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11045951" y="4023360"/>
            <a:ext cx="18288" cy="347472"/>
          </a:xfrm>
          <a:prstGeom prst="rect">
            <a:avLst/>
          </a:prstGeom>
          <a:solidFill>
            <a:srgbClr val="008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25128" y="1911095"/>
            <a:ext cx="279806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A84C1"/>
                </a:solidFill>
                <a:latin typeface="Arial Black"/>
              </a:rPr>
              <a:t>3D Dish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25128" y="2551176"/>
            <a:ext cx="2798063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0C4CC"/>
                </a:solidFill>
                <a:latin typeface="Calibri"/>
              </a:rPr>
              <a:t>floating above
your table</a:t>
            </a:r>
          </a:p>
        </p:txBody>
      </p:sp>
      <p:sp>
        <p:nvSpPr>
          <p:cNvPr id="103" name="Hexagon 102"/>
          <p:cNvSpPr/>
          <p:nvPr/>
        </p:nvSpPr>
        <p:spPr>
          <a:xfrm>
            <a:off x="9299448" y="5897879"/>
            <a:ext cx="2249423" cy="329184"/>
          </a:xfrm>
          <a:prstGeom prst="hexagon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9299448" y="5916167"/>
            <a:ext cx="2249423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View in 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86000" y="-457200"/>
            <a:ext cx="7589520" cy="7772400"/>
          </a:xfrm>
          <a:prstGeom prst="ellipse">
            <a:avLst/>
          </a:prstGeom>
          <a:solidFill>
            <a:srgbClr val="03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11430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 Black"/>
              </a:rPr>
              <a:t>See Your Food Come Alive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3268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A84C1"/>
                </a:solidFill>
                <a:latin typeface="Calibri"/>
              </a:rPr>
              <a:t>Augmented Reality  |  Powered by Luma AI  |  Works on any phone browser</a:t>
            </a:r>
          </a:p>
        </p:txBody>
      </p:sp>
      <p:sp>
        <p:nvSpPr>
          <p:cNvPr id="5" name="Hexagon 4"/>
          <p:cNvSpPr/>
          <p:nvPr/>
        </p:nvSpPr>
        <p:spPr>
          <a:xfrm>
            <a:off x="4206240" y="1389888"/>
            <a:ext cx="3794760" cy="5074920"/>
          </a:xfrm>
          <a:prstGeom prst="hexagon">
            <a:avLst/>
          </a:prstGeom>
          <a:solidFill>
            <a:srgbClr val="181818"/>
          </a:solidFill>
          <a:ln w="1905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5966459" y="1453896"/>
            <a:ext cx="274320" cy="64008"/>
          </a:xfrm>
          <a:prstGeom prst="hexagon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5783580" y="6345936"/>
            <a:ext cx="640080" cy="54864"/>
          </a:xfrm>
          <a:prstGeom prst="hexagon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25112" y="1591056"/>
            <a:ext cx="3557016" cy="4672583"/>
          </a:xfrm>
          <a:prstGeom prst="rect">
            <a:avLst/>
          </a:prstGeom>
          <a:solidFill>
            <a:srgbClr val="08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5112" y="1591056"/>
            <a:ext cx="3557016" cy="54864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25112" y="1664208"/>
            <a:ext cx="355701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OdyCard  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1" y="433425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1" y="433425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01767" y="433425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01767" y="433425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32703" y="433425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32703" y="433425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433425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33425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94575" y="433425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94575" y="433425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0831" y="470001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70831" y="470001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01767" y="470001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01767" y="470001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32703" y="470001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32703" y="470001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70001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470001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94575" y="470001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94575" y="470001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0831" y="506577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1" y="506577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01767" y="506577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01767" y="506577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32703" y="506577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32703" y="506577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63640" y="506577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63640" y="506577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94575" y="506577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894575" y="506577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70831" y="543153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70831" y="543153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01767" y="543153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01767" y="543153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32703" y="543153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632703" y="543153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543153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3640" y="543153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94575" y="543153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94575" y="543153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370831" y="579729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70831" y="579729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01767" y="579729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001767" y="579729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632703" y="579729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632703" y="579729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263640" y="579729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63640" y="579729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894575" y="5797296"/>
            <a:ext cx="585216" cy="13716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894575" y="5797296"/>
            <a:ext cx="13716" cy="338328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25112" y="2414016"/>
            <a:ext cx="355701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C107"/>
                </a:solidFill>
                <a:latin typeface="Calibri"/>
              </a:rPr>
              <a:t>CHICKEN BIRYANI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25112" y="2825496"/>
            <a:ext cx="355701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84C1"/>
                </a:solidFill>
                <a:latin typeface="Arial Black"/>
              </a:rPr>
              <a:t>3D Model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325112" y="3648456"/>
            <a:ext cx="35570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0C4CC"/>
                </a:solidFill>
                <a:latin typeface="Calibri"/>
              </a:rPr>
              <a:t>Floating above your table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25112" y="1645920"/>
            <a:ext cx="201168" cy="22860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25112" y="1645920"/>
            <a:ext cx="22860" cy="201168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7653528" y="1645920"/>
            <a:ext cx="201168" cy="22860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653528" y="1645920"/>
            <a:ext cx="22860" cy="201168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325112" y="6035040"/>
            <a:ext cx="201168" cy="22860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325112" y="6035040"/>
            <a:ext cx="22860" cy="201168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653528" y="6035040"/>
            <a:ext cx="201168" cy="22860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7653528" y="6035040"/>
            <a:ext cx="22860" cy="201168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Hexagon 71"/>
          <p:cNvSpPr/>
          <p:nvPr/>
        </p:nvSpPr>
        <p:spPr>
          <a:xfrm>
            <a:off x="4416551" y="5806440"/>
            <a:ext cx="3374136" cy="310896"/>
          </a:xfrm>
          <a:prstGeom prst="hexagon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416551" y="5815583"/>
            <a:ext cx="3374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Rs.280  |  Star 4.8  |  120 ratings</a:t>
            </a:r>
          </a:p>
        </p:txBody>
      </p:sp>
      <p:sp>
        <p:nvSpPr>
          <p:cNvPr id="74" name="Hexagon 73"/>
          <p:cNvSpPr/>
          <p:nvPr/>
        </p:nvSpPr>
        <p:spPr>
          <a:xfrm>
            <a:off x="274320" y="1389888"/>
            <a:ext cx="3566160" cy="166420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74320" y="1389888"/>
            <a:ext cx="64008" cy="1664208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57200" y="1499616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Luma AI Model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192024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4CC"/>
                </a:solidFill>
                <a:latin typeface="Calibri"/>
              </a:rPr>
              <a:t>Owner records a short video.
Luma converts it to a 3D
model automatically.</a:t>
            </a:r>
          </a:p>
        </p:txBody>
      </p:sp>
      <p:sp>
        <p:nvSpPr>
          <p:cNvPr id="78" name="Hexagon 77"/>
          <p:cNvSpPr/>
          <p:nvPr/>
        </p:nvSpPr>
        <p:spPr>
          <a:xfrm>
            <a:off x="274320" y="3191256"/>
            <a:ext cx="3566160" cy="166420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4320" y="3191256"/>
            <a:ext cx="64008" cy="16642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57200" y="330098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No App Needed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57200" y="3721608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4CC"/>
                </a:solidFill>
                <a:latin typeface="Calibri"/>
              </a:rPr>
              <a:t>Works directly in the mobile
browser. WebXR on Android,
AR QuickLook on iOS.</a:t>
            </a:r>
          </a:p>
        </p:txBody>
      </p:sp>
      <p:sp>
        <p:nvSpPr>
          <p:cNvPr id="82" name="Hexagon 81"/>
          <p:cNvSpPr/>
          <p:nvPr/>
        </p:nvSpPr>
        <p:spPr>
          <a:xfrm>
            <a:off x="274320" y="4992624"/>
            <a:ext cx="3566160" cy="166420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74320" y="4992624"/>
            <a:ext cx="64008" cy="166420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57200" y="510235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One-Time Setup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7200" y="5522976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4CC"/>
                </a:solidFill>
                <a:latin typeface="Calibri"/>
              </a:rPr>
              <a:t>Owner captures the dish once.
Customers view it forever.
Zero recurring cost.</a:t>
            </a:r>
          </a:p>
        </p:txBody>
      </p:sp>
      <p:sp>
        <p:nvSpPr>
          <p:cNvPr id="86" name="Hexagon 85"/>
          <p:cNvSpPr/>
          <p:nvPr/>
        </p:nvSpPr>
        <p:spPr>
          <a:xfrm>
            <a:off x="8348472" y="1389888"/>
            <a:ext cx="3566160" cy="166420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1850624" y="1389888"/>
            <a:ext cx="64008" cy="16642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458200" y="149961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Best for Solid Dishes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458200" y="192024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4CC"/>
                </a:solidFill>
                <a:latin typeface="Calibri"/>
              </a:rPr>
              <a:t>Burgers, biryanis, desserts,
pizza — look stunning in 3D.
Real color and texture.</a:t>
            </a:r>
          </a:p>
        </p:txBody>
      </p:sp>
      <p:sp>
        <p:nvSpPr>
          <p:cNvPr id="90" name="Hexagon 89"/>
          <p:cNvSpPr/>
          <p:nvPr/>
        </p:nvSpPr>
        <p:spPr>
          <a:xfrm>
            <a:off x="8348472" y="3191256"/>
            <a:ext cx="3566160" cy="166420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1850624" y="3191256"/>
            <a:ext cx="64008" cy="166420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458200" y="330098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Real Scale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458200" y="372160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4CC"/>
                </a:solidFill>
                <a:latin typeface="Calibri"/>
              </a:rPr>
              <a:t>Dish appears at actual size
on the customer's real table.
Totally immersive.</a:t>
            </a:r>
          </a:p>
        </p:txBody>
      </p:sp>
      <p:sp>
        <p:nvSpPr>
          <p:cNvPr id="94" name="Hexagon 93"/>
          <p:cNvSpPr/>
          <p:nvPr/>
        </p:nvSpPr>
        <p:spPr>
          <a:xfrm>
            <a:off x="8348472" y="4992624"/>
            <a:ext cx="3566160" cy="166420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11850624" y="4992624"/>
            <a:ext cx="64008" cy="16642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8458200" y="510235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Currently Free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458200" y="5522976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4CC"/>
                </a:solidFill>
                <a:latin typeface="Calibri"/>
              </a:rPr>
              <a:t>Luma AI API is in beta.
Capture is free right now.
No cost per dish.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6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 Black"/>
              </a:rPr>
              <a:t>Features That Keep Customers Coming Back</a:t>
            </a:r>
          </a:p>
        </p:txBody>
      </p:sp>
      <p:sp>
        <p:nvSpPr>
          <p:cNvPr id="4" name="Hexagon 3"/>
          <p:cNvSpPr/>
          <p:nvPr/>
        </p:nvSpPr>
        <p:spPr>
          <a:xfrm>
            <a:off x="320040" y="1261872"/>
            <a:ext cx="3703320" cy="2450592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261872"/>
            <a:ext cx="37033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4632" y="1426463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4632" y="1463039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Arial Black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1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Favorites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" y="2011679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4CC"/>
                </a:solidFill>
                <a:latin typeface="Calibri"/>
              </a:rPr>
              <a:t>Customers mark favourite dishes. Your
best sellers highlighted automatically.
Builds loyalty and repeat visits.</a:t>
            </a:r>
          </a:p>
        </p:txBody>
      </p:sp>
      <p:sp>
        <p:nvSpPr>
          <p:cNvPr id="10" name="Hexagon 9"/>
          <p:cNvSpPr/>
          <p:nvPr/>
        </p:nvSpPr>
        <p:spPr>
          <a:xfrm>
            <a:off x="4270248" y="1261872"/>
            <a:ext cx="3703320" cy="2450592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70248" y="1261872"/>
            <a:ext cx="3703320" cy="73152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34840" y="1426463"/>
            <a:ext cx="548640" cy="548640"/>
          </a:xfrm>
          <a:prstGeom prst="ellipse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463039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Arial Blac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1444751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Eat Later 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11679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4CC"/>
                </a:solidFill>
                <a:latin typeface="Calibri"/>
              </a:rPr>
              <a:t>Save a dish for the next visit. Builds
habit and repeat customer behaviour
across every restaurant visit.</a:t>
            </a:r>
          </a:p>
        </p:txBody>
      </p:sp>
      <p:sp>
        <p:nvSpPr>
          <p:cNvPr id="16" name="Hexagon 15"/>
          <p:cNvSpPr/>
          <p:nvPr/>
        </p:nvSpPr>
        <p:spPr>
          <a:xfrm>
            <a:off x="8220456" y="1261872"/>
            <a:ext cx="3703320" cy="2450592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0456" y="1261872"/>
            <a:ext cx="3703320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385048" y="1426463"/>
            <a:ext cx="548640" cy="54864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1463039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Arial Black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89136" y="1444751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Dish Ratings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2011679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4CC"/>
                </a:solidFill>
                <a:latin typeface="Calibri"/>
              </a:rPr>
              <a:t>1-5 star ratings with reason tags.
You see exactly why customers love
or dislike each dish on your menu.</a:t>
            </a:r>
          </a:p>
        </p:txBody>
      </p:sp>
      <p:sp>
        <p:nvSpPr>
          <p:cNvPr id="22" name="Hexagon 21"/>
          <p:cNvSpPr/>
          <p:nvPr/>
        </p:nvSpPr>
        <p:spPr>
          <a:xfrm>
            <a:off x="320040" y="3895344"/>
            <a:ext cx="3703320" cy="2450592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895344"/>
            <a:ext cx="370332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632" y="4059935"/>
            <a:ext cx="548640" cy="54864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4632" y="4096511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Arial Black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19" y="40782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Smart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" y="4645152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4CC"/>
                </a:solidFill>
                <a:latin typeface="Calibri"/>
              </a:rPr>
              <a:t>Customers search any dish by name
across your full menu in real time.
Works perfectly even on big menus.</a:t>
            </a:r>
          </a:p>
        </p:txBody>
      </p:sp>
      <p:sp>
        <p:nvSpPr>
          <p:cNvPr id="28" name="Hexagon 27"/>
          <p:cNvSpPr/>
          <p:nvPr/>
        </p:nvSpPr>
        <p:spPr>
          <a:xfrm>
            <a:off x="4270248" y="3895344"/>
            <a:ext cx="3703320" cy="2450592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0248" y="3895344"/>
            <a:ext cx="370332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434840" y="4059935"/>
            <a:ext cx="548640" cy="54864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4096511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Arial Black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38928" y="40782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Live Menu Updates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4645152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4CC"/>
                </a:solidFill>
                <a:latin typeface="Calibri"/>
              </a:rPr>
              <a:t>Hide a dish, update a price, change
timing — customers see it within just
2 seconds. Completely live.</a:t>
            </a:r>
          </a:p>
        </p:txBody>
      </p:sp>
      <p:sp>
        <p:nvSpPr>
          <p:cNvPr id="34" name="Hexagon 33"/>
          <p:cNvSpPr/>
          <p:nvPr/>
        </p:nvSpPr>
        <p:spPr>
          <a:xfrm>
            <a:off x="8220456" y="3895344"/>
            <a:ext cx="3703320" cy="2450592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0456" y="3895344"/>
            <a:ext cx="3703320" cy="7315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385048" y="4059935"/>
            <a:ext cx="548640" cy="5486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85048" y="4096511"/>
            <a:ext cx="548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0000"/>
                </a:solidFill>
                <a:latin typeface="Arial Black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89136" y="4078224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Ask Ody AI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85048" y="4645152"/>
            <a:ext cx="3383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C4CC"/>
                </a:solidFill>
                <a:latin typeface="Calibri"/>
              </a:rPr>
              <a:t>AI assistant answers customer questions
about dishes, ingredients, allergens
and personalised recommendations.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8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61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 Black"/>
              </a:rPr>
              <a:t>Artificial Intelligence, Built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062472" y="987552"/>
            <a:ext cx="64008" cy="5394960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87552"/>
            <a:ext cx="6035040" cy="73152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84C1"/>
                </a:solidFill>
                <a:latin typeface="Arial Black"/>
              </a:rPr>
              <a:t>AI Waiter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42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4CC"/>
                </a:solidFill>
                <a:latin typeface="Calibri"/>
              </a:rPr>
              <a:t>A smart assistant that talks to your customers</a:t>
            </a:r>
          </a:p>
        </p:txBody>
      </p:sp>
      <p:pic>
        <p:nvPicPr>
          <p:cNvPr id="8" name="Picture 7" descr="ody-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078992"/>
            <a:ext cx="1554480" cy="155448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57200" y="2322576"/>
            <a:ext cx="64008" cy="256032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2212848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Answers 'What dishes are vegetarian today?'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98648"/>
            <a:ext cx="64008" cy="256032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278892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Recommends dishes based on past ratings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64008" cy="256032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336499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Explains ingredients and allergens clearly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50791"/>
            <a:ext cx="64008" cy="256032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3941063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Available 24/7 with no additional staff cost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626864"/>
            <a:ext cx="64008" cy="256032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451713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Responds naturally in the customer's language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53912" y="987552"/>
            <a:ext cx="5943600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5120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C107"/>
                </a:solidFill>
                <a:latin typeface="Arial Black"/>
              </a:rPr>
              <a:t>AI 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6642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4CC"/>
                </a:solidFill>
                <a:latin typeface="Calibri"/>
              </a:rPr>
              <a:t>Business intelligence from your restaurant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45352" y="2322576"/>
            <a:ext cx="64008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212848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Identifies your top 5 best and worst dishes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45352" y="2898648"/>
            <a:ext cx="64008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0" y="2788920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Spots trends: 'Dessert orders peak at 8pm'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45352" y="3474720"/>
            <a:ext cx="64008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364992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Alert: 'Butter Chicken rating dropped to 2.9'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45352" y="4050791"/>
            <a:ext cx="64008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941063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Weekly auto-generated performance reports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45352" y="4626864"/>
            <a:ext cx="64008" cy="25603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517136"/>
            <a:ext cx="5486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Based on bills, ratings, favorites and eat-later data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A84C1"/>
                </a:solidFill>
                <a:latin typeface="Calibri"/>
              </a:rPr>
              <a:t>Both powered by Gemini Flash — fast, accurate, and affordable.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 Black"/>
              </a:rPr>
              <a:t>Owner Menu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A84C1"/>
                </a:solidFill>
                <a:latin typeface="Calibri"/>
              </a:rPr>
              <a:t>Full control from your phone — no tech skills needed.</a:t>
            </a:r>
          </a:p>
        </p:txBody>
      </p:sp>
      <p:sp>
        <p:nvSpPr>
          <p:cNvPr id="5" name="Hexagon 4"/>
          <p:cNvSpPr/>
          <p:nvPr/>
        </p:nvSpPr>
        <p:spPr>
          <a:xfrm>
            <a:off x="347472" y="1097280"/>
            <a:ext cx="3154680" cy="5650992"/>
          </a:xfrm>
          <a:prstGeom prst="hexagon">
            <a:avLst/>
          </a:prstGeom>
          <a:solidFill>
            <a:srgbClr val="181818"/>
          </a:solidFill>
          <a:ln w="19050">
            <a:solidFill>
              <a:srgbClr val="38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exagon 5"/>
          <p:cNvSpPr/>
          <p:nvPr/>
        </p:nvSpPr>
        <p:spPr>
          <a:xfrm>
            <a:off x="1796795" y="1161288"/>
            <a:ext cx="256032" cy="64008"/>
          </a:xfrm>
          <a:prstGeom prst="hexagon">
            <a:avLst/>
          </a:prstGeom>
          <a:solidFill>
            <a:srgbClr val="10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exagon 6"/>
          <p:cNvSpPr/>
          <p:nvPr/>
        </p:nvSpPr>
        <p:spPr>
          <a:xfrm>
            <a:off x="1632204" y="6629400"/>
            <a:ext cx="585216" cy="54864"/>
          </a:xfrm>
          <a:prstGeom prst="hexagon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98448"/>
            <a:ext cx="2935224" cy="5248655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298448"/>
            <a:ext cx="2935224" cy="31089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362456"/>
            <a:ext cx="284378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&lt; Edit Menu</a:t>
            </a:r>
          </a:p>
        </p:txBody>
      </p:sp>
      <p:sp>
        <p:nvSpPr>
          <p:cNvPr id="11" name="Hexagon 10"/>
          <p:cNvSpPr/>
          <p:nvPr/>
        </p:nvSpPr>
        <p:spPr>
          <a:xfrm>
            <a:off x="502920" y="1682495"/>
            <a:ext cx="2843784" cy="347472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55648"/>
            <a:ext cx="1417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Hide Ody Menu</a:t>
            </a:r>
          </a:p>
        </p:txBody>
      </p:sp>
      <p:sp>
        <p:nvSpPr>
          <p:cNvPr id="13" name="Hexagon 12"/>
          <p:cNvSpPr/>
          <p:nvPr/>
        </p:nvSpPr>
        <p:spPr>
          <a:xfrm>
            <a:off x="2971800" y="1737360"/>
            <a:ext cx="347472" cy="210312"/>
          </a:xfrm>
          <a:prstGeom prst="hexagon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54680" y="1755648"/>
            <a:ext cx="146304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1737360"/>
            <a:ext cx="201168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ON</a:t>
            </a:r>
          </a:p>
        </p:txBody>
      </p:sp>
      <p:sp>
        <p:nvSpPr>
          <p:cNvPr id="16" name="Hexagon 15"/>
          <p:cNvSpPr/>
          <p:nvPr/>
        </p:nvSpPr>
        <p:spPr>
          <a:xfrm>
            <a:off x="502920" y="2103120"/>
            <a:ext cx="2843784" cy="1115568"/>
          </a:xfrm>
          <a:prstGeom prst="hexagon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103120"/>
            <a:ext cx="2843784" cy="457200"/>
          </a:xfrm>
          <a:prstGeom prst="rect">
            <a:avLst/>
          </a:prstGeom>
          <a:solidFill>
            <a:srgbClr val="2A1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249424"/>
            <a:ext cx="28437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587752"/>
            <a:ext cx="2752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Chicken Biryani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2770632"/>
            <a:ext cx="2752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Rs.280  |  09:00 - 22:00</a:t>
            </a:r>
          </a:p>
        </p:txBody>
      </p:sp>
      <p:sp>
        <p:nvSpPr>
          <p:cNvPr id="21" name="Hexagon 20"/>
          <p:cNvSpPr/>
          <p:nvPr/>
        </p:nvSpPr>
        <p:spPr>
          <a:xfrm>
            <a:off x="548640" y="2971800"/>
            <a:ext cx="457200" cy="182880"/>
          </a:xfrm>
          <a:prstGeom prst="hexagon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971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Edit</a:t>
            </a:r>
          </a:p>
        </p:txBody>
      </p:sp>
      <p:sp>
        <p:nvSpPr>
          <p:cNvPr id="23" name="Hexagon 22"/>
          <p:cNvSpPr/>
          <p:nvPr/>
        </p:nvSpPr>
        <p:spPr>
          <a:xfrm>
            <a:off x="1051560" y="2971800"/>
            <a:ext cx="457200" cy="182880"/>
          </a:xfrm>
          <a:prstGeom prst="hexagon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2971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Hide</a:t>
            </a:r>
          </a:p>
        </p:txBody>
      </p:sp>
      <p:sp>
        <p:nvSpPr>
          <p:cNvPr id="25" name="Hexagon 24"/>
          <p:cNvSpPr/>
          <p:nvPr/>
        </p:nvSpPr>
        <p:spPr>
          <a:xfrm>
            <a:off x="1554480" y="2971800"/>
            <a:ext cx="457200" cy="182880"/>
          </a:xfrm>
          <a:prstGeom prst="hexagon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2971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27" name="Hexagon 26"/>
          <p:cNvSpPr/>
          <p:nvPr/>
        </p:nvSpPr>
        <p:spPr>
          <a:xfrm>
            <a:off x="502920" y="3273552"/>
            <a:ext cx="2843784" cy="1115568"/>
          </a:xfrm>
          <a:prstGeom prst="hexagon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02920" y="3273552"/>
            <a:ext cx="2843784" cy="4572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419856"/>
            <a:ext cx="28437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Photo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758184"/>
            <a:ext cx="2752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Margherita Pizza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941064"/>
            <a:ext cx="2752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Rs.320  |  11:00 - 23:00</a:t>
            </a:r>
          </a:p>
        </p:txBody>
      </p:sp>
      <p:sp>
        <p:nvSpPr>
          <p:cNvPr id="32" name="Hexagon 31"/>
          <p:cNvSpPr/>
          <p:nvPr/>
        </p:nvSpPr>
        <p:spPr>
          <a:xfrm>
            <a:off x="548640" y="4142232"/>
            <a:ext cx="457200" cy="182880"/>
          </a:xfrm>
          <a:prstGeom prst="hexagon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41422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Edit</a:t>
            </a:r>
          </a:p>
        </p:txBody>
      </p:sp>
      <p:sp>
        <p:nvSpPr>
          <p:cNvPr id="34" name="Hexagon 33"/>
          <p:cNvSpPr/>
          <p:nvPr/>
        </p:nvSpPr>
        <p:spPr>
          <a:xfrm>
            <a:off x="1051560" y="4142232"/>
            <a:ext cx="457200" cy="182880"/>
          </a:xfrm>
          <a:prstGeom prst="hexagon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51560" y="41422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Hide</a:t>
            </a:r>
          </a:p>
        </p:txBody>
      </p:sp>
      <p:sp>
        <p:nvSpPr>
          <p:cNvPr id="36" name="Hexagon 35"/>
          <p:cNvSpPr/>
          <p:nvPr/>
        </p:nvSpPr>
        <p:spPr>
          <a:xfrm>
            <a:off x="1554480" y="4142232"/>
            <a:ext cx="457200" cy="182880"/>
          </a:xfrm>
          <a:prstGeom prst="hexagon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4142232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38" name="Hexagon 37"/>
          <p:cNvSpPr/>
          <p:nvPr/>
        </p:nvSpPr>
        <p:spPr>
          <a:xfrm>
            <a:off x="502920" y="4443983"/>
            <a:ext cx="2843784" cy="1115568"/>
          </a:xfrm>
          <a:prstGeom prst="hexagon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4443983"/>
            <a:ext cx="2843784" cy="457200"/>
          </a:xfrm>
          <a:prstGeom prst="rect">
            <a:avLst/>
          </a:prstGeom>
          <a:solidFill>
            <a:srgbClr val="0A1E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590288"/>
            <a:ext cx="28437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FFFFFF"/>
                </a:solidFill>
                <a:latin typeface="Calibri"/>
              </a:rPr>
              <a:t>Photo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4928616"/>
            <a:ext cx="275234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Choco Lava Cake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111496"/>
            <a:ext cx="27523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7280"/>
                </a:solidFill>
                <a:latin typeface="Calibri"/>
              </a:rPr>
              <a:t>Rs.180  |  All day</a:t>
            </a:r>
          </a:p>
        </p:txBody>
      </p:sp>
      <p:sp>
        <p:nvSpPr>
          <p:cNvPr id="43" name="Hexagon 42"/>
          <p:cNvSpPr/>
          <p:nvPr/>
        </p:nvSpPr>
        <p:spPr>
          <a:xfrm>
            <a:off x="548640" y="5312664"/>
            <a:ext cx="457200" cy="182880"/>
          </a:xfrm>
          <a:prstGeom prst="hexagon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312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Edit</a:t>
            </a:r>
          </a:p>
        </p:txBody>
      </p:sp>
      <p:sp>
        <p:nvSpPr>
          <p:cNvPr id="45" name="Hexagon 44"/>
          <p:cNvSpPr/>
          <p:nvPr/>
        </p:nvSpPr>
        <p:spPr>
          <a:xfrm>
            <a:off x="1051560" y="5312664"/>
            <a:ext cx="457200" cy="182880"/>
          </a:xfrm>
          <a:prstGeom prst="hexagon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" y="5312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Hide</a:t>
            </a:r>
          </a:p>
        </p:txBody>
      </p:sp>
      <p:sp>
        <p:nvSpPr>
          <p:cNvPr id="47" name="Hexagon 46"/>
          <p:cNvSpPr/>
          <p:nvPr/>
        </p:nvSpPr>
        <p:spPr>
          <a:xfrm>
            <a:off x="1554480" y="5312664"/>
            <a:ext cx="457200" cy="182880"/>
          </a:xfrm>
          <a:prstGeom prst="hexagon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54480" y="531266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Delete</a:t>
            </a:r>
          </a:p>
        </p:txBody>
      </p:sp>
      <p:sp>
        <p:nvSpPr>
          <p:cNvPr id="49" name="Hexagon 48"/>
          <p:cNvSpPr/>
          <p:nvPr/>
        </p:nvSpPr>
        <p:spPr>
          <a:xfrm>
            <a:off x="3657600" y="1115568"/>
            <a:ext cx="8229600" cy="102412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0" y="1115568"/>
            <a:ext cx="64008" cy="1024128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58768" y="1207008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Add Dishes Instantly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58768" y="16184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C4CC"/>
                </a:solidFill>
                <a:latin typeface="Calibri"/>
              </a:rPr>
              <a:t>Upload photo, set name, price, quantity
and timing. Ready in under 2 minutes.</a:t>
            </a:r>
          </a:p>
        </p:txBody>
      </p:sp>
      <p:sp>
        <p:nvSpPr>
          <p:cNvPr id="53" name="Hexagon 52"/>
          <p:cNvSpPr/>
          <p:nvPr/>
        </p:nvSpPr>
        <p:spPr>
          <a:xfrm>
            <a:off x="3657600" y="2231136"/>
            <a:ext cx="8229600" cy="102412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657600" y="2231136"/>
            <a:ext cx="64008" cy="102412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58768" y="2322576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Timing-Based Visibility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58768" y="273405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C4CC"/>
                </a:solidFill>
                <a:latin typeface="Calibri"/>
              </a:rPr>
              <a:t>Set 4pm-9pm for a dish. It auto-hides
outside those hours for all customers.</a:t>
            </a:r>
          </a:p>
        </p:txBody>
      </p:sp>
      <p:sp>
        <p:nvSpPr>
          <p:cNvPr id="57" name="Hexagon 56"/>
          <p:cNvSpPr/>
          <p:nvPr/>
        </p:nvSpPr>
        <p:spPr>
          <a:xfrm>
            <a:off x="3657600" y="3346704"/>
            <a:ext cx="8229600" cy="102412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657600" y="3346704"/>
            <a:ext cx="64008" cy="1024128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58768" y="3438144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Live 2-Second Sync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858768" y="384962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C4CC"/>
                </a:solidFill>
                <a:latin typeface="Calibri"/>
              </a:rPr>
              <a:t>Toggle Hide on any dish and every
customer sees it gone within 2 seconds.</a:t>
            </a:r>
          </a:p>
        </p:txBody>
      </p:sp>
      <p:sp>
        <p:nvSpPr>
          <p:cNvPr id="61" name="Hexagon 60"/>
          <p:cNvSpPr/>
          <p:nvPr/>
        </p:nvSpPr>
        <p:spPr>
          <a:xfrm>
            <a:off x="3657600" y="4462272"/>
            <a:ext cx="8229600" cy="102412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0" y="4462272"/>
            <a:ext cx="64008" cy="102412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858768" y="4553712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Hide Entire Ody Menu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58768" y="496519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C4CC"/>
                </a:solidFill>
                <a:latin typeface="Calibri"/>
              </a:rPr>
              <a:t>One toggle hides the full Ody Menu
tab for all customers. Instantly live.</a:t>
            </a:r>
          </a:p>
        </p:txBody>
      </p:sp>
      <p:sp>
        <p:nvSpPr>
          <p:cNvPr id="65" name="Hexagon 64"/>
          <p:cNvSpPr/>
          <p:nvPr/>
        </p:nvSpPr>
        <p:spPr>
          <a:xfrm>
            <a:off x="3657600" y="5577840"/>
            <a:ext cx="8229600" cy="102412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657600" y="5577840"/>
            <a:ext cx="64008" cy="102412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858768" y="5669279"/>
            <a:ext cx="7772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Delete Dishes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858768" y="608075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0C4CC"/>
                </a:solidFill>
                <a:latin typeface="Calibri"/>
              </a:rPr>
              <a:t>Remove dishes permanently with one
tap. Gone from the menu immediately.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6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 Black"/>
              </a:rPr>
              <a:t>Real-Time. Always.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961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A84C1"/>
                </a:solidFill>
                <a:latin typeface="Calibri"/>
              </a:rPr>
              <a:t>Every change you make goes live to every customer within 2 seconds.</a:t>
            </a:r>
          </a:p>
        </p:txBody>
      </p:sp>
      <p:sp>
        <p:nvSpPr>
          <p:cNvPr id="4" name="Hexagon 3"/>
          <p:cNvSpPr/>
          <p:nvPr/>
        </p:nvSpPr>
        <p:spPr>
          <a:xfrm>
            <a:off x="365760" y="1508760"/>
            <a:ext cx="2103120" cy="1783080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508760"/>
            <a:ext cx="2103120" cy="73152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A84C1"/>
                </a:solidFill>
                <a:latin typeface="Arial Black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12848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Owner
Hides Dish</a:t>
            </a:r>
          </a:p>
        </p:txBody>
      </p:sp>
      <p:sp>
        <p:nvSpPr>
          <p:cNvPr id="8" name="Hexagon 7"/>
          <p:cNvSpPr/>
          <p:nvPr/>
        </p:nvSpPr>
        <p:spPr>
          <a:xfrm>
            <a:off x="685800" y="3127248"/>
            <a:ext cx="1463040" cy="292608"/>
          </a:xfrm>
          <a:prstGeom prst="hexagon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1272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1 tap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79" y="2057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84C1"/>
                </a:solidFill>
                <a:latin typeface="Arial Black"/>
              </a:rPr>
              <a:t>-&gt;</a:t>
            </a:r>
          </a:p>
        </p:txBody>
      </p:sp>
      <p:sp>
        <p:nvSpPr>
          <p:cNvPr id="11" name="Hexagon 10"/>
          <p:cNvSpPr/>
          <p:nvPr/>
        </p:nvSpPr>
        <p:spPr>
          <a:xfrm>
            <a:off x="2697479" y="1508760"/>
            <a:ext cx="2103120" cy="1783080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97479" y="1508760"/>
            <a:ext cx="2103120" cy="73152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79" y="16002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C107"/>
                </a:solidFill>
                <a:latin typeface="Arial Black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79" y="2212848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Server
Updates</a:t>
            </a:r>
          </a:p>
        </p:txBody>
      </p:sp>
      <p:sp>
        <p:nvSpPr>
          <p:cNvPr id="15" name="Hexagon 14"/>
          <p:cNvSpPr/>
          <p:nvPr/>
        </p:nvSpPr>
        <p:spPr>
          <a:xfrm>
            <a:off x="3017520" y="3127248"/>
            <a:ext cx="1463040" cy="292608"/>
          </a:xfrm>
          <a:prstGeom prst="hexagon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1272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&lt; 0.5s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057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C107"/>
                </a:solidFill>
                <a:latin typeface="Arial Black"/>
              </a:rPr>
              <a:t>-&gt;</a:t>
            </a:r>
          </a:p>
        </p:txBody>
      </p:sp>
      <p:sp>
        <p:nvSpPr>
          <p:cNvPr id="18" name="Hexagon 17"/>
          <p:cNvSpPr/>
          <p:nvPr/>
        </p:nvSpPr>
        <p:spPr>
          <a:xfrm>
            <a:off x="5029200" y="1508760"/>
            <a:ext cx="2103120" cy="1783080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508760"/>
            <a:ext cx="2103120" cy="731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16002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22C55E"/>
                </a:solidFill>
                <a:latin typeface="Arial Black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212848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Poll
Detects</a:t>
            </a:r>
          </a:p>
        </p:txBody>
      </p:sp>
      <p:sp>
        <p:nvSpPr>
          <p:cNvPr id="22" name="Hexagon 21"/>
          <p:cNvSpPr/>
          <p:nvPr/>
        </p:nvSpPr>
        <p:spPr>
          <a:xfrm>
            <a:off x="5349240" y="3127248"/>
            <a:ext cx="1463040" cy="292608"/>
          </a:xfrm>
          <a:prstGeom prst="hexagon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31272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2s max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2057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2C55E"/>
                </a:solidFill>
                <a:latin typeface="Arial Black"/>
              </a:rPr>
              <a:t>-&gt;</a:t>
            </a:r>
          </a:p>
        </p:txBody>
      </p:sp>
      <p:sp>
        <p:nvSpPr>
          <p:cNvPr id="25" name="Hexagon 24"/>
          <p:cNvSpPr/>
          <p:nvPr/>
        </p:nvSpPr>
        <p:spPr>
          <a:xfrm>
            <a:off x="7360919" y="1508760"/>
            <a:ext cx="2103120" cy="1783080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60919" y="1508760"/>
            <a:ext cx="2103120" cy="7315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60919" y="16002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A855F7"/>
                </a:solidFill>
                <a:latin typeface="Arial Black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19" y="2212848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Buffer Screen
Shows</a:t>
            </a:r>
          </a:p>
        </p:txBody>
      </p:sp>
      <p:sp>
        <p:nvSpPr>
          <p:cNvPr id="29" name="Hexagon 28"/>
          <p:cNvSpPr/>
          <p:nvPr/>
        </p:nvSpPr>
        <p:spPr>
          <a:xfrm>
            <a:off x="7680959" y="3127248"/>
            <a:ext cx="1463040" cy="292608"/>
          </a:xfrm>
          <a:prstGeom prst="hexagon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59" y="31272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Smooth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64039" y="2057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A855F7"/>
                </a:solidFill>
                <a:latin typeface="Arial Black"/>
              </a:rPr>
              <a:t>-&gt;</a:t>
            </a:r>
          </a:p>
        </p:txBody>
      </p:sp>
      <p:sp>
        <p:nvSpPr>
          <p:cNvPr id="32" name="Hexagon 31"/>
          <p:cNvSpPr/>
          <p:nvPr/>
        </p:nvSpPr>
        <p:spPr>
          <a:xfrm>
            <a:off x="9692640" y="1508760"/>
            <a:ext cx="2103120" cy="1783080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92640" y="1508760"/>
            <a:ext cx="2103120" cy="7315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92640" y="1600200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EF4444"/>
                </a:solidFill>
                <a:latin typeface="Arial Black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212848"/>
            <a:ext cx="21031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Dish
Disappears</a:t>
            </a:r>
          </a:p>
        </p:txBody>
      </p:sp>
      <p:sp>
        <p:nvSpPr>
          <p:cNvPr id="36" name="Hexagon 35"/>
          <p:cNvSpPr/>
          <p:nvPr/>
        </p:nvSpPr>
        <p:spPr>
          <a:xfrm>
            <a:off x="10012680" y="3127248"/>
            <a:ext cx="1463040" cy="292608"/>
          </a:xfrm>
          <a:prstGeom prst="hexagon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12680" y="3127248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0000"/>
                </a:solidFill>
                <a:latin typeface="Calibri"/>
              </a:rPr>
              <a:t>All customers</a:t>
            </a:r>
          </a:p>
        </p:txBody>
      </p:sp>
      <p:sp>
        <p:nvSpPr>
          <p:cNvPr id="38" name="Hexagon 37"/>
          <p:cNvSpPr/>
          <p:nvPr/>
        </p:nvSpPr>
        <p:spPr>
          <a:xfrm>
            <a:off x="365760" y="3794760"/>
            <a:ext cx="3749039" cy="2633472"/>
          </a:xfrm>
          <a:prstGeom prst="hexagon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794760"/>
            <a:ext cx="3749039" cy="91440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4005072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0A84C1"/>
                </a:solidFill>
                <a:latin typeface="Arial Black"/>
              </a:rPr>
              <a:t>2 sec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13892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C4CC"/>
                </a:solidFill>
                <a:latin typeface="Calibri"/>
              </a:rPr>
              <a:t>Max detection time</a:t>
            </a:r>
          </a:p>
        </p:txBody>
      </p:sp>
      <p:sp>
        <p:nvSpPr>
          <p:cNvPr id="42" name="Hexagon 41"/>
          <p:cNvSpPr/>
          <p:nvPr/>
        </p:nvSpPr>
        <p:spPr>
          <a:xfrm>
            <a:off x="4315968" y="3794760"/>
            <a:ext cx="3749039" cy="2633472"/>
          </a:xfrm>
          <a:prstGeom prst="hexagon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15968" y="3794760"/>
            <a:ext cx="3749039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15968" y="4005072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22C55E"/>
                </a:solidFill>
                <a:latin typeface="Arial Black"/>
              </a:rPr>
              <a:t>100%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315968" y="513892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C4CC"/>
                </a:solidFill>
                <a:latin typeface="Calibri"/>
              </a:rPr>
              <a:t>Works on any smartphone</a:t>
            </a:r>
          </a:p>
        </p:txBody>
      </p:sp>
      <p:sp>
        <p:nvSpPr>
          <p:cNvPr id="46" name="Hexagon 45"/>
          <p:cNvSpPr/>
          <p:nvPr/>
        </p:nvSpPr>
        <p:spPr>
          <a:xfrm>
            <a:off x="8266176" y="3794760"/>
            <a:ext cx="3749039" cy="2633472"/>
          </a:xfrm>
          <a:prstGeom prst="hexagon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66176" y="3794760"/>
            <a:ext cx="3749039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66176" y="4005072"/>
            <a:ext cx="37490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FFC107"/>
                </a:solidFill>
                <a:latin typeface="Arial Black"/>
              </a:rPr>
              <a:t>24 / 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66176" y="5138928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0C4CC"/>
                </a:solidFill>
                <a:latin typeface="Calibri"/>
              </a:rPr>
              <a:t>Live sync never stops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rial Black"/>
              </a:rPr>
              <a:t>Simple, Honest Pricing</a:t>
            </a:r>
          </a:p>
        </p:txBody>
      </p:sp>
      <p:sp>
        <p:nvSpPr>
          <p:cNvPr id="4" name="Hexagon 3"/>
          <p:cNvSpPr/>
          <p:nvPr/>
        </p:nvSpPr>
        <p:spPr>
          <a:xfrm>
            <a:off x="3291840" y="1078992"/>
            <a:ext cx="5605272" cy="5349240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91840" y="1078992"/>
            <a:ext cx="5605272" cy="91440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0" y="1234440"/>
            <a:ext cx="56052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600" b="1" i="0">
                <a:solidFill>
                  <a:srgbClr val="0A84C1"/>
                </a:solidFill>
                <a:latin typeface="Arial Black"/>
              </a:rPr>
              <a:t>Rs. 399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450592"/>
            <a:ext cx="5605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0C4CC"/>
                </a:solidFill>
                <a:latin typeface="Calibri"/>
              </a:rPr>
              <a:t>per month  |  per restaurant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749039" y="2944368"/>
            <a:ext cx="4690872" cy="18288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93008" y="3145536"/>
            <a:ext cx="128016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3035808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Full Ody Menu with unlimited dishes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93008" y="3621024"/>
            <a:ext cx="128016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94176" y="3511296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AR View for any dish (Luma AI)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4096511"/>
            <a:ext cx="128016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3986783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AI Waiter for your customers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93008" y="4572000"/>
            <a:ext cx="128016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94176" y="4462272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AI Manager with weekly insights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44768" y="3145536"/>
            <a:ext cx="128016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45936" y="3035808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Favorites, Eat Later and Ratings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3621024"/>
            <a:ext cx="128016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45936" y="3511296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Live menu updates (2-second sync)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4768" y="4096511"/>
            <a:ext cx="128016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45936" y="3986783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Full Owner Dashboard and analytics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4768" y="4572000"/>
            <a:ext cx="128016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45936" y="4462272"/>
            <a:ext cx="2331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Calibri"/>
              </a:rPr>
              <a:t>Unlimited QR code scans</a:t>
            </a:r>
          </a:p>
        </p:txBody>
      </p:sp>
      <p:sp>
        <p:nvSpPr>
          <p:cNvPr id="25" name="Hexagon 24"/>
          <p:cNvSpPr/>
          <p:nvPr/>
        </p:nvSpPr>
        <p:spPr>
          <a:xfrm>
            <a:off x="347472" y="1874519"/>
            <a:ext cx="2697480" cy="1965960"/>
          </a:xfrm>
          <a:prstGeom prst="hexagon">
            <a:avLst/>
          </a:prstGeom>
          <a:solidFill>
            <a:srgbClr val="0612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7472" y="1874519"/>
            <a:ext cx="64008" cy="1965960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19933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No Setup Fee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" y="2450592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4CC"/>
                </a:solidFill>
                <a:latin typeface="Calibri"/>
              </a:rPr>
              <a:t>No hidden charges.
No long-term contract.
Cancel any time.</a:t>
            </a:r>
          </a:p>
        </p:txBody>
      </p:sp>
      <p:sp>
        <p:nvSpPr>
          <p:cNvPr id="29" name="Hexagon 28"/>
          <p:cNvSpPr/>
          <p:nvPr/>
        </p:nvSpPr>
        <p:spPr>
          <a:xfrm>
            <a:off x="9144000" y="1874519"/>
            <a:ext cx="2697480" cy="1965960"/>
          </a:xfrm>
          <a:prstGeom prst="hexagon">
            <a:avLst/>
          </a:prstGeom>
          <a:solidFill>
            <a:srgbClr val="061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0" y="1874519"/>
            <a:ext cx="64008" cy="19659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26880" y="199339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Rs. 14 / day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2450592"/>
            <a:ext cx="23774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0C4CC"/>
                </a:solidFill>
                <a:latin typeface="Calibri"/>
              </a:rPr>
              <a:t>Less than a cup of
chai per day for a
complete digital menu.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4648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107"/>
                </a:solidFill>
                <a:latin typeface="Calibri"/>
              </a:rPr>
              <a:t>Early adopters: first 3 months at 50% off  —  Rs. 199 / month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82880"/>
            <a:ext cx="9601200" cy="6492240"/>
          </a:xfrm>
          <a:prstGeom prst="ellipse">
            <a:avLst/>
          </a:prstGeom>
          <a:solidFill>
            <a:srgbClr val="03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2377440" cy="2377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633472"/>
            <a:ext cx="8229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Arial Black"/>
              </a:rPr>
              <a:t>Ready to Transform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401568"/>
            <a:ext cx="8229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0A84C1"/>
                </a:solidFill>
                <a:latin typeface="Arial Black"/>
              </a:rPr>
              <a:t>Your Restaurant?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15968"/>
            <a:ext cx="8229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0C4CC"/>
                </a:solidFill>
                <a:latin typeface="Calibri"/>
              </a:rPr>
              <a:t>Join OdyCard today and give your customers the most
immersive, AI-powered menu experience in India.</a:t>
            </a:r>
          </a:p>
        </p:txBody>
      </p:sp>
      <p:sp>
        <p:nvSpPr>
          <p:cNvPr id="7" name="Hexagon 6"/>
          <p:cNvSpPr/>
          <p:nvPr/>
        </p:nvSpPr>
        <p:spPr>
          <a:xfrm>
            <a:off x="457200" y="5468112"/>
            <a:ext cx="3291840" cy="749808"/>
          </a:xfrm>
          <a:prstGeom prst="hexagon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46811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Get Started  &gt;&gt;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5559552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A84C1"/>
                </a:solidFill>
                <a:latin typeface="Calibri"/>
              </a:rPr>
              <a:t>odysra.com</a:t>
            </a:r>
          </a:p>
        </p:txBody>
      </p:sp>
      <p:sp>
        <p:nvSpPr>
          <p:cNvPr id="10" name="Hexagon 9"/>
          <p:cNvSpPr/>
          <p:nvPr/>
        </p:nvSpPr>
        <p:spPr>
          <a:xfrm>
            <a:off x="8869680" y="914400"/>
            <a:ext cx="1463040" cy="175564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0" y="914400"/>
            <a:ext cx="1463040" cy="91440"/>
          </a:xfrm>
          <a:prstGeom prst="rect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72600" y="1115568"/>
            <a:ext cx="457200" cy="457200"/>
          </a:xfrm>
          <a:prstGeom prst="ellipse">
            <a:avLst/>
          </a:prstGeom>
          <a:solidFill>
            <a:srgbClr val="0A84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113385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 Black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24544" y="1664207"/>
            <a:ext cx="1353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Smart QR Menu</a:t>
            </a:r>
          </a:p>
        </p:txBody>
      </p:sp>
      <p:sp>
        <p:nvSpPr>
          <p:cNvPr id="15" name="Hexagon 14"/>
          <p:cNvSpPr/>
          <p:nvPr/>
        </p:nvSpPr>
        <p:spPr>
          <a:xfrm>
            <a:off x="10442448" y="914400"/>
            <a:ext cx="1463040" cy="175564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442448" y="914400"/>
            <a:ext cx="1463040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45368" y="1115568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45368" y="1133856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 Black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97312" y="1664207"/>
            <a:ext cx="1353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AR Dish View</a:t>
            </a:r>
          </a:p>
        </p:txBody>
      </p:sp>
      <p:sp>
        <p:nvSpPr>
          <p:cNvPr id="20" name="Hexagon 19"/>
          <p:cNvSpPr/>
          <p:nvPr/>
        </p:nvSpPr>
        <p:spPr>
          <a:xfrm>
            <a:off x="8869680" y="2816352"/>
            <a:ext cx="1463040" cy="175564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2816352"/>
            <a:ext cx="1463040" cy="91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372600" y="3017520"/>
            <a:ext cx="457200" cy="4572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2600" y="30358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 Black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24544" y="3566160"/>
            <a:ext cx="1353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AI Waiter</a:t>
            </a:r>
          </a:p>
        </p:txBody>
      </p:sp>
      <p:sp>
        <p:nvSpPr>
          <p:cNvPr id="25" name="Hexagon 24"/>
          <p:cNvSpPr/>
          <p:nvPr/>
        </p:nvSpPr>
        <p:spPr>
          <a:xfrm>
            <a:off x="10442448" y="2816352"/>
            <a:ext cx="1463040" cy="175564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442448" y="2816352"/>
            <a:ext cx="1463040" cy="9144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45368" y="3017520"/>
            <a:ext cx="457200" cy="45720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45368" y="3035808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 Black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97312" y="3566160"/>
            <a:ext cx="1353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AI Manager</a:t>
            </a:r>
          </a:p>
        </p:txBody>
      </p:sp>
      <p:sp>
        <p:nvSpPr>
          <p:cNvPr id="30" name="Hexagon 29"/>
          <p:cNvSpPr/>
          <p:nvPr/>
        </p:nvSpPr>
        <p:spPr>
          <a:xfrm>
            <a:off x="8869680" y="4718304"/>
            <a:ext cx="1463040" cy="175564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869680" y="4718304"/>
            <a:ext cx="1463040" cy="914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72600" y="4919472"/>
            <a:ext cx="457200" cy="45720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49377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 Black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24544" y="5468112"/>
            <a:ext cx="1353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Live Updates</a:t>
            </a:r>
          </a:p>
        </p:txBody>
      </p:sp>
      <p:sp>
        <p:nvSpPr>
          <p:cNvPr id="35" name="Hexagon 34"/>
          <p:cNvSpPr/>
          <p:nvPr/>
        </p:nvSpPr>
        <p:spPr>
          <a:xfrm>
            <a:off x="10442448" y="4718304"/>
            <a:ext cx="1463040" cy="1755648"/>
          </a:xfrm>
          <a:prstGeom prst="hexagon">
            <a:avLst/>
          </a:prstGeom>
          <a:solidFill>
            <a:srgbClr val="262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42448" y="4718304"/>
            <a:ext cx="1463040" cy="9144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945368" y="4919472"/>
            <a:ext cx="457200" cy="45720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45368" y="4937760"/>
            <a:ext cx="457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 Black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97312" y="5468112"/>
            <a:ext cx="135331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Dashboard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4922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C4CC"/>
                </a:solidFill>
                <a:latin typeface="Calibri"/>
              </a:rPr>
              <a:t>Rs.399/month  |  No setup fee  |  Cancel anytime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