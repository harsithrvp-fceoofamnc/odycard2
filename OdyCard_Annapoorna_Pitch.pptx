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dycard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1207008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32520" y="457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372600" y="768096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1" descr="assets/annapoor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88797"/>
            <a:ext cx="1828800" cy="471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ODYSRA · ODYCARD PRESENTS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49808" y="2606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Waiter,</a:t>
            </a:r>
            <a:endParaRPr lang="en-US" sz="4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only for Annapoorna.</a:t>
            </a:r>
            <a:endParaRPr lang="en-US" sz="4300" dirty="0"/>
          </a:p>
        </p:txBody>
      </p:sp>
      <p:sp>
        <p:nvSpPr>
          <p:cNvPr id="8" name="Text 4"/>
          <p:cNvSpPr/>
          <p:nvPr/>
        </p:nvSpPr>
        <p:spPr>
          <a:xfrm>
            <a:off x="777240" y="4526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A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AI dining assistant on a simple table QR — it recommends, answers every question, and helps each guest order better.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9006840" y="2697480"/>
            <a:ext cx="2240280" cy="2240280"/>
          </a:xfrm>
          <a:prstGeom prst="ellipse">
            <a:avLst/>
          </a:prstGeom>
          <a:solidFill>
            <a:srgbClr val="D9A93C"/>
          </a:solidFill>
          <a:ln/>
        </p:spPr>
      </p:sp>
      <p:sp>
        <p:nvSpPr>
          <p:cNvPr id="10" name="Shape 6"/>
          <p:cNvSpPr/>
          <p:nvPr/>
        </p:nvSpPr>
        <p:spPr>
          <a:xfrm>
            <a:off x="9125712" y="2816352"/>
            <a:ext cx="2002536" cy="2002536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11" name="Image 2" descr="assets/icons/comment_gol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406140"/>
            <a:ext cx="822960" cy="822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108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Scan.  Ask.  Order.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77240" y="6053328"/>
            <a:ext cx="5669280" cy="0"/>
          </a:xfrm>
          <a:prstGeom prst="line">
            <a:avLst/>
          </a:prstGeom>
          <a:noFill/>
          <a:ln w="16510">
            <a:solidFill>
              <a:srgbClr val="D9A93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7240" y="6144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Odysra</a:t>
            </a:r>
            <a:pPr indent="0" marL="0">
              <a:buNone/>
            </a:pPr>
            <a:r>
              <a:rPr lang="en-US" sz="1400" i="1" dirty="0">
                <a:solidFill>
                  <a:srgbClr val="EAD9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 an era of good fortune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company. One product. One assistant for you.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606040"/>
            <a:ext cx="1005840" cy="1005840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6" name="Image 0" descr="assets/icons/sto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28575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ODYSRA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company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venture — “an era of good fortune.”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606040"/>
            <a:ext cx="1005840" cy="1005840"/>
          </a:xfrm>
          <a:prstGeom prst="ellipse">
            <a:avLst/>
          </a:prstGeom>
          <a:solidFill>
            <a:srgbClr val="6E5320"/>
          </a:solidFill>
          <a:ln/>
        </p:spPr>
      </p:sp>
      <p:pic>
        <p:nvPicPr>
          <p:cNvPr id="12" name="Image 1" descr="assets/icons/sparkl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8575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ODYCARD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57200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63440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smart menu card — your menu, reimagined.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0" y="21488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1750">
            <a:solidFill>
              <a:srgbClr val="D9A9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18320" y="2606040"/>
            <a:ext cx="1005840" cy="100584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8" name="Image 2" descr="assets/icons/commen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28575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WAITER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841248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AI chatbot  ·  this project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503920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for Sree Annapoorna — the smart dining assistant inside OdyCard.</a:t>
            </a:r>
            <a:endParaRPr lang="en-US" sz="1350" dirty="0"/>
          </a:p>
        </p:txBody>
      </p:sp>
      <p:pic>
        <p:nvPicPr>
          <p:cNvPr id="22" name="Image 3" descr="assets/icons/arrowright_brow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3584448"/>
            <a:ext cx="329184" cy="329184"/>
          </a:xfrm>
          <a:prstGeom prst="rect">
            <a:avLst/>
          </a:prstGeom>
        </p:spPr>
      </p:pic>
      <p:pic>
        <p:nvPicPr>
          <p:cNvPr id="23" name="Image 4" descr="assets/icons/arrowright_br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358444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assistant we're presenting to you today.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554480"/>
            <a:ext cx="2103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5E4A28">
                    <a:alpha val="2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WITH A QUESTION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 your busiest Sunday lunch…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6" name="Image 0" descr="assets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5" y="27930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4261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table fills at once, who tells each guest about today's specials?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9" name="Image 1" descr="assets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5" y="3661715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51129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dishes go unnoticed — simply because no one described them?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2" name="Image 2" descr="assets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5" y="453039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37997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tired is your waiter by the hundredth “what's good here?”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5" name="Image 3" descr="assets/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35" y="5399075"/>
            <a:ext cx="311810" cy="3118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524865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guests order less than they'd love to, just because they didn't know?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77240" y="6199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answer that  →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great waiter simply can't be everywhere at once.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624328"/>
            <a:ext cx="914400" cy="91440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6" name="Image 0" descr="assets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8529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rush bottleneck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965960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hours, staff can't describe every dish to every table. Guests wait, or just guess.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22402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624328"/>
            <a:ext cx="914400" cy="91440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1" name="Image 1" descr="assets/icons/utensi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8529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6952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dishes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616952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specials and best dishes stay invisible when there's no one to pitch them.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681728"/>
            <a:ext cx="914400" cy="91440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6" name="Image 2" descr="assets/icons/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9103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902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Under-ordering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965960" y="5074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order less than they'd enjoy — only because they didn't know the options.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99632" y="42976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681728"/>
            <a:ext cx="914400" cy="91440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21" name="Image 3" descr="assets/icons/repea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9103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6952" y="45902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Tiring &amp; untracked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616952" y="5074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Waiters repeat the same answers all day, and you capture none of what guests actually wanted.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4A3413"/>
          </a:solidFill>
          <a:ln/>
        </p:spPr>
      </p:sp>
      <p:sp>
        <p:nvSpPr>
          <p:cNvPr id="3" name="Shape 1"/>
          <p:cNvSpPr/>
          <p:nvPr/>
        </p:nvSpPr>
        <p:spPr>
          <a:xfrm>
            <a:off x="4709160" y="0"/>
            <a:ext cx="73152" cy="6858000"/>
          </a:xfrm>
          <a:prstGeom prst="rect">
            <a:avLst/>
          </a:prstGeom>
          <a:solidFill>
            <a:srgbClr val="D9A9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every table a tireless AI waiter.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0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knows your entire menu, recommends like your best server, and helps guests order more — while easing the load on your staff.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57800" y="1325880"/>
            <a:ext cx="566928" cy="566928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8" name="Image 0" descr="asset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359" y="145343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0" y="128930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menu perfectly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0" y="17099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dish, price, and detail — always at hand.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57800" y="2532888"/>
            <a:ext cx="566928" cy="566928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2" name="Image 1" descr="assets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359" y="2660447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249631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&amp; upsell honestly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035040" y="29169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bill by being genuinely helpful, never pushy.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257800" y="3739896"/>
            <a:ext cx="566928" cy="566928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6" name="Image 2" descr="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359" y="386745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703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Lighten the staff workload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035040" y="4123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answers; your team focuses on service.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257800" y="4946904"/>
            <a:ext cx="566928" cy="566928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20" name="Image 3" descr="assets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359" y="5074463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49103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only for Annapoorna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035040" y="53309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assistant, tuned to your restaurant.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EA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554480"/>
            <a:ext cx="2103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5E4A28">
                    <a:alpha val="2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BE WONDERING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“Isn't this just ChatGPT or a QR-code menu?”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6" name="Image 0" descr="assets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5" y="27930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4261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normal QR menu actually recommend dishes like a seasoned waiter?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9" name="Image 1" descr="assets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5" y="3661715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51129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generic chatbot know Annapoorna's real menu, prices, and what's sold out right now?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2" name="Image 2" descr="assets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5" y="453039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37997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talk to your guests in Tamil?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5" name="Image 3" descr="assets/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35" y="5399075"/>
            <a:ext cx="311810" cy="3118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524865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get smarter every single day — without costing a fortune?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77240" y="6199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makes it different  →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generic bot. Your bot.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03504" cy="603504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5" name="Image 0" descr="asset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29368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214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on YOUR menu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25880" y="24963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speaks only from Annapoorna's real dishes and prices — it never invents.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603504" cy="603504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9" name="Image 1" descr="assets/icons/langu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13492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6265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your guests' language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25880" y="3337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&amp; English to start — built to scale to Hindi, Malayalam, Telugu &amp; Kannada.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603504" cy="603504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3" name="Image 2" descr="assets/icons/sparkl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3976177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80390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 margin-aware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25880" y="41788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Gently favours your profitable dishes — framed by taste, never price. Guests never feel pushed.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672584"/>
            <a:ext cx="603504" cy="603504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7" name="Image 3" descr="assets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1" y="4817425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64515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every day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25880" y="5020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from each chat and from your existing Google reviews.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13832"/>
            <a:ext cx="603504" cy="603504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21" name="Image 4" descr="assets/icons/st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81" y="5658673"/>
            <a:ext cx="313822" cy="31382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4864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only for you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325880" y="58613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assistant for Sree Annapoorna — not an off-the-shelf app.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83880" y="2011680"/>
            <a:ext cx="3520440" cy="4160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183880" y="2011680"/>
            <a:ext cx="3520440" cy="822960"/>
          </a:xfrm>
          <a:prstGeom prst="roundRect">
            <a:avLst>
              <a:gd name="adj" fmla="val 15556"/>
            </a:avLst>
          </a:prstGeom>
          <a:solidFill>
            <a:srgbClr val="4A3413"/>
          </a:solidFill>
          <a:ln/>
        </p:spPr>
      </p:sp>
      <p:sp>
        <p:nvSpPr>
          <p:cNvPr id="26" name="Shape 19"/>
          <p:cNvSpPr/>
          <p:nvPr/>
        </p:nvSpPr>
        <p:spPr>
          <a:xfrm>
            <a:off x="8183880" y="2423160"/>
            <a:ext cx="3520440" cy="411480"/>
          </a:xfrm>
          <a:prstGeom prst="rect">
            <a:avLst/>
          </a:prstGeom>
          <a:solidFill>
            <a:srgbClr val="4A3413"/>
          </a:solidFill>
          <a:ln/>
        </p:spPr>
      </p:sp>
      <p:sp>
        <p:nvSpPr>
          <p:cNvPr id="27" name="Shape 20"/>
          <p:cNvSpPr/>
          <p:nvPr/>
        </p:nvSpPr>
        <p:spPr>
          <a:xfrm>
            <a:off x="8412480" y="2194560"/>
            <a:ext cx="457200" cy="45720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28" name="Image 5" descr="assets/icons/comment_brow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229514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70264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Waiter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9098280" y="301752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EAC158"/>
          </a:solidFill>
          <a:ln/>
        </p:spPr>
      </p:sp>
      <p:sp>
        <p:nvSpPr>
          <p:cNvPr id="31" name="Text 23"/>
          <p:cNvSpPr/>
          <p:nvPr/>
        </p:nvSpPr>
        <p:spPr>
          <a:xfrm>
            <a:off x="918972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2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light &amp; not too spicy?”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412480" y="3840480"/>
            <a:ext cx="2834640" cy="1508760"/>
          </a:xfrm>
          <a:prstGeom prst="roundRect">
            <a:avLst>
              <a:gd name="adj" fmla="val 6061"/>
            </a:avLst>
          </a:prstGeom>
          <a:solidFill>
            <a:srgbClr val="F4ECDD"/>
          </a:solidFill>
          <a:ln w="12700">
            <a:solidFill>
              <a:srgbClr val="E2D4B6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549640" y="393192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our Ghee Pongal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guest favourite, mild and comforting. Pairs perfectly with hot filter coffee.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41248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in Tamil too · always available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554480"/>
            <a:ext cx="2103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5E4A28">
                    <a:alpha val="2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WORRY WITH AI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“Smart AI is expensive. So how do we keep it cheap?”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6" name="Image 0" descr="assets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5" y="297591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82549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it answer instantly without running up huge AI bills?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9" name="Image 1" descr="assets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5" y="4027475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87705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always know what's sold out — in real time?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68680" y="498348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2" name="Image 2" descr="assets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5" y="507903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92861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get smarter over time without costly retraining?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77240" y="6199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secret: two brains  →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brains — one fast, one smart.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927327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6" name="Image 0" descr="assets/icons/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23262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asks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spice · what's good?</a:t>
            </a:r>
            <a:endParaRPr lang="en-US" sz="1100" dirty="0"/>
          </a:p>
        </p:txBody>
      </p:sp>
      <p:pic>
        <p:nvPicPr>
          <p:cNvPr id="9" name="Image 1" descr="assets/icons/arrowright_br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2304288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20116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D9A9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80560" y="2194560"/>
            <a:ext cx="548640" cy="54864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2" name="Image 2" descr="assets/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234" y="23262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2157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1663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brain · answers free</a:t>
            </a:r>
            <a:endParaRPr lang="en-US" sz="1100" dirty="0"/>
          </a:p>
        </p:txBody>
      </p:sp>
      <p:pic>
        <p:nvPicPr>
          <p:cNvPr id="15" name="Image 3" descr="assets/icons/arrowright_brow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304288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83880" y="2011680"/>
            <a:ext cx="3456432" cy="914400"/>
          </a:xfrm>
          <a:prstGeom prst="roundRect">
            <a:avLst>
              <a:gd name="adj" fmla="val 10000"/>
            </a:avLst>
          </a:prstGeom>
          <a:solidFill>
            <a:srgbClr val="4A3413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366760" y="2194560"/>
            <a:ext cx="548640" cy="548640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8" name="Image 4" descr="assets/icons/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232623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52560" y="215798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9052560" y="251460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 · only when needed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48640" y="33832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68680" y="3703320"/>
            <a:ext cx="82296" cy="1280160"/>
          </a:xfrm>
          <a:prstGeom prst="rect">
            <a:avLst/>
          </a:prstGeom>
          <a:solidFill>
            <a:srgbClr val="D9A93C"/>
          </a:solidFill>
          <a:ln/>
        </p:spPr>
      </p:sp>
      <p:sp>
        <p:nvSpPr>
          <p:cNvPr id="23" name="Text 16"/>
          <p:cNvSpPr/>
          <p:nvPr/>
        </p:nvSpPr>
        <p:spPr>
          <a:xfrm>
            <a:off x="1097280" y="36576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— the quick brain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097280" y="41605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common questions: prices, availability, timings, restaurant info.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instantly, at zero AI cost.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availability live — so it's never wrong about what's sold out.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199632" y="33832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19672" y="3703320"/>
            <a:ext cx="82296" cy="1280160"/>
          </a:xfrm>
          <a:prstGeom prst="rect">
            <a:avLst/>
          </a:prstGeom>
          <a:solidFill>
            <a:srgbClr val="4A3413"/>
          </a:solidFill>
          <a:ln/>
        </p:spPr>
      </p:sp>
      <p:sp>
        <p:nvSpPr>
          <p:cNvPr id="27" name="Text 20"/>
          <p:cNvSpPr/>
          <p:nvPr/>
        </p:nvSpPr>
        <p:spPr>
          <a:xfrm>
            <a:off x="6748272" y="36576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— the AI brain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748272" y="41605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 conversations and recommendations using top AI (Gemini).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tricky questions ever reach it — keeping costs low.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Alpha as it goes, so the chatbot keeps getting smarter.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your live menu.  </a:t>
            </a:r>
            <a:pPr algn="ctr" indent="0" marL="0">
              <a:buNone/>
            </a:pPr>
            <a:r>
              <a:rPr lang="en-US" sz="130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questions are answered free by Alpha — only the tricky ones reach Beta.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554480"/>
            <a:ext cx="2103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5E4A28">
                    <a:alpha val="2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FUN PART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So… what can the AI chatbot actually do at the table?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6" name="Image 0" descr="assets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5" y="27930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4261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recommend the perfect dish for a guest's mood and budget?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9" name="Image 1" descr="assets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5" y="3661715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51129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answer “is this Jain?” or “how spicy is it?” in a second?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2" name="Image 2" descr="assets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5" y="453039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37997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handle a banquet-hall enquiry while you're busy serving?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5" name="Image 3" descr="assets/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35" y="5399075"/>
            <a:ext cx="311810" cy="3118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5248656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remember what guests loved — and tell you?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77240" y="6199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full skill set  →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CHATBOT DOES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waiter's full skill set.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340864"/>
            <a:ext cx="713232" cy="713232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6" name="Image 0" descr="assets/icons/utensi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5191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272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recommendations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dishes by taste, mood &amp; budget — like your best server.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21031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340864"/>
            <a:ext cx="713232" cy="713232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11" name="Image 1" descr="assets/icons/comme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5191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31272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any question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Ingredients, spice, Jain / no onion-garlic — instantly.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21031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2340864"/>
            <a:ext cx="713232" cy="713232"/>
          </a:xfrm>
          <a:prstGeom prst="ellipse">
            <a:avLst/>
          </a:prstGeom>
          <a:solidFill>
            <a:srgbClr val="6E5320"/>
          </a:solidFill>
          <a:ln/>
        </p:spPr>
      </p:sp>
      <p:pic>
        <p:nvPicPr>
          <p:cNvPr id="16" name="Image 2" descr="assets/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36" y="25191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3096" y="31272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availability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83096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recommends a dish that's sold out.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53144" y="21031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340864"/>
            <a:ext cx="713232" cy="713232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21" name="Image 3" descr="assets/icons/calendar_brow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4" y="25191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31272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Banquet enquiries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81744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hall questions &amp; captures booking leads, 24/7.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1605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398264"/>
            <a:ext cx="713232" cy="713232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26" name="Image 4" descr="assets/icons/inf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57657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1846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info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85800" y="55686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Timings, location, parking, seating — all covered.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55848" y="41605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11880" y="4398264"/>
            <a:ext cx="713232" cy="713232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31" name="Image 5" descr="assets/icons/langua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188" y="457657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84448" y="51846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6 languages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84448" y="55686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&amp; English now; Hindi, Malayalam, Telugu, Kannada ready.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54496" y="41605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510528" y="4398264"/>
            <a:ext cx="713232" cy="713232"/>
          </a:xfrm>
          <a:prstGeom prst="ellipse">
            <a:avLst/>
          </a:prstGeom>
          <a:solidFill>
            <a:srgbClr val="6E5320"/>
          </a:solidFill>
          <a:ln/>
        </p:spPr>
      </p:sp>
      <p:pic>
        <p:nvPicPr>
          <p:cNvPr id="36" name="Image 6" descr="assets/icons/sta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836" y="4576572"/>
            <a:ext cx="356616" cy="3566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83096" y="51846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feedback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83096" y="55686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feedback and flags problems to your manager fast.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53144" y="41605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409176" y="4398264"/>
            <a:ext cx="713232" cy="713232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41" name="Image 7" descr="assets/icons/images_brow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7484" y="4576572"/>
            <a:ext cx="356616" cy="35661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81744" y="51846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Dish photos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381744" y="55686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tempting photos so guests order with their eyes.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CHATBOT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assistant. The power of two systems.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25796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50592"/>
            <a:ext cx="868680" cy="86868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6" name="Image 0" descr="assets/icons/users_b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667762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50592"/>
            <a:ext cx="3671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74520" y="2889504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44485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guest preferences &amp; feedback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what guests love — and what's missing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chat into real customer data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14516" y="2103120"/>
            <a:ext cx="5225796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34556" y="2450592"/>
            <a:ext cx="868680" cy="86868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12" name="Image 1" descr="assets/icons/list_br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726" y="2667762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40396" y="2450592"/>
            <a:ext cx="3671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740396" y="2889504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Menu Management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25996" y="3474720"/>
            <a:ext cx="44485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menu, prices &amp; availability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banquet &amp; booking enquiries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to lift each order, eases staff load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710428" y="3159252"/>
            <a:ext cx="768096" cy="768096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7" name="Image 2" descr="assets/icons/plus_gol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3360420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4A3413"/>
          </a:solidFill>
          <a:ln/>
        </p:spPr>
      </p:sp>
      <p:sp>
        <p:nvSpPr>
          <p:cNvPr id="19" name="Text 14"/>
          <p:cNvSpPr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TMS, combined into one simple QR chat.    </a:t>
            </a:r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up to 6 languages — English · Tamil · Hindi · Malayalam · Telugu · Kannada   (Tamil &amp; English first).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27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ANNAPOORNA GAINS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orders, lighter load, zero missed leads.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87168"/>
            <a:ext cx="777240" cy="777240"/>
          </a:xfrm>
          <a:prstGeom prst="ellipse">
            <a:avLst/>
          </a:prstGeom>
          <a:solidFill>
            <a:srgbClr val="927327"/>
          </a:solidFill>
          <a:ln/>
        </p:spPr>
      </p:sp>
      <p:pic>
        <p:nvPicPr>
          <p:cNvPr id="6" name="Image 0" descr="assets/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681478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87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bills, naturally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94436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“Something light.” → AI: “Our Ghee Pongal is a favourite — lovely with filter coffee.” A gentle nudge lifts the average bill, and the guest still feels cared for.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263640" y="21945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87168"/>
            <a:ext cx="777240" cy="777240"/>
          </a:xfrm>
          <a:prstGeom prst="ellipse">
            <a:avLst/>
          </a:prstGeom>
          <a:solidFill>
            <a:srgbClr val="4A3413"/>
          </a:solidFill>
          <a:ln/>
        </p:spPr>
      </p:sp>
      <p:pic>
        <p:nvPicPr>
          <p:cNvPr id="11" name="Image 1" descr="assets/icons/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2681478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487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Lighter load on staff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3800" y="294436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fields the endless “what's good?” and “is it spicy?” questions, so your team focuses on serving, not explaining.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590288"/>
            <a:ext cx="777240" cy="777240"/>
          </a:xfrm>
          <a:prstGeom prst="ellipse">
            <a:avLst/>
          </a:prstGeom>
          <a:solidFill>
            <a:srgbClr val="6E5320"/>
          </a:solidFill>
          <a:ln/>
        </p:spPr>
      </p:sp>
      <p:pic>
        <p:nvPicPr>
          <p:cNvPr id="16" name="Image 2" descr="assets/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784598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90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miss a banquet lead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0474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wedding enquiry at 11 pm? The chatbot answers and captures their number — even when you're closed.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263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D4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590288"/>
            <a:ext cx="777240" cy="777240"/>
          </a:xfrm>
          <a:prstGeom prst="ellipse">
            <a:avLst/>
          </a:prstGeom>
          <a:solidFill>
            <a:srgbClr val="D9A93C"/>
          </a:solidFill>
          <a:ln/>
        </p:spPr>
      </p:sp>
      <p:pic>
        <p:nvPicPr>
          <p:cNvPr id="21" name="Image 3" descr="assets/icons/chart_brow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70" y="4784598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590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guests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3800" y="50474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guests ask for, what's in demand, and what's missing — real data you never had before.</a:t>
            </a:r>
            <a:endParaRPr lang="en-US" sz="118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9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15184" cy="2926080"/>
          </a:xfrm>
          <a:prstGeom prst="roundRect">
            <a:avLst>
              <a:gd name="adj" fmla="val 4196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2651760"/>
            <a:ext cx="1005840" cy="1005840"/>
          </a:xfrm>
          <a:prstGeom prst="ellipse">
            <a:avLst/>
          </a:prstGeom>
          <a:solidFill>
            <a:srgbClr val="2A1E10"/>
          </a:solidFill>
          <a:ln w="25400">
            <a:solidFill>
              <a:srgbClr val="D9A93C"/>
            </a:solidFill>
            <a:prstDash val="solid"/>
          </a:ln>
        </p:spPr>
      </p:sp>
      <p:pic>
        <p:nvPicPr>
          <p:cNvPr id="6" name="Image 0" descr="assets/icons/arrowu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529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8404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bill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448056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honest upselling on every table.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7288" y="2286000"/>
            <a:ext cx="2615184" cy="2926080"/>
          </a:xfrm>
          <a:prstGeom prst="roundRect">
            <a:avLst>
              <a:gd name="adj" fmla="val 4196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2651760"/>
            <a:ext cx="1005840" cy="1005840"/>
          </a:xfrm>
          <a:prstGeom prst="ellipse">
            <a:avLst/>
          </a:prstGeom>
          <a:solidFill>
            <a:srgbClr val="2A1E10"/>
          </a:solidFill>
          <a:ln w="25400">
            <a:solidFill>
              <a:srgbClr val="D9A93C"/>
            </a:solidFill>
            <a:prstDash val="solid"/>
          </a:ln>
        </p:spPr>
      </p:sp>
      <p:pic>
        <p:nvPicPr>
          <p:cNvPr id="11" name="Image 1" descr="assets/icons/arrowdow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85292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38404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 for answers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75888" y="448056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get help instantly, even at peak.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45936" y="2286000"/>
            <a:ext cx="2615184" cy="2926080"/>
          </a:xfrm>
          <a:prstGeom prst="roundRect">
            <a:avLst>
              <a:gd name="adj" fmla="val 4196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0608" y="2651760"/>
            <a:ext cx="1005840" cy="1005840"/>
          </a:xfrm>
          <a:prstGeom prst="ellipse">
            <a:avLst/>
          </a:prstGeom>
          <a:solidFill>
            <a:srgbClr val="2A1E10"/>
          </a:solidFill>
          <a:ln w="25400">
            <a:solidFill>
              <a:srgbClr val="D9A93C"/>
            </a:solidFill>
            <a:prstDash val="solid"/>
          </a:ln>
        </p:spPr>
      </p:sp>
      <p:pic>
        <p:nvPicPr>
          <p:cNvPr id="16" name="Image 2" descr="assets/icons/arrowup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85292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8404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Banquet leads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74536" y="448056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Round-the-clock enquiry capture.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44584" y="2286000"/>
            <a:ext cx="2615184" cy="2926080"/>
          </a:xfrm>
          <a:prstGeom prst="roundRect">
            <a:avLst>
              <a:gd name="adj" fmla="val 4196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49256" y="2651760"/>
            <a:ext cx="1005840" cy="1005840"/>
          </a:xfrm>
          <a:prstGeom prst="ellipse">
            <a:avLst/>
          </a:prstGeom>
          <a:solidFill>
            <a:srgbClr val="2A1E10"/>
          </a:solidFill>
          <a:ln w="25400">
            <a:solidFill>
              <a:srgbClr val="D9A93C"/>
            </a:solidFill>
            <a:prstDash val="solid"/>
          </a:ln>
        </p:spPr>
      </p:sp>
      <p:pic>
        <p:nvPicPr>
          <p:cNvPr id="21" name="Image 3" descr="assets/icons/arrowup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85292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27464" y="38404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delight &amp; repeats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473184" y="448056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memorable, modern dining touch.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8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based on how guided menus and digital ordering perform — actuals firm up during the pilot.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C9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starting with chat. We're not stopping there.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0664" y="21945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246888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6" name="Image 0" descr="assets/icons/vide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4" y="264718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24871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Dish videos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37944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clips so guests see the sizzle, not just a photo.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352544" y="21945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8576" y="246888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11" name="Image 1" descr="assets/icons/cub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4" y="264718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9824" y="24871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food view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9824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phone at the table and see the dish in 3D, life-size.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7964424" y="21945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0456" y="246888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16" name="Image 2" descr="assets/icons/mic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264718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4871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ordering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061704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simply talk to the chatbot, hands-free.</a:t>
            </a:r>
            <a:endParaRPr lang="en-US" sz="1120" dirty="0"/>
          </a:p>
        </p:txBody>
      </p:sp>
      <p:sp>
        <p:nvSpPr>
          <p:cNvPr id="19" name="Shape 14"/>
          <p:cNvSpPr/>
          <p:nvPr/>
        </p:nvSpPr>
        <p:spPr>
          <a:xfrm>
            <a:off x="740664" y="41605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6696" y="443484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21" name="Image 3" descr="assets/icons/use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004" y="4613148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37944" y="4453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regulars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837944" y="5093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guests get picks based on past visits.</a:t>
            </a:r>
            <a:endParaRPr lang="en-US" sz="1120" dirty="0"/>
          </a:p>
        </p:txBody>
      </p:sp>
      <p:sp>
        <p:nvSpPr>
          <p:cNvPr id="24" name="Shape 18"/>
          <p:cNvSpPr/>
          <p:nvPr/>
        </p:nvSpPr>
        <p:spPr>
          <a:xfrm>
            <a:off x="4352544" y="41605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08576" y="443484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26" name="Image 4" descr="assets/icons/stor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884" y="4613148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9824" y="4453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branches, one brain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49824" y="5093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it out across every Annapoorna outlet.</a:t>
            </a:r>
            <a:endParaRPr lang="en-US" sz="1120" dirty="0"/>
          </a:p>
        </p:txBody>
      </p:sp>
      <p:sp>
        <p:nvSpPr>
          <p:cNvPr id="29" name="Shape 22"/>
          <p:cNvSpPr/>
          <p:nvPr/>
        </p:nvSpPr>
        <p:spPr>
          <a:xfrm>
            <a:off x="7964424" y="41605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5E4A28"/>
          </a:solidFill>
          <a:ln w="12700">
            <a:solidFill>
              <a:srgbClr val="9C425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0456" y="4434840"/>
            <a:ext cx="713232" cy="713232"/>
          </a:xfrm>
          <a:prstGeom prst="ellipse">
            <a:avLst/>
          </a:prstGeom>
          <a:solidFill>
            <a:srgbClr val="2A1E10"/>
          </a:solidFill>
          <a:ln/>
        </p:spPr>
      </p:sp>
      <p:pic>
        <p:nvPicPr>
          <p:cNvPr id="31" name="Image 5" descr="assets/icons/sparkles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764" y="4613148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453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C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more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061704" y="5093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F0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grow the assistant alongside your restaurant.</a:t>
            </a:r>
            <a:endParaRPr lang="en-US" sz="1120" dirty="0"/>
          </a:p>
        </p:txBody>
      </p:sp>
      <p:sp>
        <p:nvSpPr>
          <p:cNvPr id="34" name="Text 26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OdyCard</a:t>
            </a:r>
            <a:pPr indent="0" marL="0">
              <a:buNone/>
            </a:pPr>
            <a:r>
              <a:rPr lang="en-US" sz="950" dirty="0">
                <a:solidFill>
                  <a:srgbClr val="C9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 Odysra product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dycard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6" y="777240"/>
            <a:ext cx="1828800" cy="1490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Odysra</a:t>
            </a:r>
            <a:pPr algn="ctr" indent="0" marL="0">
              <a:buNone/>
            </a:pPr>
            <a:r>
              <a:rPr lang="en-US" sz="1800" i="1" dirty="0">
                <a:solidFill>
                  <a:srgbClr val="EAD9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 an era of good fortune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677156" y="416052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assets/annapoor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4266042"/>
            <a:ext cx="2194560" cy="5661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5029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for Sree Annapoorna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351276" y="5577840"/>
            <a:ext cx="5486400" cy="0"/>
          </a:xfrm>
          <a:prstGeom prst="line">
            <a:avLst/>
          </a:prstGeom>
          <a:noFill/>
          <a:ln w="15240">
            <a:solidFill>
              <a:srgbClr val="5E4A28"/>
            </a:solidFill>
            <a:prstDash val="solid"/>
          </a:ln>
        </p:spPr>
      </p:sp>
      <p:pic>
        <p:nvPicPr>
          <p:cNvPr id="9" name="Image 2" descr="assets/icons/use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56" y="582472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68396" y="5806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Harsith</a:t>
            </a:r>
            <a:endParaRPr lang="en-US" sz="1300" dirty="0"/>
          </a:p>
        </p:txBody>
      </p:sp>
      <p:pic>
        <p:nvPicPr>
          <p:cNvPr id="11" name="Image 3" descr="assets/icons/phon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582472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88636" y="5806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+91 00000 00000</a:t>
            </a:r>
            <a:endParaRPr lang="en-US" sz="1300" dirty="0"/>
          </a:p>
        </p:txBody>
      </p:sp>
      <p:pic>
        <p:nvPicPr>
          <p:cNvPr id="13" name="Image 4" descr="assets/icons/envelop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5843016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8956" y="5806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you@odysra.com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OdyCard AI Waiter — Annapoorna</dc:title>
  <dc:subject>PptxGenJS Presentation</dc:subject>
  <dc:creator>Odysra</dc:creator>
  <cp:lastModifiedBy>Odysra</cp:lastModifiedBy>
  <cp:revision>1</cp:revision>
  <dcterms:created xsi:type="dcterms:W3CDTF">2026-06-09T19:17:50Z</dcterms:created>
  <dcterms:modified xsi:type="dcterms:W3CDTF">2026-06-09T19:17:50Z</dcterms:modified>
</cp:coreProperties>
</file>